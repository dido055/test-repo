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【填写提示 — 发前删掉这段】数字已按 9/11 的两张 dashboard 截图填好（Q1 = v3 文件，Q2 = v4_26q2 文件）：Total loans 10,012.8 → 10,195.7bn (+1.8%)；NDFI 1,528.4 → 1,568.7bn (+2.6%)；BC 410.9 → 418.6bn (+1.9%)；PE funds 371.7 → 394.3bn (+6.1%)；Mortgage +2.0%、Other +2.1%、Consumer −1.4%；NDFI % 15.26 → 15.39%；A- 及以上 = (8+48+345+428)/1,569 = 53%；Top 5 by $ = 249+229+206+142+138 = 964bn = 61%。样本两期都是同一批 48 家（已核对，7 月的 "49" 是旧数）。还剩一件事：截图——US Banks 页停在 2026Q2、取消所有选中、toggle 在 Business Credit、View → 100%+，整页截图（两个 treemap、ratings bar、cards、三张 Top 5）贴进 16:9 虚线框，保持比例缩放后删提示字。State Street 的 43.0% 从截图里的 Top 5 表核对。文字规则（9/12 定稿）：每条 = 一句加粗结论（含核心数字 + 指向哪个图）+ 一句灰色斜体外部佐证（来源 + 日期），全部是完整句子、不用未解释的缩写；图下注释只定义术语（NDFI loans / BC loans / Total loans），不解释各个图。每条外部证据后面都用括号标注（机构 + 报告 + 月份），页脚 Sources 行解释各机构是什么（FDIC、Federal Reserve、Moody's/Fitch、S&amp;P Global MI）。来源核对记录：0.15% vs 1.39% 是 FDIC 2026 Risk Review（2026 年 4 月底发布）里 2025Q4 的数；FDIC 2026 年 2 月的 Banking Issues in Focus 里是 0.15% vs 1.32%（2025Q3），两者别混。Bullet 1 的佐证逻辑（9/12 按你的思路重写：先定义、再谁在用）：FDIC 只提供定义（BC intermediaries = 50% 以上业务是对企业贷款的机构，含 direct lenders / private debt funds / BDC，也含 finance companies / CLO），FDIC 自己并没有把 BC loans 当 private credit proxy 用，所以 slide 上 FDIC 只出现在定义部分；OFR Brief 26-02 的 Figure 1 明确把 call report 的 business credit intermediaries 列为 private credit counterparty exposure 的度量之一（这是真的在用）；Moody's 的 $300bn 大概率也是这一行（比例吻合），但公开报道没点名，发前核原文——核不到就把 Moody's 从「Others use the same line」那句里拿掉。原先的说明：先用 FDIC 的官方定义说明 BC 这一类装的是谁（direct lenders、private debt funds、BDC，但也有 finance companies、CLO、leasing）——这就是为什么只能叫 proxy、NDFI 是上限；再举两个把这一行当 private credit exposure 度量的机构：Moody's（$300bn / $1.2T ≈ 25%，和我们 BC % of NDFI 26.7% 吻合，间接说明它用的就是 BC 行——但公开报道只写 loans to private credit providers，没点名 business credit intermediaries，发前在 Moody's 原文里核一下）和 OFR Brief 26-02 的 Figure 1（Studies of the Private Credit Counterparty Exposure：Call reports / Business credit intermediaries 2024 = $400bn committed / $264bn drawn，与 Moody's 2023 survey、Fed FSR、Fed Y-14 研究并列）。原来提的 S&amp;P MI「track BC share」和 Fed「monitor NDFI」两句因为没说清和 proxy 选择的关系，已删。「Next quarter」那条已按你的意见删掉，后续计划只留在 checklist/backlog 里。</a:t>
            </a:r>
            <a:br>
              <a:rPr lang="en-US"/>
            </a:br>
            <a:br>
              <a:rPr lang="en-US"/>
            </a:br>
            <a:r>
              <a:rPr lang="en-US"/>
              <a:t>备注（有人问 NDFI 为什么涨得比 BCI 快时用）：Q2 的 NDFI 增量 40.2bn 里，Private Equity Funds 贡献 22.6bn（371.7 → 394.3bn，+6.1%，五类里最快），Mortgage +2.0%、Other +2.1%、Consumer −1.4%。银行对 PE fund 的贷款以 subscription line 为主；private credit fund 自身的 subscription line 是否也被归在这一类，Y-9C 说明和 Fed/OFR 文章都没有明确表述，所以 slide 上不提。</a:t>
            </a:r>
            <a:br>
              <a:rPr lang="en-US"/>
            </a:br>
            <a:br>
              <a:rPr lang="en-US"/>
            </a:br>
            <a:r>
              <a:rPr lang="en-US"/>
              <a:t>Sources / links:</a:t>
            </a:r>
            <a:br>
              <a:rPr lang="en-US"/>
            </a:br>
            <a:r>
              <a:rPr lang="en-US"/>
              <a:t>FDIC 2026 Risk Review — https://www.fdic.gov/analysis/2026-risk-review-full.pdf</a:t>
            </a:r>
            <a:br>
              <a:rPr lang="en-US"/>
            </a:br>
            <a:r>
              <a:rPr lang="en-US"/>
              <a:t>FDIC Quarterly Banking Profile Q2 2026 (27 Aug 2026) — https://www.fdic.gov/analysis/quarterly-banking-profile</a:t>
            </a:r>
            <a:br>
              <a:rPr lang="en-US"/>
            </a:br>
            <a:r>
              <a:rPr lang="en-US"/>
              <a:t>FDIC Banking Issues in Focus: Bank Lending to NDFIs (Feb 2026) — https://www.fdic.gov/analysis/bank-lending-nondepository-financial-institutions.pdf</a:t>
            </a:r>
            <a:br>
              <a:rPr lang="en-US"/>
            </a:br>
            <a:r>
              <a:rPr lang="en-US"/>
              <a:t>Federal Reserve SLOOS July 2026 (3 Aug 2026) — https://www.federalreserve.gov/data/sloos/sloos-202607.htm</a:t>
            </a:r>
            <a:br>
              <a:rPr lang="en-US"/>
            </a:br>
            <a:r>
              <a:rPr lang="en-US"/>
              <a:t>Moody's Ratings, US banks' private credit loan exposure nears $300 billion (Oct 2025) — https://www.moodys.com/web/en/us/insights/data-stories/breakdown-of-banks-annual-reporting-on-private-credit.html (Bloomberg coverage 21 Oct 2025)</a:t>
            </a:r>
            <a:br>
              <a:rPr lang="en-US"/>
            </a:br>
            <a:r>
              <a:rPr lang="en-US"/>
              <a:t>State Street 2025 Form 10-K (EDGAR) — https://www.sec.gov/cgi-bin/browse-edgar?action=getcompany&amp;CIK=93751&amp;type=10-K</a:t>
            </a:r>
            <a:br>
              <a:rPr lang="en-US"/>
            </a:br>
            <a:r>
              <a:rPr lang="en-US"/>
              <a:t>Federal Reserve Financial Stability Report, May 2026 (Box 4.1) — https://www.federalreserve.gov/publications/files/financial-stability-report-20260508.pdf</a:t>
            </a:r>
            <a:br>
              <a:rPr lang="en-US"/>
            </a:br>
            <a:r>
              <a:rPr lang="en-US"/>
              <a:t>Fitch U.S. private credit default rate Q2 2026 (30 Jul 2026, via Investment Executive) — https://www.investmentexecutive.com/news/research-and-markets/u-s-private-credit-defaults-rise-fitch-3/</a:t>
            </a:r>
            <a:br>
              <a:rPr lang="en-US"/>
            </a:br>
            <a:r>
              <a:rPr lang="en-US"/>
              <a:t>S&amp;P Global Market Intelligence, US banks' NDFI lending pace reaccelerates in Q4 2025 (26 Feb 2026) — https://www.spglobal.com/market-intelligence/en/news-insights/articles/2026/2/us-banks-ndfi-lending-pace-reaccelerates-in-q4-2025-98612159</a:t>
            </a:r>
            <a:br>
              <a:rPr lang="en-US"/>
            </a:br>
            <a:r>
              <a:rPr lang="en-US"/>
              <a:t>S&amp;P Global Ratings, Systemic Risk: U.S. Banks' $1 Trillion In Loans To Nonbanks Like Private Credit Creates Risks And Rewards (Feb 2025) — [internal link]</a:t>
            </a:r>
            <a:br>
              <a:rPr lang="en-US"/>
            </a:br>
            <a:r>
              <a:rPr lang="en-US"/>
              <a:t>OFR Brief 26-02, Measuring Counterparty Exposures to Private Credit (Mar 2026) — https://www.financialresearch.gov/briefs/files/OFRBrief-26-02-measuring-counterparty-exposures-private-credit.pdf</a:t>
            </a:r>
            <a:br>
              <a:rPr lang="en-US"/>
            </a:br>
            <a:r>
              <a:rPr lang="en-US"/>
              <a:t>BIS Bulletin 128, AI disruption in private credit (Jul 2026) — https://www.bis.org/publ/bisbull128.htm</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【填写提示 — 发前删掉这段】保险分两页（2026-09-12）。本页 = 卡片行 + 两张一维图：PP BACV by NAIC Bucket（Legend = NAIC_Cat，按 NAIC_Cat_Sort 排序，单色渐变）和 PP BACV by SVO Bucket（Sankey 试过没有流量，已放弃；NAIC × SVO、SVO × CUSIP Type 两张二维图留在 dashboard 不进截图）；下一页 = 左下两张 Top 10 + 右下 FV to BACV、Holders Count。截图是裁剪不是整页：把卡片行和中间两张裁成一张，贴进虚线框后按裁剪比例调整框的高度。图注里加粗/斜体的卡片名和图表标题必须和 dashboard 上一字不差（我按 Power BI 自动标题猜的 "PP BACV by NAIC Bucket and SVO Bucket" 等，标题不一样就改图注）。</a:t>
            </a:r>
            <a:br>
              <a:rPr lang="en-US"/>
            </a:br>
            <a:r>
              <a:rPr lang="en-US"/>
              <a:t>先做完 guide Part 0-1 / 0-2：卡片改名、新建 Invested Assets / PP % of Invested Assets / PP % of C&amp;S 三个 measure 和卡片。</a:t>
            </a:r>
            <a:br>
              <a:rPr lang="en-US"/>
            </a:br>
            <a:r>
              <a:rPr lang="en-US"/>
              <a:t>9/14（Lun）：NAIC bullet 的 evidence 不再复述图上的 $bn；Fitch 6.0% 从保险页删掉（leveraged private credit 是另一个市场，和 IG PP bonds 的传导说不清）；Moody's 的作用改成 benchmark——36%/5% 是全部寿险债券，49%/6.1% 是我们的 PP bonds，43%/9% 是 Moody's private &amp; illiquid，三组数说明私募/非流动资产比整体组合更偏 BBB。之前：NAIC bullet 从简——以描述数据为主（三桶 + 2.C），风险只点一句（2.C 下调 → 资本计提上升），market 部分保留 Moody's 对照和 Fitch（注明不同市场）；S&amp;P transition study 的 "20 倍" 论证整段删掉，Sources 页对应条目已删。更早的记录：NAIC designation 不是 S&amp;P 评级、很多是 PL——所以 S&amp;P transition study 只能作为 IG credit 一般规律的类比引用，slide 上已明确写 "NAIC designations are not S&amp;P ratings…not a statistic for PP bonds"；bullet 1 加了一句 PL 年度续评导致 migration 滞后、成批出现。9/14：bullet 1 的逻辑改成三步（投资级违约率低 → 下调比违约频繁 20 倍 → 保险公司下调本身有成本），核心数字改为 49% NAIC 2 / 11% 2.C，去掉 "84% single-A or below"。要核的数：S&amp;P transition study 里 BBB 一年违约率（长期均值约 0.15–0.2%）和 BBB 一年内降到 BB 及以下的比例（约 3–4%），用 S&amp;P 最新一版 Annual Global Corporate Default and Rating Transition Study 的原表填；RBC C-1 债券因子（2021 年起）2.C ≈ 2.2%、3.A ≈ 3.2%、3.C ≈ 6.0% 只在 notes 里备用，slide 上不放数字。Fitch 6.0% 现在注明是 leveraged private credit 市场，不是 IG PP bonds。9/14：dashboard 图表按从左到右、从上到下编号，newsletter 里按 Chart 1–6 引用。假定的编号/标题：1 = PP Bond BACV by NAIC Designation Category（原 "Migration of NAIC Designation" 改名）；2 = PP Bond BACV by NAIC Bucket and SVO Bucket；3 = Top 10 Life Insurers by PP % of Invested Assets；4 = FV to BACV by Life Insurer (lowest first)（原无标题的 entity 表）；5 = Top Issuers by PP Bond BACV；6 = Holders Count by Issuer（原无标题的 issuer 表）。编号和布局不一致就告诉我改。9/13：按 Lun 意见去掉 cards 那条 bullet（读者自己看卡片），术语集中到左下 Glossary，S&amp;P MI 对账挪到 scope 脚注；两页各两条 bullet。数字已按 9/12 的 dashboard 转录填好（$934.39bn；invested assets $5.9T → 15.7%；PP % of C&amp;S 158.1% → 1.6x，反推 C&amp;S ≈ $591bn；NAIC 1 $420bn 45%、其中 1.G $151bn + 1.F $115bn = $266bn；NAIC 2 $457bn 49%、2.A 160 / 2.B 193 / 2.C 104；3–6 $57bn 6.1%；PL 41.69% = $390bn，NAIC×SVO 图里 PL 在 NAIC 1 $188bn、NAIC 2 $176bn → 3–6 里约 $25bn ≈ 44%）。还要你读的：SVO 一维图四桶的 %（我从 NAIC×SVO 图估的 No Symbol ≥ 31%、FE ≈ 10%，黄色标出，按实际改）。9/14（Lun）：YE2025→2026Q2 的 migration 句整段删掉——PL 的续评日期按各只债券错开，FE 和 PL 的下调比例分母不可比（FE 10% 变了、PL 1% 变了，也可能只是 PL 一共才有 10% 被重评），放上去没有信息量；等 YE2026 年报再做同口径的年度对比。⚠️ dashboard 上那张 modifier 堆叠图现在标题叫 "Migration of NAIC Designation"，它是 YE2025 截面不是迁移，改成 "PP Bond BACV by NAIC Bucket"，否则和图注对不上。PL 措辞保持中性——S&amp;P Ratings 自己也出 private letter rating。</a:t>
            </a:r>
            <a:br>
              <a:rPr lang="en-US"/>
            </a:br>
            <a:r>
              <a:rPr lang="en-US"/>
              <a:t>9/14（Lun 问 SVO bullet）：(1) 已加一句 PL 与 FE 的程序差别——FE 从公开评级直接映射、无需申报；PL 由 insurer 向 SVO 申报私募评级信，SVO 核验后按该评级给 designation、不做自己的信用分析；No Symbol = 完整申报、SVO 自己分析（出处 P&amp;P Manual，用的是 Indiana DOI 托管的公开版本，有 NAIC 现行版就换链接）。(2) 原句 "The concern is less the credit quality … than its verifiability" 是我的综合、没有单一出处，已删；换成可溯源的三段：私募评级信按 NDA 发放、不进公开数据流（2018-07BWG）；SVO 按评级给 designation 不做分析（P&amp;P Manual）；SVO 自述目前对 "看起来异常的评级" 没有既定处理程序（VOSTF 2024 年 8 月材料）。(3) "The exposure is also direct" 本意是和银行页对照——银行贷给基金、有基金权益垫在前面，保险公司直接持有债券、信用损失第一顺位——但放在 SVO bullet 里跑题，已删。(4) SVO bullet 结构改成和 NAIC bullet / 银行页一致：先讲 Chart 2 的信息，再 Dashboard 数字，再 market news。(5) No Symbol 的含义是排除法：Schedule D 的 SVO 符号清单里 FE / PL / PLGI / IF / YE / Z / GI / F / FM / RT 都各有含义，没有符号的就是 SVO 完整审核后自己给的 designation（美国国债等豁免证券也无符号，但不会是 PP bonds）；P&amp;P Manual 没有一句明写 "无符号 = SVO 审核"，建议在 CapIQ 里抽几只 No Symbol 的 PP bonds 看 designation 来源字段核一下。(6) Sidley 原文是 SVO "noted an increasing likelihood that it will soon be unable to complete all Private Letter Rating filings before year-end"——是预警不是已发生，slide 措辞已按原文改。(7) Discretion Amendment：SVO 可对与自身评估相差 ≥3 notches 的 CRP 评级（FE 和 PL 都算）发起 challenge，最终由 domestic regulator 决定是否取消 FE 资格；三个 notch 的门槛对应寿险 RBC 因子约翻倍；原定 2026-01-01 生效，因系统和数据协议未完成推迟、无新日期（Clifford Chance 对 2025 年 Fall meeting 的总结；KBRA 6 月报告也提到 delayed）。</a:t>
            </a:r>
            <a:br>
              <a:rPr lang="en-US"/>
            </a:br>
            <a:r>
              <a:rPr lang="en-US"/>
              <a:t>季度更新说明：保险数据里唯一按季度变的是 YE2025 持仓的 "latest" NAIC designation / SVO symbol（*_Latest 列，目前是 2026Q1），只喂 migration 矩阵；主页上所有图（持仓、BACV、分母、NAIC/SVO 柱、Top 10、FV/BACV、Holders Count）都是 YE2025 年度快照，到 YE2026 年报（2027 年春在 CapIQ 可拉）才会变。本期不做 migration，所以 dashboard 本身不需要季度刷新，只做 Part 0 的改名和新卡片。</a:t>
            </a:r>
            <a:br>
              <a:rPr lang="en-US"/>
            </a:br>
            <a:r>
              <a:rPr lang="en-US"/>
              <a:t>方法论 bullet：核一下 "The Insurance practice's wider estimate also screens publicly identified (CUSIP) bonds with manual filters" 和 practice 那边的说法是否一致。数字口径（9/13 核过）：NAIC Asset Mix YE2025 报告寿险总债券 $3,999,816m ≈ $4.0T、总投资资产 $6.1T（我们 holders 的 $5.9T ≈ 行业 97%）。S&amp;P MI 5/27 的 23.4% × $4.0T ≈ $936bn，和我们的 $934.4bn 几乎一致——S&amp;P MI 和 CapIQ 是同一套 S&amp;P 的 Schedule D 数据和同一个 private placement 标识（PPN 口径、不含 144A），所以这是对账而不是独立验证，但说明 pipeline 没有重复计数、universe 也对。S&amp;P MI 8 月报告的 48.4%（含 144A 的宽口径）不要用。9/14 核过原文（Insurance Business 转述 "a new Moody's Ratings report"，Moody's 原报告未具名、付费墙后）："The private and illiquid portfolio carries 43% in NAIC 2 (Baa-rated) exposures and 9% below investment grade, compared with 36% NAIC 2 and 5% below investment grade for the overall $4 trillion fixed income book." 这是 Moody's 分析师按法定报表统计的 NAIC designation 分布，不是 Moody's 自己的评级；文中 "(Baa-rated)" 只是把 NAIC 2 映射到 Moody's 评级档。Schedule D Part 1 上每只债券（公司债、市政债、政府债、结构化、PP）都有 NAIC designation，所以 36%/5% 和我们 Chart 1 是同一把尺。注意 $4T 含 PP bonds 本身（约 23%）：剔掉后其余债券约 32% NAIC 2、约 4.7% below IG（用 Moody's 分母 + 我们的 PP 数字反推，混合口径，只放 notes 不上 slide）。Moody's $807bn 比我们小 $127bn（14%），它的 "private and illiquid" 定义没有公开：可能剔除了有公开评级的私募（我们的 FE 桶约 $100bn+）、公开发行人的私募 deal（issue-level PPN）或关联方持仓，也可能用了 YE2025 新增的 Schedule D 披露代码而不是 PPN。所以 slide 上称它 "narrower"，不做数字对比，只做方向对照（NAIC 2 / below-IG 的倾斜、前十大集中度）。</a:t>
            </a:r>
            <a:br>
              <a:rPr lang="en-US"/>
            </a:br>
            <a:br>
              <a:rPr lang="en-US"/>
            </a:br>
            <a:r>
              <a:rPr lang="en-US"/>
              <a:t>Sources / links:</a:t>
            </a:r>
            <a:br>
              <a:rPr lang="en-US"/>
            </a:br>
            <a:r>
              <a:rPr lang="en-US"/>
              <a:t>S&amp;P Global Market Intelligence, Private credit exposure grows as insurers eye higher yields, diversification (27 May 2026) — https://www.spglobal.com/market-intelligence/en/news-insights/articles/2026/5/private-credit-exposure-grows-as-insurers-eye-higher-yields-diversification-101850154</a:t>
            </a:r>
            <a:br>
              <a:rPr lang="en-US"/>
            </a:br>
            <a:r>
              <a:rPr lang="en-US"/>
              <a:t>Moody's on U.S. life insurers' private credit (Insurance Business, 8 Jun 2026) — https://www.insurancebusinessmag.com/us/news/life-insurance/us-life-insurers-private-credit-push-is-creating-liquidity-and-concentration-risks-moodys-warns-578168.aspx</a:t>
            </a:r>
            <a:br>
              <a:rPr lang="en-US"/>
            </a:br>
            <a:r>
              <a:rPr lang="en-US"/>
              <a:t>NAIC Spring 2026 National Meeting summary (Sidley, 14 Apr 2026) — https://datamatters.sidley.com/2026/04/14/regulatory-update-national-association-of-insurance-commissioners-spring-2026-national-meeting/</a:t>
            </a:r>
            <a:br>
              <a:rPr lang="en-US"/>
            </a:br>
            <a:r>
              <a:rPr lang="en-US"/>
              <a:t>KBRA, Private Credit: A More Balanced Review of the NAIC PLR Review Process (8 Jun 2026) — https://www.kbra.com/publications/NqqwYmxw</a:t>
            </a:r>
            <a:br>
              <a:rPr lang="en-US"/>
            </a:br>
            <a:r>
              <a:rPr lang="en-US"/>
              <a:t>NAIC P&amp;P Manual (state-hosted copy) — https://www.in.gov/idoi/files/Purposes-and-Procedures-Manual-of-the-NAIC-Investment-Analysis-Office.pdf</a:t>
            </a:r>
            <a:br>
              <a:rPr lang="en-US"/>
            </a:br>
            <a:r>
              <a:rPr lang="en-US"/>
              <a:t>NAIC 2018-07BWG, PL / IF symbols — https://content.naic.org/sites/default/files/inline-files/cmte_e_vos_related_final_interrogatory_blanks_pl_and_if.pdf</a:t>
            </a:r>
            <a:br>
              <a:rPr lang="en-US"/>
            </a:br>
            <a:r>
              <a:rPr lang="en-US"/>
              <a:t>NAIC VOSTF Summer 2024 materials (SVO discretion rationale) — https://content.naic.org/sites/default/files/national_meeting/VOSTF%20Materials%202024-08-13%20v3.pdf</a:t>
            </a:r>
            <a:br>
              <a:rPr lang="en-US"/>
            </a:br>
            <a:r>
              <a:rPr lang="en-US"/>
              <a:t>NAIC Fall 2025 meeting summary (Clifford Chance, Jan 2026) — https://www.cliffordchance.com/insights/resources/blogs/insurance-insights/2026/01/naic-fall-2025-national-meeting-summary.html</a:t>
            </a:r>
            <a:br>
              <a:rPr lang="en-US"/>
            </a:br>
            <a:r>
              <a:rPr lang="en-US"/>
              <a:t>Fitch U.S. private credit default rate Q2 2026 (30 Jul 2026) — https://www.investmentexecutive.com/news/research-and-markets/u-s-private-credit-defaults-rise-fitch-3/</a:t>
            </a:r>
            <a:br>
              <a:rPr lang="en-US"/>
            </a:br>
            <a:r>
              <a:rPr lang="en-US"/>
              <a:t>S&amp;P Global Ratings, Scenario Analysis: North American Life Insurers Can Manage Private Credit Market Stress If One Occurs (Apr 2026) — [internal link]</a:t>
            </a:r>
            <a:br>
              <a:rPr lang="en-US"/>
            </a:br>
            <a:r>
              <a:rPr lang="en-US"/>
              <a:t>—— 备用（本期未引用）——</a:t>
            </a:r>
            <a:br>
              <a:rPr lang="en-US"/>
            </a:br>
            <a:r>
              <a:rPr lang="en-US"/>
              <a:t>S&amp;P Global Ratings, Insurance In Focus: U.S. Private Credit Exposure and Capital Model Comparisons (webinar, 19 May 2026) — https://www.spglobal.com/ratings/en/events/webinars/insurance-in-focus-webinar-19may2026</a:t>
            </a:r>
            <a:br>
              <a:rPr lang="en-US"/>
            </a:br>
            <a:r>
              <a:rPr lang="en-US"/>
              <a:t>S&amp;P Global Ratings, The Rise Of Private Credit In Insurers' Investment Portfolios — https://www.spglobal.com/ratings/en/regulatory/article/the-rise-of-private-credit-in-insurers-investment-portfolios-s101643158</a:t>
            </a:r>
            <a:br>
              <a:rPr lang="en-US"/>
            </a:br>
            <a:r>
              <a:rPr lang="en-US"/>
              <a:t>S&amp;P Global Market Intelligence, US insurance regulators pulling back the curtain on private credit (31 Mar 2026) — https://www.spglobal.com/market-intelligence/en/news-insights/articles/2026/3/us-insurance-regulators-pulling-back-the-curtain-on-private-credit-100049804</a:t>
            </a:r>
            <a:br>
              <a:rPr lang="en-US"/>
            </a:br>
            <a:r>
              <a:rPr lang="en-US"/>
              <a:t>NAIC Private Credit topic page — https://content.naic.org/insurance-topics/private-credit</a:t>
            </a:r>
            <a:br>
              <a:rPr lang="en-US"/>
            </a:br>
            <a:r>
              <a:rPr lang="en-US"/>
              <a:t>Federal Reserve Financial Stability Report, May 2026 — https://www.federalreserve.gov/publications/files/financial-stability-report-20260508.pdf</a:t>
            </a:r>
            <a:br>
              <a:rPr lang="en-US"/>
            </a:br>
            <a:r>
              <a:rPr lang="en-US"/>
              <a:t>FSB, Report on Vulnerabilities in Private Credit (6 May 2026) — https://www.fsb.org/2026/05/report-on-vulnerabilities-in-private-credit/</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【填写提示 — 发前删掉这段】本页截图 = 左下两张 Top 10（by PP % of C&amp;S、by PP BACV）+ 右下 FV to BACV 表、Holders Count 表，四张裁成一块。图注里的图表标题按 dashboard 实际标题改。</a:t>
            </a:r>
            <a:br>
              <a:rPr lang="en-US"/>
            </a:br>
            <a:r>
              <a:rPr lang="en-US"/>
              <a:t>数字已按 9/12 转录填好：Top 10 by PP % of Invested Assets（MassMutual 24%，Allianz Life / NY Life Ins &amp; Annuity / Prudential 22%）；top issuers（Madison Capital Funding ~$6.5bn，AP Grange Holdings ~$5.5bn，MM Invt Hldg ~$5.0bn，Cliffwater Corporate Lending ~$4.5bn）；FV to BACV 合计 95.6% → 浮亏 4.4% ≈ $41bn ≈ C&amp;S 的 7%（C&amp;S 由 934.39 / 1.581 反推）；最弱五家 United Insurance Co America 77.0%、Principal National Life 77.3%、Structured Annuity Re 78.3%、Pioneer American 80.2%、MONY 83.3%——slide 上不点名，只说 "five small entities, books under $0.3bn"。还要你读的：Holders Count 最高的 issuer 被多少家共持（issuer 表按名字排序看不到，按 Holders Count 降序排一下）。两个核对：① issuer 表合计 $855bn，比 $934bn 少 $79bn——是不是有 Issuer Name 为空的行被表过滤掉了；② MM Invt Hldg 是不是 MassMutual 的关联方（看 Affiliation 列），是的话 top issuer 那句可以加一句 affiliated；AP Grange Holdings 的背景我没核，别在 slide 上下定义。</a:t>
            </a:r>
            <a:br>
              <a:rPr lang="en-US"/>
            </a:br>
            <a:r>
              <a:rPr lang="en-US"/>
              <a:t>⚠️ Athene 的 PP % of C&amp;S ≈ 10x 和 CapIQ 预制比率差很多（affiliated holdings 问题，guide open item），没查清之前 bullet 里别点名 Athene；scope 脚注已带 "Entity-level ratios pending affiliated-holdings validation"。</a:t>
            </a:r>
            <a:br>
              <a:rPr lang="en-US"/>
            </a:br>
            <a:r>
              <a:rPr lang="en-US"/>
              <a:t>S&amp;P Global Ratings scenario analysis（Apr 2026）要补内网链接（本页和 Sources 页各一处）。</a:t>
            </a:r>
            <a:br>
              <a:rPr lang="en-US"/>
            </a:br>
            <a:r>
              <a:rPr lang="en-US"/>
              <a:t>Migration（原 bullet）本期不放：需要先建 Quarterly Monitor 页（checklist B4），而且 PL 和 SVO 自审的 designation 都是年度更新周期（PL：CRP 年度续评后 30 天内向 SVO 提交 annual update，或上次提交后 395 天；SVO 自审：insurer 每年 annual update filing，年底处理不完的挂 YE 符号沿用旧 designation；FE：随 CRP 评级通过电子 feed 自动更新——出处 NAIC P&amp;P Manual 2025-008.02 修订案、2018-07BWG blanks proposal），年中 migration 小。⚠️ 未核实：CapIQ 的 [06/26 Q] designation 列具体怎么来的（季报没有 holding 级 Schedule D Part 1；可能是 S&amp;P MI 按当期 CRP 评级/AVS 数据刷新），用之前问一下 CapIQ 支持。v2 脚本 log 会按 SVO bucket 打 downgraded / disposed 占该桶 BACV 的比例（[CHECK] Downgraded / Disposed as % of each SVO bucket's BACV），但 9/14 Lun 决定本期不放任何 YE2025→2026Q2 对比：PL 续评日期按债券错开，季度内只有一部分 PL 被重评，FE 与 PL 的比例不可比。脚本里的 Migration_Status / Migration_Notches 列和 [CHECK] 块保留，留给 YE2025→YE2026 的年度对比（两端都是年报，PL 全部走完一轮续评）。以后加回来的原文："Grade migration since year-end is only an early read: $X.Xbn (X.X% of PP holdings) moved to a weaker NAIC designation and $X.Xbn was sold or matured through 2026Q2; private letter ratings are updated with the SVO on an annual cycle, so the full picture arrives with YE2026 data."</a:t>
            </a:r>
            <a:br>
              <a:rPr lang="en-US"/>
            </a:br>
            <a:br>
              <a:rPr lang="en-US"/>
            </a:br>
            <a:r>
              <a:rPr lang="en-US"/>
              <a:t>Sources / links:</a:t>
            </a:r>
            <a:br>
              <a:rPr lang="en-US"/>
            </a:br>
            <a:r>
              <a:rPr lang="en-US"/>
              <a:t>S&amp;P Global Market Intelligence, Private credit exposure grows as insurers eye higher yields, diversification (27 May 2026) — https://www.spglobal.com/market-intelligence/en/news-insights/articles/2026/5/private-credit-exposure-grows-as-insurers-eye-higher-yields-diversification-101850154</a:t>
            </a:r>
            <a:br>
              <a:rPr lang="en-US"/>
            </a:br>
            <a:r>
              <a:rPr lang="en-US"/>
              <a:t>Moody's on U.S. life insurers' private credit (Insurance Business, 8 Jun 2026) — https://www.insurancebusinessmag.com/us/news/life-insurance/us-life-insurers-private-credit-push-is-creating-liquidity-and-concentration-risks-moodys-warns-578168.aspx</a:t>
            </a:r>
            <a:br>
              <a:rPr lang="en-US"/>
            </a:br>
            <a:r>
              <a:rPr lang="en-US"/>
              <a:t>NAIC Spring 2026 National Meeting summary (Sidley, 14 Apr 2026) — https://datamatters.sidley.com/2026/04/14/regulatory-update-national-association-of-insurance-commissioners-spring-2026-national-meeting/</a:t>
            </a:r>
            <a:br>
              <a:rPr lang="en-US"/>
            </a:br>
            <a:r>
              <a:rPr lang="en-US"/>
              <a:t>KBRA, Private Credit: A More Balanced Review of the NAIC PLR Review Process (8 Jun 2026) — https://www.kbra.com/publications/NqqwYmxw</a:t>
            </a:r>
            <a:br>
              <a:rPr lang="en-US"/>
            </a:br>
            <a:r>
              <a:rPr lang="en-US"/>
              <a:t>NAIC P&amp;P Manual (state-hosted copy) — https://www.in.gov/idoi/files/Purposes-and-Procedures-Manual-of-the-NAIC-Investment-Analysis-Office.pdf</a:t>
            </a:r>
            <a:br>
              <a:rPr lang="en-US"/>
            </a:br>
            <a:r>
              <a:rPr lang="en-US"/>
              <a:t>NAIC 2018-07BWG, PL / IF symbols — https://content.naic.org/sites/default/files/inline-files/cmte_e_vos_related_final_interrogatory_blanks_pl_and_if.pdf</a:t>
            </a:r>
            <a:br>
              <a:rPr lang="en-US"/>
            </a:br>
            <a:r>
              <a:rPr lang="en-US"/>
              <a:t>NAIC VOSTF Summer 2024 materials (SVO discretion rationale) — https://content.naic.org/sites/default/files/national_meeting/VOSTF%20Materials%202024-08-13%20v3.pdf</a:t>
            </a:r>
            <a:br>
              <a:rPr lang="en-US"/>
            </a:br>
            <a:r>
              <a:rPr lang="en-US"/>
              <a:t>NAIC Fall 2025 meeting summary (Clifford Chance, Jan 2026) — https://www.cliffordchance.com/insights/resources/blogs/insurance-insights/2026/01/naic-fall-2025-national-meeting-summary.html</a:t>
            </a:r>
            <a:br>
              <a:rPr lang="en-US"/>
            </a:br>
            <a:r>
              <a:rPr lang="en-US"/>
              <a:t>Fitch U.S. private credit default rate Q2 2026 (30 Jul 2026) — https://www.investmentexecutive.com/news/research-and-markets/u-s-private-credit-defaults-rise-fitch-3/</a:t>
            </a:r>
            <a:br>
              <a:rPr lang="en-US"/>
            </a:br>
            <a:r>
              <a:rPr lang="en-US"/>
              <a:t>S&amp;P Global Ratings, Scenario Analysis: North American Life Insurers Can Manage Private Credit Market Stress If One Occurs (Apr 2026) — [internal link]</a:t>
            </a:r>
            <a:br>
              <a:rPr lang="en-US"/>
            </a:br>
            <a:r>
              <a:rPr lang="en-US"/>
              <a:t>—— 备用（本期未引用）——</a:t>
            </a:r>
            <a:br>
              <a:rPr lang="en-US"/>
            </a:br>
            <a:r>
              <a:rPr lang="en-US"/>
              <a:t>S&amp;P Global Ratings, Insurance In Focus: U.S. Private Credit Exposure and Capital Model Comparisons (webinar, 19 May 2026) — https://www.spglobal.com/ratings/en/events/webinars/insurance-in-focus-webinar-19may2026</a:t>
            </a:r>
            <a:br>
              <a:rPr lang="en-US"/>
            </a:br>
            <a:r>
              <a:rPr lang="en-US"/>
              <a:t>S&amp;P Global Ratings, The Rise Of Private Credit In Insurers' Investment Portfolios — https://www.spglobal.com/ratings/en/regulatory/article/the-rise-of-private-credit-in-insurers-investment-portfolios-s101643158</a:t>
            </a:r>
            <a:br>
              <a:rPr lang="en-US"/>
            </a:br>
            <a:r>
              <a:rPr lang="en-US"/>
              <a:t>S&amp;P Global Market Intelligence, US insurance regulators pulling back the curtain on private credit (31 Mar 2026) — https://www.spglobal.com/market-intelligence/en/news-insights/articles/2026/3/us-insurance-regulators-pulling-back-the-curtain-on-private-credit-100049804</a:t>
            </a:r>
            <a:br>
              <a:rPr lang="en-US"/>
            </a:br>
            <a:r>
              <a:rPr lang="en-US"/>
              <a:t>NAIC Private Credit topic page — https://content.naic.org/insurance-topics/private-credit</a:t>
            </a:r>
            <a:br>
              <a:rPr lang="en-US"/>
            </a:br>
            <a:r>
              <a:rPr lang="en-US"/>
              <a:t>Federal Reserve Financial Stability Report, May 2026 — https://www.federalreserve.gov/publications/files/financial-stability-report-20260508.pdf</a:t>
            </a:r>
            <a:br>
              <a:rPr lang="en-US"/>
            </a:br>
            <a:r>
              <a:rPr lang="en-US"/>
              <a:t>FSB, Report on Vulnerabilities in Private Credit (6 May 2026) — https://www.fsb.org/2026/05/report-on-vulnerabilities-in-private-credit/</a:t>
            </a:r>
            <a:endParaRPr/>
          </a:p>
        </p:txBody>
      </p:sp>
      <p:sp>
        <p:nvSpPr>
          <p:cNvPr id="44" name="Google Shape;4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Sources slide: every bracketed citation on slides 1–3 appears here with a clickable link, in the order cited. The speaker notes on the sector slides keep the longer link archive, including sources not used on the slides (e.g. the S&amp;P Global Ratings scenario analysis, parked with the migration bullet).</a:t>
            </a:r>
            <a:endParaRPr/>
          </a:p>
        </p:txBody>
      </p:sp>
      <p:sp>
        <p:nvSpPr>
          <p:cNvPr id="59" name="Google Shape;5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https://www.fdic.gov/analysis/bank-lending-nondepository-financial-institutions.pdf" TargetMode="External"/><Relationship Id="rId5" Type="http://schemas.openxmlformats.org/officeDocument/2006/relationships/hyperlink" Target="https://www.financialresearch.gov/briefs/files/OFRBrief-26-02-measuring-counterparty-exposures-private-credit.pdf" TargetMode="External"/><Relationship Id="rId6" Type="http://schemas.openxmlformats.org/officeDocument/2006/relationships/hyperlink" Target="https://www.moodys.com/web/en/us/insights/data-stories/breakdown-of-banks-annual-reporting-on-private-credit.html" TargetMode="External"/><Relationship Id="rId7" Type="http://schemas.openxmlformats.org/officeDocument/2006/relationships/hyperlink" Target="https://www.sec.gov/cgi-bin/browse-edgar?action=getcompany&amp;CIK=93751&amp;type=10-K" TargetMode="External"/><Relationship Id="rId8" Type="http://schemas.openxmlformats.org/officeDocument/2006/relationships/hyperlink" Target="https://www.spglobal.com/market-intelligence/en/news-insights/articles/2026/2/us-banks-ndfi-lending-pace-reaccelerates-in-q4-2025-98612159"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hyperlink" Target="https://www.insurancebusinessmag.com/us/news/life-insurance/us-life-insurers-private-credit-push-is-creating-liquidity-and-concentration-risks-moodys-warns-578168.aspx" TargetMode="External"/><Relationship Id="rId11" Type="http://schemas.openxmlformats.org/officeDocument/2006/relationships/hyperlink" Target="https://www.spglobal.com/market-intelligence/en/news-insights/articles/2026/5/private-credit-exposure-grows-as-insurers-eye-higher-yields-diversification-101850154" TargetMode="External"/><Relationship Id="rId10" Type="http://schemas.openxmlformats.org/officeDocument/2006/relationships/hyperlink" Target="https://content.naic.org/sites/default/files/national_meeting/VOSTF%20Materials%202024-08-13%20v3.pdf" TargetMode="External"/><Relationship Id="rId12" Type="http://schemas.openxmlformats.org/officeDocument/2006/relationships/hyperlink" Target="https://content.naic.org/sites/default/files/capital-markets-special-reports-asset-mix-ye2025.pdf" TargetMode="External"/><Relationship Id="rId9" Type="http://schemas.openxmlformats.org/officeDocument/2006/relationships/hyperlink" Target="https://www.kbra.com/publications/NqqwYmxw" TargetMode="External"/><Relationship Id="rId5" Type="http://schemas.openxmlformats.org/officeDocument/2006/relationships/hyperlink" Target="https://www.in.gov/idoi/files/Purposes-and-Procedures-Manual-of-the-NAIC-Investment-Analysis-Office.pdf" TargetMode="External"/><Relationship Id="rId6" Type="http://schemas.openxmlformats.org/officeDocument/2006/relationships/hyperlink" Target="https://content.naic.org/sites/default/files/inline-files/cmte_e_vos_related_final_interrogatory_blanks_pl_and_if.pdf" TargetMode="External"/><Relationship Id="rId7" Type="http://schemas.openxmlformats.org/officeDocument/2006/relationships/hyperlink" Target="https://datamatters.sidley.com/2026/04/14/regulatory-update-national-association-of-insurance-commissioners-spring-2026-national-meeting/" TargetMode="External"/><Relationship Id="rId8" Type="http://schemas.openxmlformats.org/officeDocument/2006/relationships/hyperlink" Target="https://www.cliffordchance.com/insights/resources/blogs/insurance-insights/2026/01/naic-fall-2025-national-meeting-summary.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hyperlink" Target="https://www.insurancebusinessmag.com/us/news/life-insurance/us-life-insurers-private-credit-push-is-creating-liquidity-and-concentration-risks-moodys-warns-578168.aspx" TargetMode="External"/></Relationships>
</file>

<file path=ppt/slides/_rels/slide4.xml.rels><?xml version="1.0" encoding="UTF-8" standalone="yes"?><Relationships xmlns="http://schemas.openxmlformats.org/package/2006/relationships"><Relationship Id="rId11" Type="http://schemas.openxmlformats.org/officeDocument/2006/relationships/hyperlink" Target="https://www.insurancebusinessmag.com/us/news/life-insurance/us-life-insurers-private-credit-push-is-creating-liquidity-and-concentration-risks-moodys-warns-578168.aspx" TargetMode="External"/><Relationship Id="rId10" Type="http://schemas.openxmlformats.org/officeDocument/2006/relationships/hyperlink" Target="https://content.naic.org/sites/default/files/capital-markets-special-reports-asset-mix-ye2025.pdf" TargetMode="External"/><Relationship Id="rId13" Type="http://schemas.openxmlformats.org/officeDocument/2006/relationships/hyperlink" Target="https://www.in.gov/idoi/files/Purposes-and-Procedures-Manual-of-the-NAIC-Investment-Analysis-Office.pdf" TargetMode="External"/><Relationship Id="rId12" Type="http://schemas.openxmlformats.org/officeDocument/2006/relationships/hyperlink" Target="https://datamatters.sidley.com/2026/04/14/regulatory-update-national-association-of-insurance-commissioners-spring-2026-national-meeting/" TargetMode="External"/><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hyperlink" Target="https://www.fdic.gov/analysis/bank-lending-nondepository-financial-institutions.pdf" TargetMode="External"/><Relationship Id="rId9" Type="http://schemas.openxmlformats.org/officeDocument/2006/relationships/hyperlink" Target="https://www.spglobal.com/market-intelligence/en/news-insights/articles/2026/5/private-credit-exposure-grows-as-insurers-eye-higher-yields-diversification-101850154" TargetMode="External"/><Relationship Id="rId15" Type="http://schemas.openxmlformats.org/officeDocument/2006/relationships/hyperlink" Target="https://content.naic.org/sites/default/files/national_meeting/VOSTF%20Materials%202024-08-13%20v3.pdf" TargetMode="External"/><Relationship Id="rId14" Type="http://schemas.openxmlformats.org/officeDocument/2006/relationships/hyperlink" Target="https://content.naic.org/sites/default/files/inline-files/cmte_e_vos_related_final_interrogatory_blanks_pl_and_if.pdf" TargetMode="External"/><Relationship Id="rId17" Type="http://schemas.openxmlformats.org/officeDocument/2006/relationships/hyperlink" Target="https://www.kbra.com/publications/NqqwYmxw" TargetMode="External"/><Relationship Id="rId16" Type="http://schemas.openxmlformats.org/officeDocument/2006/relationships/hyperlink" Target="https://www.cliffordchance.com/insights/resources/blogs/insurance-insights/2026/01/naic-fall-2025-national-meeting-summary.html" TargetMode="External"/><Relationship Id="rId5" Type="http://schemas.openxmlformats.org/officeDocument/2006/relationships/hyperlink" Target="https://www.moodys.com/web/en/us/insights/data-stories/breakdown-of-banks-annual-reporting-on-private-credit.html" TargetMode="External"/><Relationship Id="rId6" Type="http://schemas.openxmlformats.org/officeDocument/2006/relationships/hyperlink" Target="https://www.financialresearch.gov/briefs/files/OFRBrief-26-02-measuring-counterparty-exposures-private-credit.pdf" TargetMode="External"/><Relationship Id="rId7" Type="http://schemas.openxmlformats.org/officeDocument/2006/relationships/hyperlink" Target="https://www.sec.gov/cgi-bin/browse-edgar?action=getcompany&amp;CIK=93751&amp;type=10-K" TargetMode="External"/><Relationship Id="rId8" Type="http://schemas.openxmlformats.org/officeDocument/2006/relationships/hyperlink" Target="https://www.spglobal.com/market-intelligence/en/news-insights/articles/2026/2/us-banks-ndfi-lending-pace-reaccelerates-in-q4-2025-98612159"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457200" y="301752"/>
            <a:ext cx="384048" cy="384048"/>
          </a:xfrm>
          <a:prstGeom prst="ellipse">
            <a:avLst/>
          </a:prstGeom>
          <a:solidFill>
            <a:srgbClr val="1F3864"/>
          </a:solidFill>
          <a:ln cap="flat" cmpd="sng" w="12700">
            <a:solidFill>
              <a:srgbClr val="1F38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p:cNvPicPr preferRelativeResize="0"/>
          <p:nvPr/>
        </p:nvPicPr>
        <p:blipFill rotWithShape="1">
          <a:blip r:embed="rId3">
            <a:alphaModFix/>
          </a:blip>
          <a:srcRect b="0" l="0" r="0" t="0"/>
          <a:stretch/>
        </p:blipFill>
        <p:spPr>
          <a:xfrm>
            <a:off x="548640" y="393192"/>
            <a:ext cx="201168" cy="201168"/>
          </a:xfrm>
          <a:prstGeom prst="rect">
            <a:avLst/>
          </a:prstGeom>
          <a:noFill/>
          <a:ln>
            <a:noFill/>
          </a:ln>
        </p:spPr>
      </p:pic>
      <p:sp>
        <p:nvSpPr>
          <p:cNvPr id="18" name="Google Shape;18;p3"/>
          <p:cNvSpPr txBox="1"/>
          <p:nvPr/>
        </p:nvSpPr>
        <p:spPr>
          <a:xfrm>
            <a:off x="960120" y="228600"/>
            <a:ext cx="1078992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100"/>
              <a:buFont typeface="Calibri"/>
              <a:buNone/>
            </a:pPr>
            <a:r>
              <a:rPr b="1" i="0" lang="en-US" sz="2100" u="none" cap="none" strike="noStrike">
                <a:solidFill>
                  <a:srgbClr val="1F3864"/>
                </a:solidFill>
                <a:latin typeface="Calibri"/>
                <a:ea typeface="Calibri"/>
                <a:cs typeface="Calibri"/>
                <a:sym typeface="Calibri"/>
              </a:rPr>
              <a:t>U.S. Banks — loans to non-depository financial institutions (NDFI), Q2 2026</a:t>
            </a:r>
            <a:endParaRPr b="0" i="0" sz="2100" u="none" cap="none" strike="noStrike">
              <a:solidFill>
                <a:schemeClr val="dk1"/>
              </a:solidFill>
              <a:latin typeface="Calibri"/>
              <a:ea typeface="Calibri"/>
              <a:cs typeface="Calibri"/>
              <a:sym typeface="Calibri"/>
            </a:endParaRPr>
          </a:p>
        </p:txBody>
      </p:sp>
      <p:sp>
        <p:nvSpPr>
          <p:cNvPr id="19" name="Google Shape;19;p3"/>
          <p:cNvSpPr txBox="1"/>
          <p:nvPr/>
        </p:nvSpPr>
        <p:spPr>
          <a:xfrm>
            <a:off x="960120" y="758952"/>
            <a:ext cx="107899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950"/>
              <a:buFont typeface="Calibri"/>
              <a:buNone/>
            </a:pPr>
            <a:r>
              <a:rPr b="0" i="0" lang="en-US" sz="950" u="none" cap="none" strike="noStrike">
                <a:solidFill>
                  <a:srgbClr val="6B6B6B"/>
                </a:solidFill>
                <a:latin typeface="Calibri"/>
                <a:ea typeface="Calibri"/>
                <a:cs typeface="Calibri"/>
                <a:sym typeface="Calibri"/>
              </a:rPr>
              <a:t>Private Credit Market Monitor · Quarterly Update, Issue 1 (September 2026) · Data: FR Y-9C (bank holding company regulatory report) · 48 S&amp;P-rated U.S. bank holding companies</a:t>
            </a:r>
            <a:endParaRPr b="0" i="0" sz="950" u="none" cap="none" strike="noStrike">
              <a:solidFill>
                <a:schemeClr val="dk1"/>
              </a:solidFill>
              <a:latin typeface="Calibri"/>
              <a:ea typeface="Calibri"/>
              <a:cs typeface="Calibri"/>
              <a:sym typeface="Calibri"/>
            </a:endParaRPr>
          </a:p>
        </p:txBody>
      </p:sp>
      <p:sp>
        <p:nvSpPr>
          <p:cNvPr id="20" name="Google Shape;20;p3"/>
          <p:cNvSpPr/>
          <p:nvPr/>
        </p:nvSpPr>
        <p:spPr>
          <a:xfrm>
            <a:off x="457200" y="1188720"/>
            <a:ext cx="6675120" cy="3754755"/>
          </a:xfrm>
          <a:prstGeom prst="roundRect">
            <a:avLst>
              <a:gd fmla="val 1461" name="adj"/>
            </a:avLst>
          </a:prstGeom>
          <a:solidFill>
            <a:srgbClr val="F4F7FB"/>
          </a:solidFill>
          <a:ln cap="flat" cmpd="sng" w="12700">
            <a:solidFill>
              <a:srgbClr val="A6A6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txBox="1"/>
          <p:nvPr/>
        </p:nvSpPr>
        <p:spPr>
          <a:xfrm>
            <a:off x="777240" y="2426018"/>
            <a:ext cx="6035040"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864"/>
              </a:buClr>
              <a:buSzPts val="1200"/>
              <a:buFont typeface="Calibri"/>
              <a:buNone/>
            </a:pPr>
            <a:r>
              <a:rPr b="1" i="0" lang="en-US" sz="1200" u="none" cap="none" strike="noStrike">
                <a:solidFill>
                  <a:srgbClr val="1F3864"/>
                </a:solidFill>
                <a:highlight>
                  <a:srgbClr val="FFF2A8"/>
                </a:highlight>
                <a:latin typeface="Calibri"/>
                <a:ea typeface="Calibri"/>
                <a:cs typeface="Calibri"/>
                <a:sym typeface="Calibri"/>
              </a:rPr>
              <a:t>Paste dashboard screenshot here</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22222"/>
              </a:buClr>
              <a:buSzPts val="900"/>
              <a:buFont typeface="Calibri"/>
              <a:buNone/>
            </a:pPr>
            <a:r>
              <a:rPr b="0" i="0" lang="en-US" sz="900" u="none" cap="none" strike="noStrike">
                <a:solidFill>
                  <a:srgbClr val="222222"/>
                </a:solidFill>
                <a:latin typeface="Calibri"/>
                <a:ea typeface="Calibri"/>
                <a:cs typeface="Calibri"/>
                <a:sym typeface="Calibri"/>
              </a:rPr>
              <a:t>Full US Banks page, 2026Q2 (all visuals: two treemaps, ratings bar, cards, three Top 5 charts). Box is 16:9; keep aspect ratio when resizing, then delete this text.</a:t>
            </a:r>
            <a:endParaRPr b="0" i="0" sz="1200" u="none" cap="none" strike="noStrike">
              <a:solidFill>
                <a:schemeClr val="dk1"/>
              </a:solidFill>
              <a:latin typeface="Calibri"/>
              <a:ea typeface="Calibri"/>
              <a:cs typeface="Calibri"/>
              <a:sym typeface="Calibri"/>
            </a:endParaRPr>
          </a:p>
        </p:txBody>
      </p:sp>
      <p:sp>
        <p:nvSpPr>
          <p:cNvPr id="22" name="Google Shape;22;p3"/>
          <p:cNvSpPr txBox="1"/>
          <p:nvPr/>
        </p:nvSpPr>
        <p:spPr>
          <a:xfrm>
            <a:off x="457200" y="5016627"/>
            <a:ext cx="667512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800"/>
              <a:buFont typeface="Calibri"/>
              <a:buNone/>
            </a:pPr>
            <a:r>
              <a:rPr b="1" i="0" lang="en-US" sz="800" u="none" cap="none" strike="noStrike">
                <a:solidFill>
                  <a:srgbClr val="6B6B6B"/>
                </a:solidFill>
                <a:latin typeface="Calibri"/>
                <a:ea typeface="Calibri"/>
                <a:cs typeface="Calibri"/>
                <a:sym typeface="Calibri"/>
              </a:rPr>
              <a:t>Reading the dashboard —</a:t>
            </a:r>
            <a:r>
              <a:rPr b="0" i="0" lang="en-US" sz="800" u="none" cap="none" strike="noStrike">
                <a:solidFill>
                  <a:srgbClr val="6B6B6B"/>
                </a:solidFill>
                <a:latin typeface="Calibri"/>
                <a:ea typeface="Calibri"/>
                <a:cs typeface="Calibri"/>
                <a:sym typeface="Calibri"/>
              </a:rPr>
              <a:t> </a:t>
            </a:r>
            <a:r>
              <a:rPr b="1" i="0" lang="en-US" sz="800" u="none" cap="none" strike="noStrike">
                <a:solidFill>
                  <a:srgbClr val="6B6B6B"/>
                </a:solidFill>
                <a:latin typeface="Calibri"/>
                <a:ea typeface="Calibri"/>
                <a:cs typeface="Calibri"/>
                <a:sym typeface="Calibri"/>
              </a:rPr>
              <a:t>NDFI loans:</a:t>
            </a:r>
            <a:r>
              <a:rPr b="0" i="0" lang="en-US" sz="800" u="none" cap="none" strike="noStrike">
                <a:solidFill>
                  <a:srgbClr val="6B6B6B"/>
                </a:solidFill>
                <a:latin typeface="Calibri"/>
                <a:ea typeface="Calibri"/>
                <a:cs typeface="Calibri"/>
                <a:sym typeface="Calibri"/>
              </a:rPr>
              <a:t> loans held by the sample banks to non-depository financial institutions, all five borrower types (mortgage, business credit, private equity funds, consumer credit, other). </a:t>
            </a:r>
            <a:r>
              <a:rPr b="1" i="0" lang="en-US" sz="800" u="none" cap="none" strike="noStrike">
                <a:solidFill>
                  <a:srgbClr val="6B6B6B"/>
                </a:solidFill>
                <a:latin typeface="Calibri"/>
                <a:ea typeface="Calibri"/>
                <a:cs typeface="Calibri"/>
                <a:sym typeface="Calibri"/>
              </a:rPr>
              <a:t>BC loans:</a:t>
            </a:r>
            <a:r>
              <a:rPr b="0" i="0" lang="en-US" sz="800" u="none" cap="none" strike="noStrike">
                <a:solidFill>
                  <a:srgbClr val="6B6B6B"/>
                </a:solidFill>
                <a:latin typeface="Calibri"/>
                <a:ea typeface="Calibri"/>
                <a:cs typeface="Calibri"/>
                <a:sym typeface="Calibri"/>
              </a:rPr>
              <a:t> loans to business credit intermediaries — direct lenders, BDCs, private credit funds — one of the five. </a:t>
            </a:r>
            <a:r>
              <a:rPr b="1" i="0" lang="en-US" sz="800" u="none" cap="none" strike="noStrike">
                <a:solidFill>
                  <a:srgbClr val="6B6B6B"/>
                </a:solidFill>
                <a:latin typeface="Calibri"/>
                <a:ea typeface="Calibri"/>
                <a:cs typeface="Calibri"/>
                <a:sym typeface="Calibri"/>
              </a:rPr>
              <a:t>Total loans:</a:t>
            </a:r>
            <a:r>
              <a:rPr b="0" i="0" lang="en-US" sz="800" u="none" cap="none" strike="noStrike">
                <a:solidFill>
                  <a:srgbClr val="6B6B6B"/>
                </a:solidFill>
                <a:latin typeface="Calibri"/>
                <a:ea typeface="Calibri"/>
                <a:cs typeface="Calibri"/>
                <a:sym typeface="Calibri"/>
              </a:rPr>
              <a:t> the banks' total loans &amp; leases.</a:t>
            </a:r>
            <a:endParaRPr b="0" i="0" sz="800" u="none" cap="none" strike="noStrike">
              <a:solidFill>
                <a:schemeClr val="dk1"/>
              </a:solidFill>
              <a:latin typeface="Calibri"/>
              <a:ea typeface="Calibri"/>
              <a:cs typeface="Calibri"/>
              <a:sym typeface="Calibri"/>
            </a:endParaRPr>
          </a:p>
        </p:txBody>
      </p:sp>
      <p:sp>
        <p:nvSpPr>
          <p:cNvPr id="23" name="Google Shape;23;p3"/>
          <p:cNvSpPr txBox="1"/>
          <p:nvPr/>
        </p:nvSpPr>
        <p:spPr>
          <a:xfrm>
            <a:off x="7406640" y="1188720"/>
            <a:ext cx="4325112" cy="5166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2222"/>
              </a:buClr>
              <a:buSzPts val="1000"/>
              <a:buFont typeface="Calibri"/>
              <a:buNone/>
            </a:pPr>
            <a:r>
              <a:rPr b="1" i="0" lang="en-US" sz="1000" u="none" cap="none" strike="noStrike">
                <a:solidFill>
                  <a:srgbClr val="222222"/>
                </a:solidFill>
                <a:latin typeface="Calibri"/>
                <a:ea typeface="Calibri"/>
                <a:cs typeface="Calibri"/>
                <a:sym typeface="Calibri"/>
              </a:rPr>
              <a:t>How we measure it: no regulatory filing has a line called “private credit”, so the team uses BC loans as its core proxy and NDFI loans as the upper bound — an estimate, not an exact measure.</a:t>
            </a:r>
            <a:r>
              <a:rPr b="0" i="0" lang="en-US" sz="1000" u="none" cap="none" strike="noStrike">
                <a:solidFill>
                  <a:srgbClr val="222222"/>
                </a:solidFill>
                <a:latin typeface="Calibri"/>
                <a:ea typeface="Calibri"/>
                <a:cs typeface="Calibri"/>
                <a:sym typeface="Calibri"/>
              </a:rPr>
              <a:t> </a:t>
            </a:r>
            <a:r>
              <a:rPr b="0" i="1" lang="en-US" sz="950" u="none" cap="none" strike="noStrike">
                <a:solidFill>
                  <a:srgbClr val="6B6B6B"/>
                </a:solidFill>
                <a:latin typeface="Calibri"/>
                <a:ea typeface="Calibri"/>
                <a:cs typeface="Calibri"/>
                <a:sym typeface="Calibri"/>
              </a:rPr>
              <a:t>Why: by the regulatory definition, business credit intermediaries are lenders with more than half of their business in loans to companies. That covers the main private credit lenders — direct lenders, private debt funds, business development companies — hence BC loans as the core proxy; but it also captures finance companies and CLOs that cannot be separated out — hence only a proxy. The other four NDFI categories hold even less private credit, so NDFI loans are the ceiling, and true exposure may be below BC loans (</a:t>
            </a:r>
            <a:r>
              <a:rPr b="0" i="1" lang="en-US" sz="950" u="sng" cap="none" strike="noStrike">
                <a:solidFill>
                  <a:schemeClr val="hlink"/>
                </a:solidFill>
                <a:latin typeface="Calibri"/>
                <a:ea typeface="Calibri"/>
                <a:cs typeface="Calibri"/>
                <a:sym typeface="Calibri"/>
                <a:hlinkClick r:id="rId4"/>
              </a:rPr>
              <a:t>FDIC, Feb 2026</a:t>
            </a:r>
            <a:r>
              <a:rPr b="0" i="1" lang="en-US" sz="950" u="none" cap="none" strike="noStrike">
                <a:solidFill>
                  <a:srgbClr val="6B6B6B"/>
                </a:solidFill>
                <a:latin typeface="Calibri"/>
                <a:ea typeface="Calibri"/>
                <a:cs typeface="Calibri"/>
                <a:sym typeface="Calibri"/>
              </a:rPr>
              <a:t>). Others use the same line as their private credit measure: the U.S. Treasury's Office of Financial Research lists it among the published measures of banks' private credit exposure (</a:t>
            </a:r>
            <a:r>
              <a:rPr b="0" i="1" lang="en-US" sz="950" u="sng" cap="none" strike="noStrike">
                <a:solidFill>
                  <a:schemeClr val="hlink"/>
                </a:solidFill>
                <a:latin typeface="Calibri"/>
                <a:ea typeface="Calibri"/>
                <a:cs typeface="Calibri"/>
                <a:sym typeface="Calibri"/>
                <a:hlinkClick r:id="rId5"/>
              </a:rPr>
              <a:t>OFR, Mar 2026</a:t>
            </a:r>
            <a:r>
              <a:rPr b="0" i="1" lang="en-US" sz="950" u="none" cap="none" strike="noStrike">
                <a:solidFill>
                  <a:srgbClr val="6B6B6B"/>
                </a:solidFill>
                <a:latin typeface="Calibri"/>
                <a:ea typeface="Calibri"/>
                <a:cs typeface="Calibri"/>
                <a:sym typeface="Calibri"/>
              </a:rPr>
              <a:t>), and Moody's put U.S. banks' loans to private credit providers at ~$300bn (June 2025) within $1.2 trillion of NDFI loans (</a:t>
            </a:r>
            <a:r>
              <a:rPr b="0" i="1" lang="en-US" sz="950" u="sng" cap="none" strike="noStrike">
                <a:solidFill>
                  <a:schemeClr val="hlink"/>
                </a:solidFill>
                <a:latin typeface="Calibri"/>
                <a:ea typeface="Calibri"/>
                <a:cs typeface="Calibri"/>
                <a:sym typeface="Calibri"/>
                <a:hlinkClick r:id="rId6"/>
              </a:rPr>
              <a:t>Moody's, Oct 2025</a:t>
            </a:r>
            <a:r>
              <a:rPr b="0" i="1" lang="en-US" sz="950" u="none" cap="none" strike="noStrike">
                <a:solidFill>
                  <a:srgbClr val="6B6B6B"/>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22222"/>
              </a:buClr>
              <a:buSzPts val="1000"/>
              <a:buFont typeface="Calibri"/>
              <a:buNone/>
            </a:pPr>
            <a:r>
              <a:rPr b="1" i="0" lang="en-US" sz="1000" u="none" cap="none" strike="noStrike">
                <a:solidFill>
                  <a:srgbClr val="222222"/>
                </a:solidFill>
                <a:latin typeface="Calibri"/>
                <a:ea typeface="Calibri"/>
                <a:cs typeface="Calibri"/>
                <a:sym typeface="Calibri"/>
              </a:rPr>
              <a:t>Exposure is concentrated in the largest banks, with one business-model outlier: the five largest lenders hold 61% of NDFI loans ($964bn), and State Street leads by share of its own loan book (BC loans 43.0% of total loans, Top 5 charts) because it is a custody bank lending to its fund clients — not a sign of higher credit risk.</a:t>
            </a:r>
            <a:r>
              <a:rPr b="0" i="0" lang="en-US" sz="1000" u="none" cap="none" strike="noStrike">
                <a:solidFill>
                  <a:srgbClr val="222222"/>
                </a:solidFill>
                <a:latin typeface="Calibri"/>
                <a:ea typeface="Calibri"/>
                <a:cs typeface="Calibri"/>
                <a:sym typeface="Calibri"/>
              </a:rPr>
              <a:t> </a:t>
            </a:r>
            <a:r>
              <a:rPr b="0" i="1" lang="en-US" sz="950" u="none" cap="none" strike="noStrike">
                <a:solidFill>
                  <a:srgbClr val="6B6B6B"/>
                </a:solidFill>
                <a:latin typeface="Calibri"/>
                <a:ea typeface="Calibri"/>
                <a:cs typeface="Calibri"/>
                <a:sym typeface="Calibri"/>
              </a:rPr>
              <a:t>About 79% of its $47bn loan book is financing for the investment funds it serves as custodian (</a:t>
            </a:r>
            <a:r>
              <a:rPr b="0" i="1" lang="en-US" sz="950" u="sng" cap="none" strike="noStrike">
                <a:solidFill>
                  <a:schemeClr val="hlink"/>
                </a:solidFill>
                <a:latin typeface="Calibri"/>
                <a:ea typeface="Calibri"/>
                <a:cs typeface="Calibri"/>
                <a:sym typeface="Calibri"/>
                <a:hlinkClick r:id="rId7"/>
              </a:rPr>
              <a:t>State Street 10-K, Feb 2026</a:t>
            </a:r>
            <a:r>
              <a:rPr b="0" i="1" lang="en-US" sz="950" u="none" cap="none" strike="noStrike">
                <a:solidFill>
                  <a:srgbClr val="6B6B6B"/>
                </a:solidFill>
                <a:latin typeface="Calibri"/>
                <a:ea typeface="Calibri"/>
                <a:cs typeface="Calibri"/>
                <a:sym typeface="Calibri"/>
              </a:rPr>
              <a:t>), and it has the highest BC share of any U.S. bank (</a:t>
            </a:r>
            <a:r>
              <a:rPr b="0" i="1" lang="en-US" sz="950" u="sng" cap="none" strike="noStrike">
                <a:solidFill>
                  <a:schemeClr val="hlink"/>
                </a:solidFill>
                <a:latin typeface="Calibri"/>
                <a:ea typeface="Calibri"/>
                <a:cs typeface="Calibri"/>
                <a:sym typeface="Calibri"/>
                <a:hlinkClick r:id="rId8"/>
              </a:rPr>
              <a:t>S&amp;P Global Market Intelligence, Feb 2026</a:t>
            </a:r>
            <a:r>
              <a:rPr b="0" i="1" lang="en-US" sz="950" u="none" cap="none" strike="noStrike">
                <a:solidFill>
                  <a:srgbClr val="6B6B6B"/>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24" name="Google Shape;24;p3"/>
          <p:cNvSpPr txBox="1"/>
          <p:nvPr/>
        </p:nvSpPr>
        <p:spPr>
          <a:xfrm>
            <a:off x="457200" y="5760720"/>
            <a:ext cx="66751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750"/>
              <a:buFont typeface="Calibri"/>
              <a:buNone/>
            </a:pPr>
            <a:r>
              <a:rPr b="0" i="0" lang="en-US" sz="750" u="none" cap="none" strike="noStrike">
                <a:solidFill>
                  <a:srgbClr val="6B6B6B"/>
                </a:solidFill>
                <a:latin typeface="Calibri"/>
                <a:ea typeface="Calibri"/>
                <a:cs typeface="Calibri"/>
                <a:sym typeface="Calibri"/>
              </a:rPr>
              <a:t>Scope: S&amp;P-rated U.S. bank holding companies that report the NDFI detail, consolidated to the parent (subsidiaries removed to avoid double counting). Series starts 2026Q1, the first quarter with the five-way NDFI breakout on a consistent holding-company basis; quarter-on-quarter comparisons use the same 48 banks, and a single quarter is not a trend — the first year-on-year comparison comes with Q1 2027 data.</a:t>
            </a:r>
            <a:endParaRPr b="0" i="0" sz="750" u="none" cap="none" strike="noStrike">
              <a:solidFill>
                <a:schemeClr val="dk1"/>
              </a:solidFill>
              <a:latin typeface="Calibri"/>
              <a:ea typeface="Calibri"/>
              <a:cs typeface="Calibri"/>
              <a:sym typeface="Calibri"/>
            </a:endParaRPr>
          </a:p>
        </p:txBody>
      </p:sp>
      <p:sp>
        <p:nvSpPr>
          <p:cNvPr id="25" name="Google Shape;25;p3"/>
          <p:cNvSpPr txBox="1"/>
          <p:nvPr/>
        </p:nvSpPr>
        <p:spPr>
          <a:xfrm>
            <a:off x="457200" y="6419088"/>
            <a:ext cx="11274552"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700"/>
              <a:buFont typeface="Calibri"/>
              <a:buNone/>
            </a:pPr>
            <a:r>
              <a:rPr b="1" i="0" lang="en-US" sz="700" u="none" cap="none" strike="noStrike">
                <a:solidFill>
                  <a:srgbClr val="6B6B6B"/>
                </a:solidFill>
                <a:latin typeface="Calibri"/>
                <a:ea typeface="Calibri"/>
                <a:cs typeface="Calibri"/>
                <a:sym typeface="Calibri"/>
              </a:rPr>
              <a:t>Sources —</a:t>
            </a:r>
            <a:r>
              <a:rPr b="0" i="0" lang="en-US" sz="700" u="none" cap="none" strike="noStrike">
                <a:solidFill>
                  <a:srgbClr val="6B6B6B"/>
                </a:solidFill>
                <a:latin typeface="Calibri"/>
                <a:ea typeface="Calibri"/>
                <a:cs typeface="Calibri"/>
                <a:sym typeface="Calibri"/>
              </a:rPr>
              <a:t> dashboard: Private Credit Market Monitor (S&amp;P Capital IQ, FR Y-9C). External evidence is linked in brackets after each statement; the full list is on the Sources slide. </a:t>
            </a:r>
            <a:r>
              <a:rPr b="1" i="0" lang="en-US" sz="700" u="none" cap="none" strike="noStrike">
                <a:solidFill>
                  <a:srgbClr val="6B6B6B"/>
                </a:solidFill>
                <a:latin typeface="Calibri"/>
                <a:ea typeface="Calibri"/>
                <a:cs typeface="Calibri"/>
                <a:sym typeface="Calibri"/>
              </a:rPr>
              <a:t>FDIC</a:t>
            </a:r>
            <a:r>
              <a:rPr b="0" i="0" lang="en-US" sz="700" u="none" cap="none" strike="noStrike">
                <a:solidFill>
                  <a:srgbClr val="6B6B6B"/>
                </a:solidFill>
                <a:latin typeface="Calibri"/>
                <a:ea typeface="Calibri"/>
                <a:cs typeface="Calibri"/>
                <a:sym typeface="Calibri"/>
              </a:rPr>
              <a:t> = Federal Deposit Insurance Corporation, the U.S. bank regulator and deposit insurer. </a:t>
            </a:r>
            <a:r>
              <a:rPr b="1" i="0" lang="en-US" sz="700" u="none" cap="none" strike="noStrike">
                <a:solidFill>
                  <a:srgbClr val="6B6B6B"/>
                </a:solidFill>
                <a:latin typeface="Calibri"/>
                <a:ea typeface="Calibri"/>
                <a:cs typeface="Calibri"/>
                <a:sym typeface="Calibri"/>
              </a:rPr>
              <a:t>OFR</a:t>
            </a:r>
            <a:r>
              <a:rPr b="0" i="0" lang="en-US" sz="700" u="none" cap="none" strike="noStrike">
                <a:solidFill>
                  <a:srgbClr val="6B6B6B"/>
                </a:solidFill>
                <a:latin typeface="Calibri"/>
                <a:ea typeface="Calibri"/>
                <a:cs typeface="Calibri"/>
                <a:sym typeface="Calibri"/>
              </a:rPr>
              <a:t> = Office of Financial Research, the U.S. Treasury's financial-stability research office. </a:t>
            </a:r>
            <a:r>
              <a:rPr b="1" i="0" lang="en-US" sz="700" u="none" cap="none" strike="noStrike">
                <a:solidFill>
                  <a:srgbClr val="6B6B6B"/>
                </a:solidFill>
                <a:latin typeface="Calibri"/>
                <a:ea typeface="Calibri"/>
                <a:cs typeface="Calibri"/>
                <a:sym typeface="Calibri"/>
              </a:rPr>
              <a:t>Moody's</a:t>
            </a:r>
            <a:r>
              <a:rPr b="0" i="0" lang="en-US" sz="700" u="none" cap="none" strike="noStrike">
                <a:solidFill>
                  <a:srgbClr val="6B6B6B"/>
                </a:solidFill>
                <a:latin typeface="Calibri"/>
                <a:ea typeface="Calibri"/>
                <a:cs typeface="Calibri"/>
                <a:sym typeface="Calibri"/>
              </a:rPr>
              <a:t> = credit rating agency. </a:t>
            </a:r>
            <a:r>
              <a:rPr b="1" i="0" lang="en-US" sz="700" u="none" cap="none" strike="noStrike">
                <a:solidFill>
                  <a:srgbClr val="6B6B6B"/>
                </a:solidFill>
                <a:latin typeface="Calibri"/>
                <a:ea typeface="Calibri"/>
                <a:cs typeface="Calibri"/>
                <a:sym typeface="Calibri"/>
              </a:rPr>
              <a:t>S&amp;P Global Market Intelligence</a:t>
            </a:r>
            <a:r>
              <a:rPr b="0" i="0" lang="en-US" sz="700" u="none" cap="none" strike="noStrike">
                <a:solidFill>
                  <a:srgbClr val="6B6B6B"/>
                </a:solidFill>
                <a:latin typeface="Calibri"/>
                <a:ea typeface="Calibri"/>
                <a:cs typeface="Calibri"/>
                <a:sym typeface="Calibri"/>
              </a:rPr>
              <a:t> = S&amp;P Global's data and research division, separate from S&amp;P Global Ratings. Internal use only.</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sp>
        <p:nvSpPr>
          <p:cNvPr id="31" name="Google Shape;31;p4"/>
          <p:cNvSpPr/>
          <p:nvPr/>
        </p:nvSpPr>
        <p:spPr>
          <a:xfrm>
            <a:off x="457200" y="301752"/>
            <a:ext cx="384048" cy="384048"/>
          </a:xfrm>
          <a:prstGeom prst="ellipse">
            <a:avLst/>
          </a:prstGeom>
          <a:solidFill>
            <a:srgbClr val="1F3864"/>
          </a:solidFill>
          <a:ln cap="flat" cmpd="sng" w="12700">
            <a:solidFill>
              <a:srgbClr val="1F38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 name="Google Shape;32;p4"/>
          <p:cNvPicPr preferRelativeResize="0"/>
          <p:nvPr/>
        </p:nvPicPr>
        <p:blipFill rotWithShape="1">
          <a:blip r:embed="rId3">
            <a:alphaModFix/>
          </a:blip>
          <a:srcRect b="0" l="0" r="0" t="0"/>
          <a:stretch/>
        </p:blipFill>
        <p:spPr>
          <a:xfrm>
            <a:off x="548640" y="393192"/>
            <a:ext cx="201168" cy="201168"/>
          </a:xfrm>
          <a:prstGeom prst="rect">
            <a:avLst/>
          </a:prstGeom>
          <a:noFill/>
          <a:ln>
            <a:noFill/>
          </a:ln>
        </p:spPr>
      </p:pic>
      <p:sp>
        <p:nvSpPr>
          <p:cNvPr id="33" name="Google Shape;33;p4"/>
          <p:cNvSpPr txBox="1"/>
          <p:nvPr/>
        </p:nvSpPr>
        <p:spPr>
          <a:xfrm>
            <a:off x="960120" y="228600"/>
            <a:ext cx="1078992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100"/>
              <a:buFont typeface="Calibri"/>
              <a:buNone/>
            </a:pPr>
            <a:r>
              <a:rPr b="1" i="0" lang="en-US" sz="2100" u="none" cap="none" strike="noStrike">
                <a:solidFill>
                  <a:srgbClr val="1F3864"/>
                </a:solidFill>
                <a:latin typeface="Calibri"/>
                <a:ea typeface="Calibri"/>
                <a:cs typeface="Calibri"/>
                <a:sym typeface="Calibri"/>
              </a:rPr>
              <a:t>U.S. Life Insurers (1/2) — PP bonds: size, credit quality and who rates them, YE2025</a:t>
            </a:r>
            <a:endParaRPr b="0" i="0" sz="2100" u="none" cap="none" strike="noStrike">
              <a:solidFill>
                <a:schemeClr val="dk1"/>
              </a:solidFill>
              <a:latin typeface="Calibri"/>
              <a:ea typeface="Calibri"/>
              <a:cs typeface="Calibri"/>
              <a:sym typeface="Calibri"/>
            </a:endParaRPr>
          </a:p>
        </p:txBody>
      </p:sp>
      <p:sp>
        <p:nvSpPr>
          <p:cNvPr id="34" name="Google Shape;34;p4"/>
          <p:cNvSpPr txBox="1"/>
          <p:nvPr/>
        </p:nvSpPr>
        <p:spPr>
          <a:xfrm>
            <a:off x="960120" y="758952"/>
            <a:ext cx="107899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950"/>
              <a:buFont typeface="Calibri"/>
              <a:buNone/>
            </a:pPr>
            <a:r>
              <a:rPr b="0" i="0" lang="en-US" sz="950" u="none" cap="none" strike="noStrike">
                <a:solidFill>
                  <a:srgbClr val="6B6B6B"/>
                </a:solidFill>
                <a:latin typeface="Calibri"/>
                <a:ea typeface="Calibri"/>
                <a:cs typeface="Calibri"/>
                <a:sym typeface="Calibri"/>
              </a:rPr>
              <a:t>Private Credit Market Monitor · Issue 1, September 2026 · PP = private placement bonds · Data: NAIC statutory filings (Schedule D Part 1, the bond schedule) · U.S. life/fraternal insurers · YE2025 snapshot, annual refresh</a:t>
            </a:r>
            <a:endParaRPr b="0" i="0" sz="950" u="none" cap="none" strike="noStrike">
              <a:solidFill>
                <a:schemeClr val="dk1"/>
              </a:solidFill>
              <a:latin typeface="Calibri"/>
              <a:ea typeface="Calibri"/>
              <a:cs typeface="Calibri"/>
              <a:sym typeface="Calibri"/>
            </a:endParaRPr>
          </a:p>
        </p:txBody>
      </p:sp>
      <p:sp>
        <p:nvSpPr>
          <p:cNvPr id="35" name="Google Shape;35;p4"/>
          <p:cNvSpPr/>
          <p:nvPr/>
        </p:nvSpPr>
        <p:spPr>
          <a:xfrm>
            <a:off x="1636776" y="1051560"/>
            <a:ext cx="8915400" cy="2743200"/>
          </a:xfrm>
          <a:prstGeom prst="roundRect">
            <a:avLst>
              <a:gd fmla="val 2000" name="adj"/>
            </a:avLst>
          </a:prstGeom>
          <a:solidFill>
            <a:srgbClr val="F4F7FB"/>
          </a:solidFill>
          <a:ln cap="flat" cmpd="sng" w="12700">
            <a:solidFill>
              <a:srgbClr val="A6A6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txBox="1"/>
          <p:nvPr/>
        </p:nvSpPr>
        <p:spPr>
          <a:xfrm>
            <a:off x="1956816" y="1783080"/>
            <a:ext cx="8275320"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864"/>
              </a:buClr>
              <a:buSzPts val="1200"/>
              <a:buFont typeface="Calibri"/>
              <a:buNone/>
            </a:pPr>
            <a:r>
              <a:rPr b="1" i="0" lang="en-US" sz="1200" u="none" cap="none" strike="noStrike">
                <a:solidFill>
                  <a:srgbClr val="1F3864"/>
                </a:solidFill>
                <a:highlight>
                  <a:srgbClr val="FFF2A8"/>
                </a:highlight>
                <a:latin typeface="Calibri"/>
                <a:ea typeface="Calibri"/>
                <a:cs typeface="Calibri"/>
                <a:sym typeface="Calibri"/>
              </a:rPr>
              <a:t>Paste dashboard screenshot here</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22222"/>
              </a:buClr>
              <a:buSzPts val="900"/>
              <a:buFont typeface="Calibri"/>
              <a:buNone/>
            </a:pPr>
            <a:r>
              <a:rPr b="0" i="0" lang="en-US" sz="900" u="none" cap="none" strike="noStrike">
                <a:solidFill>
                  <a:srgbClr val="222222"/>
                </a:solidFill>
                <a:latin typeface="Calibri"/>
                <a:ea typeface="Calibri"/>
                <a:cs typeface="Calibri"/>
                <a:sym typeface="Calibri"/>
              </a:rPr>
              <a:t>Crop from the US Insurance page: the card row plus Charts 1–2 (Chart 1 = NAIC designation category, Chart 2 = NAIC bucket × SVO bucket). Paste at 3.0" tall, keep the aspect ratio (a 3:1 crop is ~9.0" wide, 3.5:1 ~10.5"), centre it, then delete this text.</a:t>
            </a:r>
            <a:endParaRPr b="0" i="0" sz="1200" u="none" cap="none" strike="noStrike">
              <a:solidFill>
                <a:schemeClr val="dk1"/>
              </a:solidFill>
              <a:latin typeface="Calibri"/>
              <a:ea typeface="Calibri"/>
              <a:cs typeface="Calibri"/>
              <a:sym typeface="Calibri"/>
            </a:endParaRPr>
          </a:p>
        </p:txBody>
      </p:sp>
      <p:sp>
        <p:nvSpPr>
          <p:cNvPr id="37" name="Google Shape;37;p4"/>
          <p:cNvSpPr txBox="1"/>
          <p:nvPr/>
        </p:nvSpPr>
        <p:spPr>
          <a:xfrm>
            <a:off x="457200" y="3886200"/>
            <a:ext cx="5500116" cy="2103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2222"/>
              </a:buClr>
              <a:buSzPts val="900"/>
              <a:buFont typeface="Calibri"/>
              <a:buNone/>
            </a:pPr>
            <a:r>
              <a:rPr b="1" i="0" lang="en-US" sz="900" u="none" cap="none" strike="noStrike">
                <a:solidFill>
                  <a:srgbClr val="222222"/>
                </a:solidFill>
                <a:latin typeface="Calibri"/>
                <a:ea typeface="Calibri"/>
                <a:cs typeface="Calibri"/>
                <a:sym typeface="Calibri"/>
              </a:rPr>
              <a:t>Credit quality of PP bonds — NAIC designations (Chart 1).</a:t>
            </a:r>
            <a:r>
              <a:rPr b="0" i="0" lang="en-US" sz="900" u="none" cap="none" strike="noStrike">
                <a:solidFill>
                  <a:srgbClr val="222222"/>
                </a:solidFill>
                <a:latin typeface="Calibri"/>
                <a:ea typeface="Calibri"/>
                <a:cs typeface="Calibri"/>
                <a:sym typeface="Calibri"/>
              </a:rPr>
              <a:t> PP bonds are investment grade in aggregate (94%) but sit toward the lower end of investment grade: 49% of PP bonds are NAIC 2, and 11% are 2.C, the lowest investment-grade designation, where a one-notch downgrade raises the capital the insurer must hold against them. </a:t>
            </a:r>
            <a:r>
              <a:rPr b="0" i="1" lang="en-US" sz="850" u="none" cap="none" strike="noStrike">
                <a:solidFill>
                  <a:srgbClr val="6B6B6B"/>
                </a:solidFill>
                <a:latin typeface="Calibri"/>
                <a:ea typeface="Calibri"/>
                <a:cs typeface="Calibri"/>
                <a:sym typeface="Calibri"/>
              </a:rPr>
              <a:t>Market: every bond on an insurer's statutory bond schedule carries an NAIC designation, public or private, so PP bonds can be compared with all bonds on the same scale. Moody's tabulation of the industry's $4T of bonds at YE2025 shows 36% in NAIC 2 and 5% below investment grade; PP bonds in our data are 49% and 6.1%; Moody's own private &amp; illiquid measure ($807bn, a narrower definition) is 43% and 9% (</a:t>
            </a:r>
            <a:r>
              <a:rPr b="0" i="1" lang="en-US" sz="850" u="sng" cap="none" strike="noStrike">
                <a:solidFill>
                  <a:schemeClr val="hlink"/>
                </a:solidFill>
                <a:latin typeface="Calibri"/>
                <a:ea typeface="Calibri"/>
                <a:cs typeface="Calibri"/>
                <a:sym typeface="Calibri"/>
                <a:hlinkClick r:id="rId4"/>
              </a:rPr>
              <a:t>Moody's Ratings report, via Insurance Business, Jun 2026</a:t>
            </a:r>
            <a:r>
              <a:rPr b="0" i="1" lang="en-US" sz="850" u="none" cap="none" strike="noStrike">
                <a:solidFill>
                  <a:srgbClr val="6B6B6B"/>
                </a:solidFill>
                <a:latin typeface="Calibri"/>
                <a:ea typeface="Calibri"/>
                <a:cs typeface="Calibri"/>
                <a:sym typeface="Calibri"/>
              </a:rPr>
              <a:t>). The $4T includes the PP bonds themselves, so the difference between PP bonds and the other bonds is larger than these figures show.</a:t>
            </a:r>
            <a:endParaRPr b="0" i="0" sz="900" u="none" cap="none" strike="noStrike">
              <a:solidFill>
                <a:schemeClr val="dk1"/>
              </a:solidFill>
              <a:latin typeface="Calibri"/>
              <a:ea typeface="Calibri"/>
              <a:cs typeface="Calibri"/>
              <a:sym typeface="Calibri"/>
            </a:endParaRPr>
          </a:p>
        </p:txBody>
      </p:sp>
      <p:sp>
        <p:nvSpPr>
          <p:cNvPr id="38" name="Google Shape;38;p4"/>
          <p:cNvSpPr txBox="1"/>
          <p:nvPr/>
        </p:nvSpPr>
        <p:spPr>
          <a:xfrm>
            <a:off x="6231636" y="3886200"/>
            <a:ext cx="5500116" cy="2103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2222"/>
              </a:buClr>
              <a:buSzPts val="900"/>
              <a:buFont typeface="Calibri"/>
              <a:buNone/>
            </a:pPr>
            <a:r>
              <a:rPr b="1" i="0" lang="en-US" sz="900" u="none" cap="none" strike="noStrike">
                <a:solidFill>
                  <a:srgbClr val="222222"/>
                </a:solidFill>
                <a:latin typeface="Calibri"/>
                <a:ea typeface="Calibri"/>
                <a:cs typeface="Calibri"/>
                <a:sym typeface="Calibri"/>
              </a:rPr>
              <a:t>Source of the NAIC designations — SVO symbols (Chart 2).</a:t>
            </a:r>
            <a:r>
              <a:rPr b="0" i="0" lang="en-US" sz="900" u="none" cap="none" strike="noStrike">
                <a:solidFill>
                  <a:srgbClr val="222222"/>
                </a:solidFill>
                <a:latin typeface="Calibri"/>
                <a:ea typeface="Calibri"/>
                <a:cs typeface="Calibri"/>
                <a:sym typeface="Calibri"/>
              </a:rPr>
              <a:t> Chart 2 shows how the NAIC designation of each PP bond was obtained. FE designations are taken from public rating agency ratings and need no filing; PL designations require the insurer to file the private rating letter with the SVO, which assigns the designation from that rating without its own credit analysis; No Symbol designations are the SVO's own analysis of bonds filed with it (</a:t>
            </a:r>
            <a:r>
              <a:rPr b="0" i="0" lang="en-US" sz="900" u="sng" cap="none" strike="noStrike">
                <a:solidFill>
                  <a:schemeClr val="hlink"/>
                </a:solidFill>
                <a:latin typeface="Calibri"/>
                <a:ea typeface="Calibri"/>
                <a:cs typeface="Calibri"/>
                <a:sym typeface="Calibri"/>
                <a:hlinkClick r:id="rId5"/>
              </a:rPr>
              <a:t>NAIC P&amp;P Manual</a:t>
            </a:r>
            <a:r>
              <a:rPr b="0" i="0" lang="en-US" sz="900" u="none" cap="none" strike="noStrike">
                <a:solidFill>
                  <a:srgbClr val="222222"/>
                </a:solidFill>
                <a:latin typeface="Calibri"/>
                <a:ea typeface="Calibri"/>
                <a:cs typeface="Calibri"/>
                <a:sym typeface="Calibri"/>
              </a:rPr>
              <a:t>). PL is the largest SVO bucket in every NAIC bucket, so most PP bonds carry a designation derived from a rating that is not published (</a:t>
            </a:r>
            <a:r>
              <a:rPr b="0" i="0" lang="en-US" sz="900" u="sng" cap="none" strike="noStrike">
                <a:solidFill>
                  <a:schemeClr val="hlink"/>
                </a:solidFill>
                <a:latin typeface="Calibri"/>
                <a:ea typeface="Calibri"/>
                <a:cs typeface="Calibri"/>
                <a:sym typeface="Calibri"/>
                <a:hlinkClick r:id="rId6"/>
              </a:rPr>
              <a:t>NAIC, 2018</a:t>
            </a:r>
            <a:r>
              <a:rPr b="0" i="0" lang="en-US" sz="900" u="none" cap="none" strike="noStrike">
                <a:solidFill>
                  <a:srgbClr val="222222"/>
                </a:solidFill>
                <a:latin typeface="Calibri"/>
                <a:ea typeface="Calibri"/>
                <a:cs typeface="Calibri"/>
                <a:sym typeface="Calibri"/>
              </a:rPr>
              <a:t>). </a:t>
            </a:r>
            <a:r>
              <a:rPr b="0" i="1" lang="en-US" sz="850" u="none" cap="none" strike="noStrike">
                <a:solidFill>
                  <a:srgbClr val="6B6B6B"/>
                </a:solidFill>
                <a:latin typeface="Calibri"/>
                <a:ea typeface="Calibri"/>
                <a:cs typeface="Calibri"/>
                <a:sym typeface="Calibri"/>
              </a:rPr>
              <a:t>Dashboard: 41.7% of PP bonds ($390bn) are PL-rated (PL % of PP card), </a:t>
            </a:r>
            <a:r>
              <a:rPr b="1" i="1" lang="en-US" sz="850" u="none" cap="none" strike="noStrike">
                <a:solidFill>
                  <a:srgbClr val="6B6B6B"/>
                </a:solidFill>
                <a:highlight>
                  <a:srgbClr val="FFF2A8"/>
                </a:highlight>
                <a:latin typeface="Calibri"/>
                <a:ea typeface="Calibri"/>
                <a:cs typeface="Calibri"/>
                <a:sym typeface="Calibri"/>
              </a:rPr>
              <a:t>~31</a:t>
            </a:r>
            <a:r>
              <a:rPr b="0" i="1" lang="en-US" sz="850" u="none" cap="none" strike="noStrike">
                <a:solidFill>
                  <a:srgbClr val="6B6B6B"/>
                </a:solidFill>
                <a:latin typeface="Calibri"/>
                <a:ea typeface="Calibri"/>
                <a:cs typeface="Calibri"/>
                <a:sym typeface="Calibri"/>
              </a:rPr>
              <a:t>% are No Symbol and </a:t>
            </a:r>
            <a:r>
              <a:rPr b="1" i="1" lang="en-US" sz="850" u="none" cap="none" strike="noStrike">
                <a:solidFill>
                  <a:srgbClr val="6B6B6B"/>
                </a:solidFill>
                <a:highlight>
                  <a:srgbClr val="FFF2A8"/>
                </a:highlight>
                <a:latin typeface="Calibri"/>
                <a:ea typeface="Calibri"/>
                <a:cs typeface="Calibri"/>
                <a:sym typeface="Calibri"/>
              </a:rPr>
              <a:t>~10</a:t>
            </a:r>
            <a:r>
              <a:rPr b="0" i="1" lang="en-US" sz="850" u="none" cap="none" strike="noStrike">
                <a:solidFill>
                  <a:srgbClr val="6B6B6B"/>
                </a:solidFill>
                <a:latin typeface="Calibri"/>
                <a:ea typeface="Calibri"/>
                <a:cs typeface="Calibri"/>
                <a:sym typeface="Calibri"/>
              </a:rPr>
              <a:t>% are FE; PL includes about $</a:t>
            </a:r>
            <a:r>
              <a:rPr b="1" i="1" lang="en-US" sz="850" u="none" cap="none" strike="noStrike">
                <a:solidFill>
                  <a:srgbClr val="6B6B6B"/>
                </a:solidFill>
                <a:highlight>
                  <a:srgbClr val="FFF2A8"/>
                </a:highlight>
                <a:latin typeface="Calibri"/>
                <a:ea typeface="Calibri"/>
                <a:cs typeface="Calibri"/>
                <a:sym typeface="Calibri"/>
              </a:rPr>
              <a:t>25</a:t>
            </a:r>
            <a:r>
              <a:rPr b="0" i="1" lang="en-US" sz="850" u="none" cap="none" strike="noStrike">
                <a:solidFill>
                  <a:srgbClr val="6B6B6B"/>
                </a:solidFill>
                <a:latin typeface="Calibri"/>
                <a:ea typeface="Calibri"/>
                <a:cs typeface="Calibri"/>
                <a:sym typeface="Calibri"/>
              </a:rPr>
              <a:t>bn of the $57bn of PP bonds below investment grade. Market: private letter rating filings to the SVO rose from 1,961 in 2022 to 12,269 in 2025, and the SVO expects that it will soon be unable to complete all of them before year-end (</a:t>
            </a:r>
            <a:r>
              <a:rPr b="0" i="1" lang="en-US" sz="850" u="sng" cap="none" strike="noStrike">
                <a:solidFill>
                  <a:schemeClr val="hlink"/>
                </a:solidFill>
                <a:latin typeface="Calibri"/>
                <a:ea typeface="Calibri"/>
                <a:cs typeface="Calibri"/>
                <a:sym typeface="Calibri"/>
                <a:hlinkClick r:id="rId7"/>
              </a:rPr>
              <a:t>NAIC Spring National Meeting, Mar 2026, via Sidley</a:t>
            </a:r>
            <a:r>
              <a:rPr b="0" i="1" lang="en-US" sz="850" u="none" cap="none" strike="noStrike">
                <a:solidFill>
                  <a:srgbClr val="6B6B6B"/>
                </a:solidFill>
                <a:latin typeface="Calibri"/>
                <a:ea typeface="Calibri"/>
                <a:cs typeface="Calibri"/>
                <a:sym typeface="Calibri"/>
              </a:rPr>
              <a:t>). The Discretion Amendment, which allows the SVO to challenge a rating agency rating that differs from its own assessment by three or more notches, was to take effect on 1 January 2026 but is delayed until the systems and data agreements it needs are complete (</a:t>
            </a:r>
            <a:r>
              <a:rPr b="0" i="1" lang="en-US" sz="850" u="sng" cap="none" strike="noStrike">
                <a:solidFill>
                  <a:schemeClr val="hlink"/>
                </a:solidFill>
                <a:latin typeface="Calibri"/>
                <a:ea typeface="Calibri"/>
                <a:cs typeface="Calibri"/>
                <a:sym typeface="Calibri"/>
                <a:hlinkClick r:id="rId8"/>
              </a:rPr>
              <a:t>NAIC Fall 2025 National Meeting, via Clifford Chance</a:t>
            </a:r>
            <a:r>
              <a:rPr b="0" i="1" lang="en-US" sz="850" u="none" cap="none" strike="noStrike">
                <a:solidFill>
                  <a:srgbClr val="6B6B6B"/>
                </a:solidFill>
                <a:latin typeface="Calibri"/>
                <a:ea typeface="Calibri"/>
                <a:cs typeface="Calibri"/>
                <a:sym typeface="Calibri"/>
              </a:rPr>
              <a:t>; </a:t>
            </a:r>
            <a:r>
              <a:rPr b="0" i="1" lang="en-US" sz="850" u="sng" cap="none" strike="noStrike">
                <a:solidFill>
                  <a:schemeClr val="hlink"/>
                </a:solidFill>
                <a:latin typeface="Calibri"/>
                <a:ea typeface="Calibri"/>
                <a:cs typeface="Calibri"/>
                <a:sym typeface="Calibri"/>
                <a:hlinkClick r:id="rId9"/>
              </a:rPr>
              <a:t>KBRA, Jun 2026</a:t>
            </a:r>
            <a:r>
              <a:rPr b="0" i="1" lang="en-US" sz="850" u="none" cap="none" strike="noStrike">
                <a:solidFill>
                  <a:srgbClr val="6B6B6B"/>
                </a:solidFill>
                <a:latin typeface="Calibri"/>
                <a:ea typeface="Calibri"/>
                <a:cs typeface="Calibri"/>
                <a:sym typeface="Calibri"/>
              </a:rPr>
              <a:t>); until then, in the SVO's words, neither the SVO nor a state regulator has a defined way to address a rating that looks anomalous (</a:t>
            </a:r>
            <a:r>
              <a:rPr b="0" i="1" lang="en-US" sz="850" u="sng" cap="none" strike="noStrike">
                <a:solidFill>
                  <a:schemeClr val="hlink"/>
                </a:solidFill>
                <a:latin typeface="Calibri"/>
                <a:ea typeface="Calibri"/>
                <a:cs typeface="Calibri"/>
                <a:sym typeface="Calibri"/>
                <a:hlinkClick r:id="rId10"/>
              </a:rPr>
              <a:t>NAIC VOSTF, Aug 2024</a:t>
            </a:r>
            <a:r>
              <a:rPr b="0" i="1" lang="en-US" sz="850" u="none" cap="none" strike="noStrike">
                <a:solidFill>
                  <a:srgbClr val="6B6B6B"/>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39" name="Google Shape;39;p4"/>
          <p:cNvSpPr txBox="1"/>
          <p:nvPr/>
        </p:nvSpPr>
        <p:spPr>
          <a:xfrm>
            <a:off x="457200" y="5943600"/>
            <a:ext cx="11274552"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700"/>
              <a:buFont typeface="Calibri"/>
              <a:buNone/>
            </a:pPr>
            <a:r>
              <a:rPr b="1" i="0" lang="en-US" sz="700" u="none" cap="none" strike="noStrike">
                <a:solidFill>
                  <a:srgbClr val="6B6B6B"/>
                </a:solidFill>
                <a:latin typeface="Calibri"/>
                <a:ea typeface="Calibri"/>
                <a:cs typeface="Calibri"/>
                <a:sym typeface="Calibri"/>
              </a:rPr>
              <a:t>Glossary —</a:t>
            </a:r>
            <a:r>
              <a:rPr b="0" i="0" lang="en-US" sz="700" u="none" cap="none" strike="noStrike">
                <a:solidFill>
                  <a:srgbClr val="6B6B6B"/>
                </a:solidFill>
                <a:latin typeface="Calibri"/>
                <a:ea typeface="Calibri"/>
                <a:cs typeface="Calibri"/>
                <a:sym typeface="Calibri"/>
              </a:rPr>
              <a:t> </a:t>
            </a:r>
            <a:r>
              <a:rPr b="1" i="0" lang="en-US" sz="700" u="none" cap="none" strike="noStrike">
                <a:solidFill>
                  <a:srgbClr val="6B6B6B"/>
                </a:solidFill>
                <a:latin typeface="Calibri"/>
                <a:ea typeface="Calibri"/>
                <a:cs typeface="Calibri"/>
                <a:sym typeface="Calibri"/>
              </a:rPr>
              <a:t>PP bonds:</a:t>
            </a:r>
            <a:r>
              <a:rPr b="0" i="0" lang="en-US" sz="700" u="none" cap="none" strike="noStrike">
                <a:solidFill>
                  <a:srgbClr val="6B6B6B"/>
                </a:solidFill>
                <a:latin typeface="Calibri"/>
                <a:ea typeface="Calibri"/>
                <a:cs typeface="Calibri"/>
                <a:sym typeface="Calibri"/>
              </a:rPr>
              <a:t> bonds the insurer flags as private placements (PPN) on its statutory bond schedule — our private credit proxy, a narrow floor (no 144A bonds, no Schedule BA funds, no mortgage loans). </a:t>
            </a:r>
            <a:r>
              <a:rPr b="1" i="0" lang="en-US" sz="700" u="none" cap="none" strike="noStrike">
                <a:solidFill>
                  <a:srgbClr val="6B6B6B"/>
                </a:solidFill>
                <a:latin typeface="Calibri"/>
                <a:ea typeface="Calibri"/>
                <a:cs typeface="Calibri"/>
                <a:sym typeface="Calibri"/>
              </a:rPr>
              <a:t>BACV:</a:t>
            </a:r>
            <a:r>
              <a:rPr b="0" i="0" lang="en-US" sz="700" u="none" cap="none" strike="noStrike">
                <a:solidFill>
                  <a:srgbClr val="6B6B6B"/>
                </a:solidFill>
                <a:latin typeface="Calibri"/>
                <a:ea typeface="Calibri"/>
                <a:cs typeface="Calibri"/>
                <a:sym typeface="Calibri"/>
              </a:rPr>
              <a:t> statutory book value (amortized cost). </a:t>
            </a:r>
            <a:r>
              <a:rPr b="1" i="0" lang="en-US" sz="700" u="none" cap="none" strike="noStrike">
                <a:solidFill>
                  <a:srgbClr val="6B6B6B"/>
                </a:solidFill>
                <a:latin typeface="Calibri"/>
                <a:ea typeface="Calibri"/>
                <a:cs typeface="Calibri"/>
                <a:sym typeface="Calibri"/>
              </a:rPr>
              <a:t>Invested assets:</a:t>
            </a:r>
            <a:r>
              <a:rPr b="0" i="0" lang="en-US" sz="700" u="none" cap="none" strike="noStrike">
                <a:solidFill>
                  <a:srgbClr val="6B6B6B"/>
                </a:solidFill>
                <a:latin typeface="Calibri"/>
                <a:ea typeface="Calibri"/>
                <a:cs typeface="Calibri"/>
                <a:sym typeface="Calibri"/>
              </a:rPr>
              <a:t> the insurer's total cash &amp; invested assets, statutory basis. </a:t>
            </a:r>
            <a:r>
              <a:rPr b="1" i="0" lang="en-US" sz="700" u="none" cap="none" strike="noStrike">
                <a:solidFill>
                  <a:srgbClr val="6B6B6B"/>
                </a:solidFill>
                <a:latin typeface="Calibri"/>
                <a:ea typeface="Calibri"/>
                <a:cs typeface="Calibri"/>
                <a:sym typeface="Calibri"/>
              </a:rPr>
              <a:t>C&amp;S (capital &amp; surplus):</a:t>
            </a:r>
            <a:r>
              <a:rPr b="0" i="0" lang="en-US" sz="700" u="none" cap="none" strike="noStrike">
                <a:solidFill>
                  <a:srgbClr val="6B6B6B"/>
                </a:solidFill>
                <a:latin typeface="Calibri"/>
                <a:ea typeface="Calibri"/>
                <a:cs typeface="Calibri"/>
                <a:sym typeface="Calibri"/>
              </a:rPr>
              <a:t> the insurer's statutory capital. </a:t>
            </a:r>
            <a:r>
              <a:rPr b="1" i="0" lang="en-US" sz="700" u="none" cap="none" strike="noStrike">
                <a:solidFill>
                  <a:srgbClr val="6B6B6B"/>
                </a:solidFill>
                <a:latin typeface="Calibri"/>
                <a:ea typeface="Calibri"/>
                <a:cs typeface="Calibri"/>
                <a:sym typeface="Calibri"/>
              </a:rPr>
              <a:t>NAIC designation:</a:t>
            </a:r>
            <a:r>
              <a:rPr b="0" i="0" lang="en-US" sz="700" u="none" cap="none" strike="noStrike">
                <a:solidFill>
                  <a:srgbClr val="6B6B6B"/>
                </a:solidFill>
                <a:latin typeface="Calibri"/>
                <a:ea typeface="Calibri"/>
                <a:cs typeface="Calibri"/>
                <a:sym typeface="Calibri"/>
              </a:rPr>
              <a:t> the regulator's credit grade, administered by the SVO — not a rating-agency rating, though the NAIC maps it to rating scales: 1 ≈ AAA–A, 2 ≈ BBB, 3–6 = below investment grade; sub-categories (1.A … 2.C …) follow rating notches, so 2.C ≈ BBB-, the lowest investment-grade notch. </a:t>
            </a:r>
            <a:r>
              <a:rPr b="1" i="0" lang="en-US" sz="700" u="none" cap="none" strike="noStrike">
                <a:solidFill>
                  <a:srgbClr val="6B6B6B"/>
                </a:solidFill>
                <a:latin typeface="Calibri"/>
                <a:ea typeface="Calibri"/>
                <a:cs typeface="Calibri"/>
                <a:sym typeface="Calibri"/>
              </a:rPr>
              <a:t>SVO symbol (SVO bucket):</a:t>
            </a:r>
            <a:r>
              <a:rPr b="0" i="0" lang="en-US" sz="700" u="none" cap="none" strike="noStrike">
                <a:solidFill>
                  <a:srgbClr val="6B6B6B"/>
                </a:solidFill>
                <a:latin typeface="Calibri"/>
                <a:ea typeface="Calibri"/>
                <a:cs typeface="Calibri"/>
                <a:sym typeface="Calibri"/>
              </a:rPr>
              <a:t> the administrative symbol the NAIC's Securities Valuation Office (SVO) attaches to each designation to show how it was obtained — </a:t>
            </a:r>
            <a:r>
              <a:rPr b="1" i="0" lang="en-US" sz="700" u="none" cap="none" strike="noStrike">
                <a:solidFill>
                  <a:srgbClr val="6B6B6B"/>
                </a:solidFill>
                <a:latin typeface="Calibri"/>
                <a:ea typeface="Calibri"/>
                <a:cs typeface="Calibri"/>
                <a:sym typeface="Calibri"/>
              </a:rPr>
              <a:t>PL</a:t>
            </a:r>
            <a:r>
              <a:rPr b="0" i="0" lang="en-US" sz="700" u="none" cap="none" strike="noStrike">
                <a:solidFill>
                  <a:srgbClr val="6B6B6B"/>
                </a:solidFill>
                <a:latin typeface="Calibri"/>
                <a:ea typeface="Calibri"/>
                <a:cs typeface="Calibri"/>
                <a:sym typeface="Calibri"/>
              </a:rPr>
              <a:t> (private letter rating): assigned from a rating letter issued privately by a rating agency and filed with the SVO; the rating is not published. </a:t>
            </a:r>
            <a:r>
              <a:rPr b="1" i="0" lang="en-US" sz="700" u="none" cap="none" strike="noStrike">
                <a:solidFill>
                  <a:srgbClr val="6B6B6B"/>
                </a:solidFill>
                <a:latin typeface="Calibri"/>
                <a:ea typeface="Calibri"/>
                <a:cs typeface="Calibri"/>
                <a:sym typeface="Calibri"/>
              </a:rPr>
              <a:t>FE</a:t>
            </a:r>
            <a:r>
              <a:rPr b="0" i="0" lang="en-US" sz="700" u="none" cap="none" strike="noStrike">
                <a:solidFill>
                  <a:srgbClr val="6B6B6B"/>
                </a:solidFill>
                <a:latin typeface="Calibri"/>
                <a:ea typeface="Calibri"/>
                <a:cs typeface="Calibri"/>
                <a:sym typeface="Calibri"/>
              </a:rPr>
              <a:t> (filing exempt): taken from a public rating agency rating; no filing. </a:t>
            </a:r>
            <a:r>
              <a:rPr b="1" i="0" lang="en-US" sz="700" u="none" cap="none" strike="noStrike">
                <a:solidFill>
                  <a:srgbClr val="6B6B6B"/>
                </a:solidFill>
                <a:latin typeface="Calibri"/>
                <a:ea typeface="Calibri"/>
                <a:cs typeface="Calibri"/>
                <a:sym typeface="Calibri"/>
              </a:rPr>
              <a:t>No Symbol</a:t>
            </a:r>
            <a:r>
              <a:rPr b="0" i="0" lang="en-US" sz="700" u="none" cap="none" strike="noStrike">
                <a:solidFill>
                  <a:srgbClr val="6B6B6B"/>
                </a:solidFill>
                <a:latin typeface="Calibri"/>
                <a:ea typeface="Calibri"/>
                <a:cs typeface="Calibri"/>
                <a:sym typeface="Calibri"/>
              </a:rPr>
              <a:t>: the SVO's own credit analysis of a bond filed with it. </a:t>
            </a:r>
            <a:r>
              <a:rPr b="1" i="0" lang="en-US" sz="700" u="none" cap="none" strike="noStrike">
                <a:solidFill>
                  <a:srgbClr val="6B6B6B"/>
                </a:solidFill>
                <a:latin typeface="Calibri"/>
                <a:ea typeface="Calibri"/>
                <a:cs typeface="Calibri"/>
                <a:sym typeface="Calibri"/>
              </a:rPr>
              <a:t>Other</a:t>
            </a:r>
            <a:r>
              <a:rPr b="0" i="0" lang="en-US" sz="700" u="none" cap="none" strike="noStrike">
                <a:solidFill>
                  <a:srgbClr val="6B6B6B"/>
                </a:solidFill>
                <a:latin typeface="Calibri"/>
                <a:ea typeface="Calibri"/>
                <a:cs typeface="Calibri"/>
                <a:sym typeface="Calibri"/>
              </a:rPr>
              <a:t>: administrative statuses (Z = insurer self-designated, IF = initial filing, YE = year-end carry-over).</a:t>
            </a:r>
            <a:endParaRPr b="0" i="0" sz="700" u="none" cap="none" strike="noStrike">
              <a:solidFill>
                <a:schemeClr val="dk1"/>
              </a:solidFill>
              <a:latin typeface="Calibri"/>
              <a:ea typeface="Calibri"/>
              <a:cs typeface="Calibri"/>
              <a:sym typeface="Calibri"/>
            </a:endParaRPr>
          </a:p>
        </p:txBody>
      </p:sp>
      <p:sp>
        <p:nvSpPr>
          <p:cNvPr id="40" name="Google Shape;40;p4"/>
          <p:cNvSpPr txBox="1"/>
          <p:nvPr/>
        </p:nvSpPr>
        <p:spPr>
          <a:xfrm>
            <a:off x="457200" y="6400800"/>
            <a:ext cx="11274552"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650"/>
              <a:buFont typeface="Calibri"/>
              <a:buNone/>
            </a:pPr>
            <a:r>
              <a:rPr b="0" i="0" lang="en-US" sz="650" u="none" cap="none" strike="noStrike">
                <a:solidFill>
                  <a:srgbClr val="6B6B6B"/>
                </a:solidFill>
                <a:latin typeface="Calibri"/>
                <a:ea typeface="Calibri"/>
                <a:cs typeface="Calibri"/>
                <a:sym typeface="Calibri"/>
              </a:rPr>
              <a:t>Scope: U.S. life/fraternal insurers; bonds carrying a private placement number (PPN) on Schedule D Part 1; universe and snapshot both at YE2025; statutory book value; denominators on the same basis and date. Check: S&amp;P Global Market Intelligence's 23.4% of life insurers' admitted bonds (</a:t>
            </a:r>
            <a:r>
              <a:rPr b="0" i="0" lang="en-US" sz="650" u="sng" cap="none" strike="noStrike">
                <a:solidFill>
                  <a:schemeClr val="hlink"/>
                </a:solidFill>
                <a:latin typeface="Calibri"/>
                <a:ea typeface="Calibri"/>
                <a:cs typeface="Calibri"/>
                <a:sym typeface="Calibri"/>
                <a:hlinkClick r:id="rId11"/>
              </a:rPr>
              <a:t>May 2026</a:t>
            </a:r>
            <a:r>
              <a:rPr b="0" i="0" lang="en-US" sz="650" u="none" cap="none" strike="noStrike">
                <a:solidFill>
                  <a:srgbClr val="6B6B6B"/>
                </a:solidFill>
                <a:latin typeface="Calibri"/>
                <a:ea typeface="Calibri"/>
                <a:cs typeface="Calibri"/>
                <a:sym typeface="Calibri"/>
              </a:rPr>
              <a:t>) on the industry's $4.0T of life bonds (</a:t>
            </a:r>
            <a:r>
              <a:rPr b="0" i="0" lang="en-US" sz="650" u="sng" cap="none" strike="noStrike">
                <a:solidFill>
                  <a:schemeClr val="hlink"/>
                </a:solidFill>
                <a:latin typeface="Calibri"/>
                <a:ea typeface="Calibri"/>
                <a:cs typeface="Calibri"/>
                <a:sym typeface="Calibri"/>
                <a:hlinkClick r:id="rId12"/>
              </a:rPr>
              <a:t>NAIC, YE2025</a:t>
            </a:r>
            <a:r>
              <a:rPr b="0" i="0" lang="en-US" sz="650" u="none" cap="none" strike="noStrike">
                <a:solidFill>
                  <a:srgbClr val="6B6B6B"/>
                </a:solidFill>
                <a:latin typeface="Calibri"/>
                <a:ea typeface="Calibri"/>
                <a:cs typeface="Calibri"/>
                <a:sym typeface="Calibri"/>
              </a:rPr>
              <a:t>) is ≈$936bn vs our $934bn — same statutory data, same flag. The Insurance practice's wider estimate additionally screens CUSIP bonds with manual filters; ours is the reproducible floor. </a:t>
            </a:r>
            <a:r>
              <a:rPr b="1" i="0" lang="en-US" sz="650" u="none" cap="none" strike="noStrike">
                <a:solidFill>
                  <a:srgbClr val="6B6B6B"/>
                </a:solidFill>
                <a:latin typeface="Calibri"/>
                <a:ea typeface="Calibri"/>
                <a:cs typeface="Calibri"/>
                <a:sym typeface="Calibri"/>
              </a:rPr>
              <a:t>Sources —</a:t>
            </a:r>
            <a:r>
              <a:rPr b="0" i="0" lang="en-US" sz="650" u="none" cap="none" strike="noStrike">
                <a:solidFill>
                  <a:srgbClr val="6B6B6B"/>
                </a:solidFill>
                <a:latin typeface="Calibri"/>
                <a:ea typeface="Calibri"/>
                <a:cs typeface="Calibri"/>
                <a:sym typeface="Calibri"/>
              </a:rPr>
              <a:t> dashboard: Private Credit Market Monitor (S&amp;P Capital IQ Pro, NAIC statutory filings); external evidence linked in brackets, full list on the Sources slide. </a:t>
            </a:r>
            <a:r>
              <a:rPr b="1" i="0" lang="en-US" sz="650" u="none" cap="none" strike="noStrike">
                <a:solidFill>
                  <a:srgbClr val="6B6B6B"/>
                </a:solidFill>
                <a:latin typeface="Calibri"/>
                <a:ea typeface="Calibri"/>
                <a:cs typeface="Calibri"/>
                <a:sym typeface="Calibri"/>
              </a:rPr>
              <a:t>NAIC</a:t>
            </a:r>
            <a:r>
              <a:rPr b="0" i="0" lang="en-US" sz="650" u="none" cap="none" strike="noStrike">
                <a:solidFill>
                  <a:srgbClr val="6B6B6B"/>
                </a:solidFill>
                <a:latin typeface="Calibri"/>
                <a:ea typeface="Calibri"/>
                <a:cs typeface="Calibri"/>
                <a:sym typeface="Calibri"/>
              </a:rPr>
              <a:t> = National Association of Insurance Commissioners (U.S. state insurance regulators; its Securities Valuation Office assigns designations). </a:t>
            </a:r>
            <a:r>
              <a:rPr b="1" i="0" lang="en-US" sz="650" u="none" cap="none" strike="noStrike">
                <a:solidFill>
                  <a:srgbClr val="6B6B6B"/>
                </a:solidFill>
                <a:latin typeface="Calibri"/>
                <a:ea typeface="Calibri"/>
                <a:cs typeface="Calibri"/>
                <a:sym typeface="Calibri"/>
              </a:rPr>
              <a:t>Moody's</a:t>
            </a:r>
            <a:r>
              <a:rPr b="0" i="0" lang="en-US" sz="650" u="none" cap="none" strike="noStrike">
                <a:solidFill>
                  <a:srgbClr val="6B6B6B"/>
                </a:solidFill>
                <a:latin typeface="Calibri"/>
                <a:ea typeface="Calibri"/>
                <a:cs typeface="Calibri"/>
                <a:sym typeface="Calibri"/>
              </a:rPr>
              <a:t> and </a:t>
            </a:r>
            <a:r>
              <a:rPr b="1" i="0" lang="en-US" sz="650" u="none" cap="none" strike="noStrike">
                <a:solidFill>
                  <a:srgbClr val="6B6B6B"/>
                </a:solidFill>
                <a:latin typeface="Calibri"/>
                <a:ea typeface="Calibri"/>
                <a:cs typeface="Calibri"/>
                <a:sym typeface="Calibri"/>
              </a:rPr>
              <a:t>KBRA</a:t>
            </a:r>
            <a:r>
              <a:rPr b="0" i="0" lang="en-US" sz="650" u="none" cap="none" strike="noStrike">
                <a:solidFill>
                  <a:srgbClr val="6B6B6B"/>
                </a:solidFill>
                <a:latin typeface="Calibri"/>
                <a:ea typeface="Calibri"/>
                <a:cs typeface="Calibri"/>
                <a:sym typeface="Calibri"/>
              </a:rPr>
              <a:t> = credit rating agencies. </a:t>
            </a:r>
            <a:r>
              <a:rPr b="1" i="0" lang="en-US" sz="650" u="none" cap="none" strike="noStrike">
                <a:solidFill>
                  <a:srgbClr val="6B6B6B"/>
                </a:solidFill>
                <a:latin typeface="Calibri"/>
                <a:ea typeface="Calibri"/>
                <a:cs typeface="Calibri"/>
                <a:sym typeface="Calibri"/>
              </a:rPr>
              <a:t>S&amp;P Global Market Intelligence</a:t>
            </a:r>
            <a:r>
              <a:rPr b="0" i="0" lang="en-US" sz="650" u="none" cap="none" strike="noStrike">
                <a:solidFill>
                  <a:srgbClr val="6B6B6B"/>
                </a:solidFill>
                <a:latin typeface="Calibri"/>
                <a:ea typeface="Calibri"/>
                <a:cs typeface="Calibri"/>
                <a:sym typeface="Calibri"/>
              </a:rPr>
              <a:t> = S&amp;P Global's data and research division, separate from S&amp;P Global Ratings. Internal use only.</a:t>
            </a:r>
            <a:endParaRPr b="0" i="0" sz="6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 name="Shape 45"/>
        <p:cNvGrpSpPr/>
        <p:nvPr/>
      </p:nvGrpSpPr>
      <p:grpSpPr>
        <a:xfrm>
          <a:off x="0" y="0"/>
          <a:ext cx="0" cy="0"/>
          <a:chOff x="0" y="0"/>
          <a:chExt cx="0" cy="0"/>
        </a:xfrm>
      </p:grpSpPr>
      <p:sp>
        <p:nvSpPr>
          <p:cNvPr id="46" name="Google Shape;46;p5"/>
          <p:cNvSpPr/>
          <p:nvPr/>
        </p:nvSpPr>
        <p:spPr>
          <a:xfrm>
            <a:off x="457200" y="301752"/>
            <a:ext cx="384048" cy="384048"/>
          </a:xfrm>
          <a:prstGeom prst="ellipse">
            <a:avLst/>
          </a:prstGeom>
          <a:solidFill>
            <a:srgbClr val="1F3864"/>
          </a:solidFill>
          <a:ln cap="flat" cmpd="sng" w="12700">
            <a:solidFill>
              <a:srgbClr val="1F38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7" name="Google Shape;47;p5"/>
          <p:cNvPicPr preferRelativeResize="0"/>
          <p:nvPr/>
        </p:nvPicPr>
        <p:blipFill rotWithShape="1">
          <a:blip r:embed="rId3">
            <a:alphaModFix/>
          </a:blip>
          <a:srcRect b="0" l="0" r="0" t="0"/>
          <a:stretch/>
        </p:blipFill>
        <p:spPr>
          <a:xfrm>
            <a:off x="548640" y="393192"/>
            <a:ext cx="201168" cy="201168"/>
          </a:xfrm>
          <a:prstGeom prst="rect">
            <a:avLst/>
          </a:prstGeom>
          <a:noFill/>
          <a:ln>
            <a:noFill/>
          </a:ln>
        </p:spPr>
      </p:pic>
      <p:sp>
        <p:nvSpPr>
          <p:cNvPr id="48" name="Google Shape;48;p5"/>
          <p:cNvSpPr txBox="1"/>
          <p:nvPr/>
        </p:nvSpPr>
        <p:spPr>
          <a:xfrm>
            <a:off x="960120" y="228600"/>
            <a:ext cx="1078992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100"/>
              <a:buFont typeface="Calibri"/>
              <a:buNone/>
            </a:pPr>
            <a:r>
              <a:rPr b="1" i="0" lang="en-US" sz="2100" u="none" cap="none" strike="noStrike">
                <a:solidFill>
                  <a:srgbClr val="1F3864"/>
                </a:solidFill>
                <a:latin typeface="Calibri"/>
                <a:ea typeface="Calibri"/>
                <a:cs typeface="Calibri"/>
                <a:sym typeface="Calibri"/>
              </a:rPr>
              <a:t>U.S. Life Insurers (2/2) — PP bonds: who holds them, and two early-warning lenses, YE2025</a:t>
            </a:r>
            <a:endParaRPr b="0" i="0" sz="2100" u="none" cap="none" strike="noStrike">
              <a:solidFill>
                <a:schemeClr val="dk1"/>
              </a:solidFill>
              <a:latin typeface="Calibri"/>
              <a:ea typeface="Calibri"/>
              <a:cs typeface="Calibri"/>
              <a:sym typeface="Calibri"/>
            </a:endParaRPr>
          </a:p>
        </p:txBody>
      </p:sp>
      <p:sp>
        <p:nvSpPr>
          <p:cNvPr id="49" name="Google Shape;49;p5"/>
          <p:cNvSpPr txBox="1"/>
          <p:nvPr/>
        </p:nvSpPr>
        <p:spPr>
          <a:xfrm>
            <a:off x="960120" y="758952"/>
            <a:ext cx="107899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950"/>
              <a:buFont typeface="Calibri"/>
              <a:buNone/>
            </a:pPr>
            <a:r>
              <a:rPr b="0" i="0" lang="en-US" sz="950" u="none" cap="none" strike="noStrike">
                <a:solidFill>
                  <a:srgbClr val="6B6B6B"/>
                </a:solidFill>
                <a:latin typeface="Calibri"/>
                <a:ea typeface="Calibri"/>
                <a:cs typeface="Calibri"/>
                <a:sym typeface="Calibri"/>
              </a:rPr>
              <a:t>Private Credit Market Monitor · Issue 1, September 2026 · PP = private placement bonds · Data: NAIC statutory filings (Schedule D Part 1, the bond schedule) · U.S. life/fraternal insurers · YE2025 snapshot, annual refresh</a:t>
            </a:r>
            <a:endParaRPr b="0" i="0" sz="950" u="none" cap="none" strike="noStrike">
              <a:solidFill>
                <a:schemeClr val="dk1"/>
              </a:solidFill>
              <a:latin typeface="Calibri"/>
              <a:ea typeface="Calibri"/>
              <a:cs typeface="Calibri"/>
              <a:sym typeface="Calibri"/>
            </a:endParaRPr>
          </a:p>
        </p:txBody>
      </p:sp>
      <p:sp>
        <p:nvSpPr>
          <p:cNvPr id="50" name="Google Shape;50;p5"/>
          <p:cNvSpPr/>
          <p:nvPr/>
        </p:nvSpPr>
        <p:spPr>
          <a:xfrm>
            <a:off x="457200" y="1188720"/>
            <a:ext cx="6675120" cy="3108960"/>
          </a:xfrm>
          <a:prstGeom prst="roundRect">
            <a:avLst>
              <a:gd fmla="val 1765" name="adj"/>
            </a:avLst>
          </a:prstGeom>
          <a:solidFill>
            <a:srgbClr val="F4F7FB"/>
          </a:solidFill>
          <a:ln cap="flat" cmpd="sng" w="12700">
            <a:solidFill>
              <a:srgbClr val="A6A6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txBox="1"/>
          <p:nvPr/>
        </p:nvSpPr>
        <p:spPr>
          <a:xfrm>
            <a:off x="777240" y="2103120"/>
            <a:ext cx="6035040"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3864"/>
              </a:buClr>
              <a:buSzPts val="1200"/>
              <a:buFont typeface="Calibri"/>
              <a:buNone/>
            </a:pPr>
            <a:r>
              <a:rPr b="1" i="0" lang="en-US" sz="1200" u="none" cap="none" strike="noStrike">
                <a:solidFill>
                  <a:srgbClr val="1F3864"/>
                </a:solidFill>
                <a:highlight>
                  <a:srgbClr val="FFF2A8"/>
                </a:highlight>
                <a:latin typeface="Calibri"/>
                <a:ea typeface="Calibri"/>
                <a:cs typeface="Calibri"/>
                <a:sym typeface="Calibri"/>
              </a:rPr>
              <a:t>Paste dashboard screenshot here</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22222"/>
              </a:buClr>
              <a:buSzPts val="900"/>
              <a:buFont typeface="Calibri"/>
              <a:buNone/>
            </a:pPr>
            <a:r>
              <a:rPr b="0" i="0" lang="en-US" sz="900" u="none" cap="none" strike="noStrike">
                <a:solidFill>
                  <a:srgbClr val="222222"/>
                </a:solidFill>
                <a:latin typeface="Calibri"/>
                <a:ea typeface="Calibri"/>
                <a:cs typeface="Calibri"/>
                <a:sym typeface="Calibri"/>
              </a:rPr>
              <a:t>Crop from the US Insurance page: Charts 3–6 (the bottom four). Keep the crop's aspect ratio and resize this box to match, then delete this text.</a:t>
            </a:r>
            <a:endParaRPr b="0" i="0" sz="1200" u="none" cap="none" strike="noStrike">
              <a:solidFill>
                <a:schemeClr val="dk1"/>
              </a:solidFill>
              <a:latin typeface="Calibri"/>
              <a:ea typeface="Calibri"/>
              <a:cs typeface="Calibri"/>
              <a:sym typeface="Calibri"/>
            </a:endParaRPr>
          </a:p>
        </p:txBody>
      </p:sp>
      <p:sp>
        <p:nvSpPr>
          <p:cNvPr id="52" name="Google Shape;52;p5"/>
          <p:cNvSpPr txBox="1"/>
          <p:nvPr/>
        </p:nvSpPr>
        <p:spPr>
          <a:xfrm>
            <a:off x="457200" y="4370832"/>
            <a:ext cx="66751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800"/>
              <a:buFont typeface="Calibri"/>
              <a:buNone/>
            </a:pPr>
            <a:r>
              <a:rPr b="1" i="0" lang="en-US" sz="800" u="none" cap="none" strike="noStrike">
                <a:solidFill>
                  <a:srgbClr val="6B6B6B"/>
                </a:solidFill>
                <a:latin typeface="Calibri"/>
                <a:ea typeface="Calibri"/>
                <a:cs typeface="Calibri"/>
                <a:sym typeface="Calibri"/>
              </a:rPr>
              <a:t>Reading the charts —</a:t>
            </a:r>
            <a:r>
              <a:rPr b="0" i="0" lang="en-US" sz="800" u="none" cap="none" strike="noStrike">
                <a:solidFill>
                  <a:srgbClr val="6B6B6B"/>
                </a:solidFill>
                <a:latin typeface="Calibri"/>
                <a:ea typeface="Calibri"/>
                <a:cs typeface="Calibri"/>
                <a:sym typeface="Calibri"/>
              </a:rPr>
              <a:t> </a:t>
            </a:r>
            <a:r>
              <a:rPr b="1" i="0" lang="en-US" sz="800" u="none" cap="none" strike="noStrike">
                <a:solidFill>
                  <a:srgbClr val="6B6B6B"/>
                </a:solidFill>
                <a:latin typeface="Calibri"/>
                <a:ea typeface="Calibri"/>
                <a:cs typeface="Calibri"/>
                <a:sym typeface="Calibri"/>
              </a:rPr>
              <a:t>Chart 3, Top 10 Life Insurers by PP % of Invested Assets:</a:t>
            </a:r>
            <a:r>
              <a:rPr b="0" i="0" lang="en-US" sz="800" u="none" cap="none" strike="noStrike">
                <a:solidFill>
                  <a:srgbClr val="6B6B6B"/>
                </a:solidFill>
                <a:latin typeface="Calibri"/>
                <a:ea typeface="Calibri"/>
                <a:cs typeface="Calibri"/>
                <a:sym typeface="Calibri"/>
              </a:rPr>
              <a:t> the share of each insurer's invested assets in PP bonds (industry 15.7%). </a:t>
            </a:r>
            <a:r>
              <a:rPr b="1" i="0" lang="en-US" sz="800" u="none" cap="none" strike="noStrike">
                <a:solidFill>
                  <a:srgbClr val="6B6B6B"/>
                </a:solidFill>
                <a:latin typeface="Calibri"/>
                <a:ea typeface="Calibri"/>
                <a:cs typeface="Calibri"/>
                <a:sym typeface="Calibri"/>
              </a:rPr>
              <a:t>Chart 4, FV to BACV by Life Insurer:</a:t>
            </a:r>
            <a:r>
              <a:rPr b="0" i="0" lang="en-US" sz="800" u="none" cap="none" strike="noStrike">
                <a:solidFill>
                  <a:srgbClr val="6B6B6B"/>
                </a:solidFill>
                <a:latin typeface="Calibri"/>
                <a:ea typeface="Calibri"/>
                <a:cs typeface="Calibri"/>
                <a:sym typeface="Calibri"/>
              </a:rPr>
              <a:t> fair value ÷ book value of each insurer's PP bonds, lowest first (industry 95.6%); below 1.0 = an unrealized loss that the book value does not show. </a:t>
            </a:r>
            <a:r>
              <a:rPr b="1" i="0" lang="en-US" sz="800" u="none" cap="none" strike="noStrike">
                <a:solidFill>
                  <a:srgbClr val="6B6B6B"/>
                </a:solidFill>
                <a:latin typeface="Calibri"/>
                <a:ea typeface="Calibri"/>
                <a:cs typeface="Calibri"/>
                <a:sym typeface="Calibri"/>
              </a:rPr>
              <a:t>Chart 5, Top Issuers by PP Bond BACV:</a:t>
            </a:r>
            <a:r>
              <a:rPr b="0" i="0" lang="en-US" sz="800" u="none" cap="none" strike="noStrike">
                <a:solidFill>
                  <a:srgbClr val="6B6B6B"/>
                </a:solidFill>
                <a:latin typeface="Calibri"/>
                <a:ea typeface="Calibri"/>
                <a:cs typeface="Calibri"/>
                <a:sym typeface="Calibri"/>
              </a:rPr>
              <a:t> the borrowers the industry lends most to, coloured by NAIC bucket. </a:t>
            </a:r>
            <a:r>
              <a:rPr b="1" i="0" lang="en-US" sz="800" u="none" cap="none" strike="noStrike">
                <a:solidFill>
                  <a:srgbClr val="6B6B6B"/>
                </a:solidFill>
                <a:latin typeface="Calibri"/>
                <a:ea typeface="Calibri"/>
                <a:cs typeface="Calibri"/>
                <a:sym typeface="Calibri"/>
              </a:rPr>
              <a:t>Chart 6, Holders Count by Issuer:</a:t>
            </a:r>
            <a:r>
              <a:rPr b="0" i="0" lang="en-US" sz="800" u="none" cap="none" strike="noStrike">
                <a:solidFill>
                  <a:srgbClr val="6B6B6B"/>
                </a:solidFill>
                <a:latin typeface="Calibri"/>
                <a:ea typeface="Calibri"/>
                <a:cs typeface="Calibri"/>
                <a:sym typeface="Calibri"/>
              </a:rPr>
              <a:t> how many insurers hold the same borrower — the more books a borrower sits in, the more a single default becomes an industry event. Other terms: glossary on the previous slide.</a:t>
            </a:r>
            <a:endParaRPr b="0" i="0" sz="800" u="none" cap="none" strike="noStrike">
              <a:solidFill>
                <a:schemeClr val="dk1"/>
              </a:solidFill>
              <a:latin typeface="Calibri"/>
              <a:ea typeface="Calibri"/>
              <a:cs typeface="Calibri"/>
              <a:sym typeface="Calibri"/>
            </a:endParaRPr>
          </a:p>
        </p:txBody>
      </p:sp>
      <p:sp>
        <p:nvSpPr>
          <p:cNvPr id="53" name="Google Shape;53;p5"/>
          <p:cNvSpPr txBox="1"/>
          <p:nvPr/>
        </p:nvSpPr>
        <p:spPr>
          <a:xfrm>
            <a:off x="7406640" y="1188720"/>
            <a:ext cx="4325112" cy="5166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22222"/>
              </a:buClr>
              <a:buSzPts val="1000"/>
              <a:buFont typeface="Calibri"/>
              <a:buNone/>
            </a:pPr>
            <a:r>
              <a:rPr b="1" i="0" lang="en-US" sz="1000" u="none" cap="none" strike="noStrike">
                <a:solidFill>
                  <a:srgbClr val="222222"/>
                </a:solidFill>
                <a:latin typeface="Calibri"/>
                <a:ea typeface="Calibri"/>
                <a:cs typeface="Calibri"/>
                <a:sym typeface="Calibri"/>
              </a:rPr>
              <a:t>Concentration of PP bonds by insurer and by issuer (Charts 3 and 5).</a:t>
            </a:r>
            <a:r>
              <a:rPr b="0" i="0" lang="en-US" sz="1000" u="none" cap="none" strike="noStrike">
                <a:solidFill>
                  <a:srgbClr val="222222"/>
                </a:solidFill>
                <a:latin typeface="Calibri"/>
                <a:ea typeface="Calibri"/>
                <a:cs typeface="Calibri"/>
                <a:sym typeface="Calibri"/>
              </a:rPr>
              <a:t> The insurers with the largest PP bonds relative to invested assets are the major mutual insurers and other writers of long-dated liabilities, not the private-equity-affiliated annuity writers that attract most market attention — consistent with an asset-allocation choice against long liabilities — and no single issuer is material at the industry level. </a:t>
            </a:r>
            <a:r>
              <a:rPr b="0" i="1" lang="en-US" sz="950" u="none" cap="none" strike="noStrike">
                <a:solidFill>
                  <a:srgbClr val="6B6B6B"/>
                </a:solidFill>
                <a:latin typeface="Calibri"/>
                <a:ea typeface="Calibri"/>
                <a:cs typeface="Calibri"/>
                <a:sym typeface="Calibri"/>
              </a:rPr>
              <a:t>Dashboard: PP bonds are 24% of invested assets at MassMutual and 22% at Allianz Life, New York Life Insurance &amp; Annuity and Prudential, vs 15.7% industry-wide (Chart 3); the largest issuer, Madison Capital Funding, is about $6.5bn — under 1% of PP bonds — followed by AP Grange Holdings, MM Investment Holdings and Cliffwater Corporate Lending, which are private credit vehicles themselves (Chart 5). Market: Moody's finds the ten largest insurers hold 44% of private &amp; illiquid bonds vs 24% of all fixed income (</a:t>
            </a:r>
            <a:r>
              <a:rPr b="0" i="1" lang="en-US" sz="950" u="sng" cap="none" strike="noStrike">
                <a:solidFill>
                  <a:schemeClr val="hlink"/>
                </a:solidFill>
                <a:latin typeface="Calibri"/>
                <a:ea typeface="Calibri"/>
                <a:cs typeface="Calibri"/>
                <a:sym typeface="Calibri"/>
                <a:hlinkClick r:id="rId4"/>
              </a:rPr>
              <a:t>Moody's Ratings report, via Insurance Business, Jun 2026</a:t>
            </a:r>
            <a:r>
              <a:rPr b="0" i="1" lang="en-US" sz="950" u="none" cap="none" strike="noStrike">
                <a:solidFill>
                  <a:srgbClr val="6B6B6B"/>
                </a:solidFill>
                <a:latin typeface="Calibri"/>
                <a:ea typeface="Calibri"/>
                <a:cs typeface="Calibri"/>
                <a:sym typeface="Calibri"/>
              </a:rPr>
              <a:t>); our PPN scope leaves out the Schedule BA and structured holdings in which private-equity-affiliated insurers concentrate.</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22222"/>
              </a:buClr>
              <a:buSzPts val="1000"/>
              <a:buFont typeface="Calibri"/>
              <a:buNone/>
            </a:pPr>
            <a:r>
              <a:rPr b="1" i="0" lang="en-US" sz="1000" u="none" cap="none" strike="noStrike">
                <a:solidFill>
                  <a:srgbClr val="222222"/>
                </a:solidFill>
                <a:latin typeface="Calibri"/>
                <a:ea typeface="Calibri"/>
                <a:cs typeface="Calibri"/>
                <a:sym typeface="Calibri"/>
              </a:rPr>
              <a:t>Two leading indicators — FV to BACV and Holders Count (Charts 4 and 6).</a:t>
            </a:r>
            <a:r>
              <a:rPr b="0" i="0" lang="en-US" sz="1000" u="none" cap="none" strike="noStrike">
                <a:solidFill>
                  <a:srgbClr val="222222"/>
                </a:solidFill>
                <a:latin typeface="Calibri"/>
                <a:ea typeface="Calibri"/>
                <a:cs typeface="Calibri"/>
                <a:sym typeface="Calibri"/>
              </a:rPr>
              <a:t> Neither indicator signals stress at the industry level: a fair value 4% below BACV is consistent with the rise in interest rates since issuance rather than with credit deterioration. It nonetheless represents $41bn of unrealized loss that statutory accounts do not recognize — about 7% of the insurers' capital &amp; surplus — and the small insurers whose PP bonds have a fair value of 77–83% of BACV are the cases where credit, rather than interest rates, is the likelier explanation. </a:t>
            </a:r>
            <a:r>
              <a:rPr b="0" i="1" lang="en-US" sz="950" u="none" cap="none" strike="noStrike">
                <a:solidFill>
                  <a:srgbClr val="6B6B6B"/>
                </a:solidFill>
                <a:latin typeface="Calibri"/>
                <a:ea typeface="Calibri"/>
                <a:cs typeface="Calibri"/>
                <a:sym typeface="Calibri"/>
              </a:rPr>
              <a:t>Dashboard: FV to BACV is 95.6% for all $934bn of PP bonds; the five lowest insurers, each holding under $0.3bn of PP bonds, are at 77–83% (Chart 4); 312 insurers hold PP bonds, and the most widely held issuer is held by </a:t>
            </a:r>
            <a:r>
              <a:rPr b="1" i="1" lang="en-US" sz="950" u="none" cap="none" strike="noStrike">
                <a:solidFill>
                  <a:srgbClr val="6B6B6B"/>
                </a:solidFill>
                <a:highlight>
                  <a:srgbClr val="FFF2A8"/>
                </a:highlight>
                <a:latin typeface="Calibri"/>
                <a:ea typeface="Calibri"/>
                <a:cs typeface="Calibri"/>
                <a:sym typeface="Calibri"/>
              </a:rPr>
              <a:t>N</a:t>
            </a:r>
            <a:r>
              <a:rPr b="0" i="1" lang="en-US" sz="950" u="none" cap="none" strike="noStrike">
                <a:solidFill>
                  <a:srgbClr val="6B6B6B"/>
                </a:solidFill>
                <a:latin typeface="Calibri"/>
                <a:ea typeface="Calibri"/>
                <a:cs typeface="Calibri"/>
                <a:sym typeface="Calibri"/>
              </a:rPr>
              <a:t> of them (Chart 6). Market: under a severe private credit stress scenario only two rated North American life insurers might face downgrade pressure (S&amp;P Global Ratings, Apr 2026 — </a:t>
            </a:r>
            <a:r>
              <a:rPr b="1" i="1" lang="en-US" sz="950" u="none" cap="none" strike="noStrike">
                <a:solidFill>
                  <a:srgbClr val="6B6B6B"/>
                </a:solidFill>
                <a:highlight>
                  <a:srgbClr val="FFF2A8"/>
                </a:highlight>
                <a:latin typeface="Calibri"/>
                <a:ea typeface="Calibri"/>
                <a:cs typeface="Calibri"/>
                <a:sym typeface="Calibri"/>
              </a:rPr>
              <a:t>add internal link</a:t>
            </a:r>
            <a:r>
              <a:rPr b="0" i="1" lang="en-US" sz="950" u="none" cap="none" strike="noStrike">
                <a:solidFill>
                  <a:srgbClr val="6B6B6B"/>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54" name="Google Shape;54;p5"/>
          <p:cNvSpPr txBox="1"/>
          <p:nvPr/>
        </p:nvSpPr>
        <p:spPr>
          <a:xfrm>
            <a:off x="457200" y="5760720"/>
            <a:ext cx="66751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750"/>
              <a:buFont typeface="Calibri"/>
              <a:buNone/>
            </a:pPr>
            <a:r>
              <a:rPr b="0" i="0" lang="en-US" sz="750" u="none" cap="none" strike="noStrike">
                <a:solidFill>
                  <a:srgbClr val="6B6B6B"/>
                </a:solidFill>
                <a:latin typeface="Calibri"/>
                <a:ea typeface="Calibri"/>
                <a:cs typeface="Calibri"/>
                <a:sym typeface="Calibri"/>
              </a:rPr>
              <a:t>Scope: same universe as the previous slide (PPN bonds, YE2025, statutory book value). Entity-level ratios pending affiliated-holdings validation. Fair values of private placements are largely model-based (Level 3).</a:t>
            </a:r>
            <a:endParaRPr b="0" i="0" sz="750" u="none" cap="none" strike="noStrike">
              <a:solidFill>
                <a:schemeClr val="dk1"/>
              </a:solidFill>
              <a:latin typeface="Calibri"/>
              <a:ea typeface="Calibri"/>
              <a:cs typeface="Calibri"/>
              <a:sym typeface="Calibri"/>
            </a:endParaRPr>
          </a:p>
        </p:txBody>
      </p:sp>
      <p:sp>
        <p:nvSpPr>
          <p:cNvPr id="55" name="Google Shape;55;p5"/>
          <p:cNvSpPr txBox="1"/>
          <p:nvPr/>
        </p:nvSpPr>
        <p:spPr>
          <a:xfrm>
            <a:off x="457200" y="6419088"/>
            <a:ext cx="11274552"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700"/>
              <a:buFont typeface="Calibri"/>
              <a:buNone/>
            </a:pPr>
            <a:r>
              <a:rPr b="1" i="0" lang="en-US" sz="700" u="none" cap="none" strike="noStrike">
                <a:solidFill>
                  <a:srgbClr val="6B6B6B"/>
                </a:solidFill>
                <a:latin typeface="Calibri"/>
                <a:ea typeface="Calibri"/>
                <a:cs typeface="Calibri"/>
                <a:sym typeface="Calibri"/>
              </a:rPr>
              <a:t>Sources —</a:t>
            </a:r>
            <a:r>
              <a:rPr b="0" i="0" lang="en-US" sz="700" u="none" cap="none" strike="noStrike">
                <a:solidFill>
                  <a:srgbClr val="6B6B6B"/>
                </a:solidFill>
                <a:latin typeface="Calibri"/>
                <a:ea typeface="Calibri"/>
                <a:cs typeface="Calibri"/>
                <a:sym typeface="Calibri"/>
              </a:rPr>
              <a:t> dashboard: Private Credit Market Monitor (S&amp;P Capital IQ Pro, NAIC statutory filings). External evidence is linked in brackets after each statement; the full list is on the Sources slide. </a:t>
            </a:r>
            <a:r>
              <a:rPr b="1" i="0" lang="en-US" sz="700" u="none" cap="none" strike="noStrike">
                <a:solidFill>
                  <a:srgbClr val="6B6B6B"/>
                </a:solidFill>
                <a:latin typeface="Calibri"/>
                <a:ea typeface="Calibri"/>
                <a:cs typeface="Calibri"/>
                <a:sym typeface="Calibri"/>
              </a:rPr>
              <a:t>NAIC</a:t>
            </a:r>
            <a:r>
              <a:rPr b="0" i="0" lang="en-US" sz="700" u="none" cap="none" strike="noStrike">
                <a:solidFill>
                  <a:srgbClr val="6B6B6B"/>
                </a:solidFill>
                <a:latin typeface="Calibri"/>
                <a:ea typeface="Calibri"/>
                <a:cs typeface="Calibri"/>
                <a:sym typeface="Calibri"/>
              </a:rPr>
              <a:t> = National Association of Insurance Commissioners, the body of U.S. state insurance regulators; its Securities Valuation Office assigns NAIC designations. </a:t>
            </a:r>
            <a:r>
              <a:rPr b="1" i="0" lang="en-US" sz="700" u="none" cap="none" strike="noStrike">
                <a:solidFill>
                  <a:srgbClr val="6B6B6B"/>
                </a:solidFill>
                <a:latin typeface="Calibri"/>
                <a:ea typeface="Calibri"/>
                <a:cs typeface="Calibri"/>
                <a:sym typeface="Calibri"/>
              </a:rPr>
              <a:t>Moody's</a:t>
            </a:r>
            <a:r>
              <a:rPr b="0" i="0" lang="en-US" sz="700" u="none" cap="none" strike="noStrike">
                <a:solidFill>
                  <a:srgbClr val="6B6B6B"/>
                </a:solidFill>
                <a:latin typeface="Calibri"/>
                <a:ea typeface="Calibri"/>
                <a:cs typeface="Calibri"/>
                <a:sym typeface="Calibri"/>
              </a:rPr>
              <a:t> and </a:t>
            </a:r>
            <a:r>
              <a:rPr b="1" i="0" lang="en-US" sz="700" u="none" cap="none" strike="noStrike">
                <a:solidFill>
                  <a:srgbClr val="6B6B6B"/>
                </a:solidFill>
                <a:latin typeface="Calibri"/>
                <a:ea typeface="Calibri"/>
                <a:cs typeface="Calibri"/>
                <a:sym typeface="Calibri"/>
              </a:rPr>
              <a:t>KBRA</a:t>
            </a:r>
            <a:r>
              <a:rPr b="0" i="0" lang="en-US" sz="700" u="none" cap="none" strike="noStrike">
                <a:solidFill>
                  <a:srgbClr val="6B6B6B"/>
                </a:solidFill>
                <a:latin typeface="Calibri"/>
                <a:ea typeface="Calibri"/>
                <a:cs typeface="Calibri"/>
                <a:sym typeface="Calibri"/>
              </a:rPr>
              <a:t> = credit rating agencies. </a:t>
            </a:r>
            <a:r>
              <a:rPr b="1" i="0" lang="en-US" sz="700" u="none" cap="none" strike="noStrike">
                <a:solidFill>
                  <a:srgbClr val="6B6B6B"/>
                </a:solidFill>
                <a:latin typeface="Calibri"/>
                <a:ea typeface="Calibri"/>
                <a:cs typeface="Calibri"/>
                <a:sym typeface="Calibri"/>
              </a:rPr>
              <a:t>S&amp;P Global Market Intelligence</a:t>
            </a:r>
            <a:r>
              <a:rPr b="0" i="0" lang="en-US" sz="700" u="none" cap="none" strike="noStrike">
                <a:solidFill>
                  <a:srgbClr val="6B6B6B"/>
                </a:solidFill>
                <a:latin typeface="Calibri"/>
                <a:ea typeface="Calibri"/>
                <a:cs typeface="Calibri"/>
                <a:sym typeface="Calibri"/>
              </a:rPr>
              <a:t> = S&amp;P Global's data and research division, separate from S&amp;P Global Ratings. Internal use only.</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 name="Shape 60"/>
        <p:cNvGrpSpPr/>
        <p:nvPr/>
      </p:nvGrpSpPr>
      <p:grpSpPr>
        <a:xfrm>
          <a:off x="0" y="0"/>
          <a:ext cx="0" cy="0"/>
          <a:chOff x="0" y="0"/>
          <a:chExt cx="0" cy="0"/>
        </a:xfrm>
      </p:grpSpPr>
      <p:sp>
        <p:nvSpPr>
          <p:cNvPr id="61" name="Google Shape;61;p6"/>
          <p:cNvSpPr/>
          <p:nvPr/>
        </p:nvSpPr>
        <p:spPr>
          <a:xfrm>
            <a:off x="457200" y="301752"/>
            <a:ext cx="384048" cy="384048"/>
          </a:xfrm>
          <a:prstGeom prst="ellipse">
            <a:avLst/>
          </a:prstGeom>
          <a:solidFill>
            <a:srgbClr val="1F3864"/>
          </a:solidFill>
          <a:ln cap="flat" cmpd="sng" w="12700">
            <a:solidFill>
              <a:srgbClr val="1F38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2" name="Google Shape;62;p6"/>
          <p:cNvPicPr preferRelativeResize="0"/>
          <p:nvPr/>
        </p:nvPicPr>
        <p:blipFill rotWithShape="1">
          <a:blip r:embed="rId3">
            <a:alphaModFix/>
          </a:blip>
          <a:srcRect b="0" l="0" r="0" t="0"/>
          <a:stretch/>
        </p:blipFill>
        <p:spPr>
          <a:xfrm>
            <a:off x="548640" y="393192"/>
            <a:ext cx="201168" cy="201168"/>
          </a:xfrm>
          <a:prstGeom prst="rect">
            <a:avLst/>
          </a:prstGeom>
          <a:noFill/>
          <a:ln>
            <a:noFill/>
          </a:ln>
        </p:spPr>
      </p:pic>
      <p:sp>
        <p:nvSpPr>
          <p:cNvPr id="63" name="Google Shape;63;p6"/>
          <p:cNvSpPr txBox="1"/>
          <p:nvPr/>
        </p:nvSpPr>
        <p:spPr>
          <a:xfrm>
            <a:off x="960120" y="228600"/>
            <a:ext cx="1078992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3864"/>
              </a:buClr>
              <a:buSzPts val="2100"/>
              <a:buFont typeface="Calibri"/>
              <a:buNone/>
            </a:pPr>
            <a:r>
              <a:rPr b="1" i="0" lang="en-US" sz="2100" u="none" cap="none" strike="noStrike">
                <a:solidFill>
                  <a:srgbClr val="1F3864"/>
                </a:solidFill>
                <a:latin typeface="Calibri"/>
                <a:ea typeface="Calibri"/>
                <a:cs typeface="Calibri"/>
                <a:sym typeface="Calibri"/>
              </a:rPr>
              <a:t>Sources</a:t>
            </a:r>
            <a:endParaRPr b="0" i="0" sz="2100" u="none" cap="none" strike="noStrike">
              <a:solidFill>
                <a:schemeClr val="dk1"/>
              </a:solidFill>
              <a:latin typeface="Calibri"/>
              <a:ea typeface="Calibri"/>
              <a:cs typeface="Calibri"/>
              <a:sym typeface="Calibri"/>
            </a:endParaRPr>
          </a:p>
        </p:txBody>
      </p:sp>
      <p:sp>
        <p:nvSpPr>
          <p:cNvPr id="64" name="Google Shape;64;p6"/>
          <p:cNvSpPr txBox="1"/>
          <p:nvPr/>
        </p:nvSpPr>
        <p:spPr>
          <a:xfrm>
            <a:off x="960120" y="758952"/>
            <a:ext cx="1078992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950"/>
              <a:buFont typeface="Calibri"/>
              <a:buNone/>
            </a:pPr>
            <a:r>
              <a:rPr b="0" i="0" lang="en-US" sz="950" u="none" cap="none" strike="noStrike">
                <a:solidFill>
                  <a:srgbClr val="6B6B6B"/>
                </a:solidFill>
                <a:latin typeface="Calibri"/>
                <a:ea typeface="Calibri"/>
                <a:cs typeface="Calibri"/>
                <a:sym typeface="Calibri"/>
              </a:rPr>
              <a:t>Every external statement on the sector slides, with the publication it comes from · listed in the order cited · titles are clickable links</a:t>
            </a:r>
            <a:endParaRPr b="0" i="0" sz="950" u="none" cap="none" strike="noStrike">
              <a:solidFill>
                <a:schemeClr val="dk1"/>
              </a:solidFill>
              <a:latin typeface="Calibri"/>
              <a:ea typeface="Calibri"/>
              <a:cs typeface="Calibri"/>
              <a:sym typeface="Calibri"/>
            </a:endParaRPr>
          </a:p>
        </p:txBody>
      </p:sp>
      <p:sp>
        <p:nvSpPr>
          <p:cNvPr id="65" name="Google Shape;65;p6"/>
          <p:cNvSpPr txBox="1"/>
          <p:nvPr/>
        </p:nvSpPr>
        <p:spPr>
          <a:xfrm>
            <a:off x="457200" y="1188720"/>
            <a:ext cx="5454396" cy="4937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3864"/>
              </a:buClr>
              <a:buSzPts val="1200"/>
              <a:buFont typeface="Calibri"/>
              <a:buNone/>
            </a:pPr>
            <a:r>
              <a:rPr b="1" i="0" lang="en-US" sz="1200" u="none" cap="none" strike="noStrike">
                <a:solidFill>
                  <a:srgbClr val="1F3864"/>
                </a:solidFill>
                <a:latin typeface="Calibri"/>
                <a:ea typeface="Calibri"/>
                <a:cs typeface="Calibri"/>
                <a:sym typeface="Calibri"/>
              </a:rPr>
              <a:t>Slide 1 — U.S. Banks</a:t>
            </a:r>
            <a:endParaRPr b="0" i="0" sz="12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rgbClr val="222222"/>
              </a:buClr>
              <a:buSzPts val="900"/>
              <a:buFont typeface="Calibri"/>
              <a:buNone/>
            </a:pPr>
            <a:r>
              <a:rPr b="1" i="0" lang="en-US" sz="900" u="none" cap="none" strike="noStrike">
                <a:solidFill>
                  <a:srgbClr val="222222"/>
                </a:solidFill>
                <a:latin typeface="Calibri"/>
                <a:ea typeface="Calibri"/>
                <a:cs typeface="Calibri"/>
                <a:sym typeface="Calibri"/>
              </a:rPr>
              <a:t>FDIC — </a:t>
            </a:r>
            <a:r>
              <a:rPr b="0" i="0" lang="en-US" sz="900" u="sng" cap="none" strike="noStrike">
                <a:solidFill>
                  <a:schemeClr val="hlink"/>
                </a:solidFill>
                <a:latin typeface="Calibri"/>
                <a:ea typeface="Calibri"/>
                <a:cs typeface="Calibri"/>
                <a:sym typeface="Calibri"/>
                <a:hlinkClick r:id="rId4"/>
              </a:rPr>
              <a:t>Banking Issues in Focus No. 1: Bank Lending to Nondepository Financial Institutions</a:t>
            </a:r>
            <a:r>
              <a:rPr b="0" i="0" lang="en-US" sz="900" u="none" cap="none" strike="noStrike">
                <a:solidFill>
                  <a:srgbClr val="6B6B6B"/>
                </a:solidFill>
                <a:latin typeface="Calibri"/>
                <a:ea typeface="Calibri"/>
                <a:cs typeface="Calibri"/>
                <a:sym typeface="Calibri"/>
              </a:rPr>
              <a:t> (Feb 2026) — cited for: definition of business credit intermediaries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22222"/>
              </a:buClr>
              <a:buSzPts val="900"/>
              <a:buFont typeface="Calibri"/>
              <a:buNone/>
            </a:pPr>
            <a:r>
              <a:rPr b="1" i="0" lang="en-US" sz="900" u="none" cap="none" strike="noStrike">
                <a:solidFill>
                  <a:srgbClr val="222222"/>
                </a:solidFill>
                <a:latin typeface="Calibri"/>
                <a:ea typeface="Calibri"/>
                <a:cs typeface="Calibri"/>
                <a:sym typeface="Calibri"/>
              </a:rPr>
              <a:t>Moody's Ratings — </a:t>
            </a:r>
            <a:r>
              <a:rPr b="0" i="0" lang="en-US" sz="900" u="sng" cap="none" strike="noStrike">
                <a:solidFill>
                  <a:schemeClr val="hlink"/>
                </a:solidFill>
                <a:latin typeface="Calibri"/>
                <a:ea typeface="Calibri"/>
                <a:cs typeface="Calibri"/>
                <a:sym typeface="Calibri"/>
                <a:hlinkClick r:id="rId5"/>
              </a:rPr>
              <a:t>US banks' private credit loan exposure nears $300 billion</a:t>
            </a:r>
            <a:r>
              <a:rPr b="0" i="0" lang="en-US" sz="900" u="none" cap="none" strike="noStrike">
                <a:solidFill>
                  <a:srgbClr val="6B6B6B"/>
                </a:solidFill>
                <a:latin typeface="Calibri"/>
                <a:ea typeface="Calibri"/>
                <a:cs typeface="Calibri"/>
                <a:sym typeface="Calibri"/>
              </a:rPr>
              <a:t> (Oct 2025) — cited for: ~$300bn within $1.2T of NDFI loans, June 2025</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22222"/>
              </a:buClr>
              <a:buSzPts val="900"/>
              <a:buFont typeface="Calibri"/>
              <a:buNone/>
            </a:pPr>
            <a:r>
              <a:rPr b="1" i="0" lang="en-US" sz="900" u="none" cap="none" strike="noStrike">
                <a:solidFill>
                  <a:srgbClr val="222222"/>
                </a:solidFill>
                <a:latin typeface="Calibri"/>
                <a:ea typeface="Calibri"/>
                <a:cs typeface="Calibri"/>
                <a:sym typeface="Calibri"/>
              </a:rPr>
              <a:t>OFR (U.S. Treasury) — </a:t>
            </a:r>
            <a:r>
              <a:rPr b="0" i="0" lang="en-US" sz="900" u="sng" cap="none" strike="noStrike">
                <a:solidFill>
                  <a:schemeClr val="hlink"/>
                </a:solidFill>
                <a:latin typeface="Calibri"/>
                <a:ea typeface="Calibri"/>
                <a:cs typeface="Calibri"/>
                <a:sym typeface="Calibri"/>
                <a:hlinkClick r:id="rId6"/>
              </a:rPr>
              <a:t>Brief 26-02: Measuring Counterparty Exposures to Private Credit</a:t>
            </a:r>
            <a:r>
              <a:rPr b="0" i="0" lang="en-US" sz="900" u="none" cap="none" strike="noStrike">
                <a:solidFill>
                  <a:srgbClr val="6B6B6B"/>
                </a:solidFill>
                <a:latin typeface="Calibri"/>
                <a:ea typeface="Calibri"/>
                <a:cs typeface="Calibri"/>
                <a:sym typeface="Calibri"/>
              </a:rPr>
              <a:t> (12 Mar 2026) — cited for: Figure 1, measures of banks' private credit exposure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22222"/>
              </a:buClr>
              <a:buSzPts val="900"/>
              <a:buFont typeface="Calibri"/>
              <a:buNone/>
            </a:pPr>
            <a:r>
              <a:rPr b="1" i="0" lang="en-US" sz="900" u="none" cap="none" strike="noStrike">
                <a:solidFill>
                  <a:srgbClr val="222222"/>
                </a:solidFill>
                <a:latin typeface="Calibri"/>
                <a:ea typeface="Calibri"/>
                <a:cs typeface="Calibri"/>
                <a:sym typeface="Calibri"/>
              </a:rPr>
              <a:t>State Street Corp. — </a:t>
            </a:r>
            <a:r>
              <a:rPr b="0" i="0" lang="en-US" sz="900" u="sng" cap="none" strike="noStrike">
                <a:solidFill>
                  <a:schemeClr val="hlink"/>
                </a:solidFill>
                <a:latin typeface="Calibri"/>
                <a:ea typeface="Calibri"/>
                <a:cs typeface="Calibri"/>
                <a:sym typeface="Calibri"/>
                <a:hlinkClick r:id="rId7"/>
              </a:rPr>
              <a:t>2025 Annual Report on Form 10-K</a:t>
            </a:r>
            <a:r>
              <a:rPr b="0" i="0" lang="en-US" sz="900" u="none" cap="none" strike="noStrike">
                <a:solidFill>
                  <a:srgbClr val="6B6B6B"/>
                </a:solidFill>
                <a:latin typeface="Calibri"/>
                <a:ea typeface="Calibri"/>
                <a:cs typeface="Calibri"/>
                <a:sym typeface="Calibri"/>
              </a:rPr>
              <a:t> (Feb 2026) — cited for: ~79% of $47bn loan book is fund finance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22222"/>
              </a:buClr>
              <a:buSzPts val="900"/>
              <a:buFont typeface="Calibri"/>
              <a:buNone/>
            </a:pPr>
            <a:r>
              <a:rPr b="1" i="0" lang="en-US" sz="900" u="none" cap="none" strike="noStrike">
                <a:solidFill>
                  <a:srgbClr val="222222"/>
                </a:solidFill>
                <a:latin typeface="Calibri"/>
                <a:ea typeface="Calibri"/>
                <a:cs typeface="Calibri"/>
                <a:sym typeface="Calibri"/>
              </a:rPr>
              <a:t>S&amp;P Global Market Intelligence — </a:t>
            </a:r>
            <a:r>
              <a:rPr b="0" i="0" lang="en-US" sz="900" u="sng" cap="none" strike="noStrike">
                <a:solidFill>
                  <a:schemeClr val="hlink"/>
                </a:solidFill>
                <a:latin typeface="Calibri"/>
                <a:ea typeface="Calibri"/>
                <a:cs typeface="Calibri"/>
                <a:sym typeface="Calibri"/>
                <a:hlinkClick r:id="rId8"/>
              </a:rPr>
              <a:t>US banks' NDFI lending pace reaccelerates in Q4 2025</a:t>
            </a:r>
            <a:r>
              <a:rPr b="0" i="0" lang="en-US" sz="900" u="none" cap="none" strike="noStrike">
                <a:solidFill>
                  <a:srgbClr val="6B6B6B"/>
                </a:solidFill>
                <a:latin typeface="Calibri"/>
                <a:ea typeface="Calibri"/>
                <a:cs typeface="Calibri"/>
                <a:sym typeface="Calibri"/>
              </a:rPr>
              <a:t> (26 Feb 2026) — cited for: State Street highest BC share</a:t>
            </a:r>
            <a:endParaRPr b="0" i="0" sz="1200" u="none" cap="none" strike="noStrike">
              <a:solidFill>
                <a:schemeClr val="dk1"/>
              </a:solidFill>
              <a:latin typeface="Calibri"/>
              <a:ea typeface="Calibri"/>
              <a:cs typeface="Calibri"/>
              <a:sym typeface="Calibri"/>
            </a:endParaRPr>
          </a:p>
        </p:txBody>
      </p:sp>
      <p:sp>
        <p:nvSpPr>
          <p:cNvPr id="66" name="Google Shape;66;p6"/>
          <p:cNvSpPr txBox="1"/>
          <p:nvPr/>
        </p:nvSpPr>
        <p:spPr>
          <a:xfrm>
            <a:off x="6277356" y="1188720"/>
            <a:ext cx="5454396" cy="4937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3864"/>
              </a:buClr>
              <a:buSzPts val="1200"/>
              <a:buFont typeface="Calibri"/>
              <a:buNone/>
            </a:pPr>
            <a:r>
              <a:rPr b="1" i="0" lang="en-US" sz="1200" u="none" cap="none" strike="noStrike">
                <a:solidFill>
                  <a:srgbClr val="1F3864"/>
                </a:solidFill>
                <a:latin typeface="Calibri"/>
                <a:ea typeface="Calibri"/>
                <a:cs typeface="Calibri"/>
                <a:sym typeface="Calibri"/>
              </a:rPr>
              <a:t>Slides 2–3 — U.S. Life Insurers</a:t>
            </a:r>
            <a:endParaRPr b="0" i="0" sz="12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rgbClr val="222222"/>
              </a:buClr>
              <a:buSzPts val="850"/>
              <a:buFont typeface="Calibri"/>
              <a:buNone/>
            </a:pPr>
            <a:r>
              <a:rPr b="1" i="0" lang="en-US" sz="850" u="none" cap="none" strike="noStrike">
                <a:solidFill>
                  <a:srgbClr val="222222"/>
                </a:solidFill>
                <a:latin typeface="Calibri"/>
                <a:ea typeface="Calibri"/>
                <a:cs typeface="Calibri"/>
                <a:sym typeface="Calibri"/>
              </a:rPr>
              <a:t>S&amp;P Global Market Intelligence — </a:t>
            </a:r>
            <a:r>
              <a:rPr b="0" i="0" lang="en-US" sz="850" u="sng" cap="none" strike="noStrike">
                <a:solidFill>
                  <a:schemeClr val="hlink"/>
                </a:solidFill>
                <a:latin typeface="Calibri"/>
                <a:ea typeface="Calibri"/>
                <a:cs typeface="Calibri"/>
                <a:sym typeface="Calibri"/>
                <a:hlinkClick r:id="rId9"/>
              </a:rPr>
              <a:t>Private credit exposure grows as insurers eye higher yields, diversification</a:t>
            </a:r>
            <a:r>
              <a:rPr b="0" i="0" lang="en-US" sz="850" u="none" cap="none" strike="noStrike">
                <a:solidFill>
                  <a:srgbClr val="6B6B6B"/>
                </a:solidFill>
                <a:latin typeface="Calibri"/>
                <a:ea typeface="Calibri"/>
                <a:cs typeface="Calibri"/>
                <a:sym typeface="Calibri"/>
              </a:rPr>
              <a:t> (27 May 2026) — cited for: private placement bonds 23.4% of life insurers' bonds (18.3% in 2021)</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22222"/>
              </a:buClr>
              <a:buSzPts val="850"/>
              <a:buFont typeface="Calibri"/>
              <a:buNone/>
            </a:pPr>
            <a:r>
              <a:rPr b="1" i="0" lang="en-US" sz="850" u="none" cap="none" strike="noStrike">
                <a:solidFill>
                  <a:srgbClr val="222222"/>
                </a:solidFill>
                <a:latin typeface="Calibri"/>
                <a:ea typeface="Calibri"/>
                <a:cs typeface="Calibri"/>
                <a:sym typeface="Calibri"/>
              </a:rPr>
              <a:t>NAIC Capital Markets Bureau — </a:t>
            </a:r>
            <a:r>
              <a:rPr b="0" i="0" lang="en-US" sz="850" u="sng" cap="none" strike="noStrike">
                <a:solidFill>
                  <a:schemeClr val="hlink"/>
                </a:solidFill>
                <a:latin typeface="Calibri"/>
                <a:ea typeface="Calibri"/>
                <a:cs typeface="Calibri"/>
                <a:sym typeface="Calibri"/>
                <a:hlinkClick r:id="rId10"/>
              </a:rPr>
              <a:t>U.S. Insurance Industry Cash and Invested Assets — Asset Mix at Year-End 2025</a:t>
            </a:r>
            <a:r>
              <a:rPr b="0" i="0" lang="en-US" sz="850" u="none" cap="none" strike="noStrike">
                <a:solidFill>
                  <a:srgbClr val="6B6B6B"/>
                </a:solidFill>
                <a:latin typeface="Calibri"/>
                <a:ea typeface="Calibri"/>
                <a:cs typeface="Calibri"/>
                <a:sym typeface="Calibri"/>
              </a:rPr>
              <a:t> (2026) — cited for: life insurers' total bonds $4.0T, invested assets $6.1T (denominator check)</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22222"/>
              </a:buClr>
              <a:buSzPts val="850"/>
              <a:buFont typeface="Calibri"/>
              <a:buNone/>
            </a:pPr>
            <a:r>
              <a:rPr b="1" i="0" lang="en-US" sz="850" u="none" cap="none" strike="noStrike">
                <a:solidFill>
                  <a:srgbClr val="222222"/>
                </a:solidFill>
                <a:latin typeface="Calibri"/>
                <a:ea typeface="Calibri"/>
                <a:cs typeface="Calibri"/>
                <a:sym typeface="Calibri"/>
              </a:rPr>
              <a:t>Moody's Ratings — </a:t>
            </a:r>
            <a:r>
              <a:rPr b="0" i="0" lang="en-US" sz="850" u="sng" cap="none" strike="noStrike">
                <a:solidFill>
                  <a:schemeClr val="hlink"/>
                </a:solidFill>
                <a:latin typeface="Calibri"/>
                <a:ea typeface="Calibri"/>
                <a:cs typeface="Calibri"/>
                <a:sym typeface="Calibri"/>
                <a:hlinkClick r:id="rId11"/>
              </a:rPr>
              <a:t>U.S. life insurers' private credit push (via Insurance Business)</a:t>
            </a:r>
            <a:r>
              <a:rPr b="0" i="0" lang="en-US" sz="850" u="none" cap="none" strike="noStrike">
                <a:solidFill>
                  <a:srgbClr val="6B6B6B"/>
                </a:solidFill>
                <a:latin typeface="Calibri"/>
                <a:ea typeface="Calibri"/>
                <a:cs typeface="Calibri"/>
                <a:sym typeface="Calibri"/>
              </a:rPr>
              <a:t> (8 Jun 2026) — cited for: YE2025 statutory data — $807bn private &amp; illiquid fixed income; 43% NAIC 2 / 9% below IG vs 36% / 5% for the $4T fixed income book; top-10 holders 44% vs 24%</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22222"/>
              </a:buClr>
              <a:buSzPts val="850"/>
              <a:buFont typeface="Calibri"/>
              <a:buNone/>
            </a:pPr>
            <a:r>
              <a:rPr b="1" i="0" lang="en-US" sz="850" u="none" cap="none" strike="noStrike">
                <a:solidFill>
                  <a:srgbClr val="222222"/>
                </a:solidFill>
                <a:latin typeface="Calibri"/>
                <a:ea typeface="Calibri"/>
                <a:cs typeface="Calibri"/>
                <a:sym typeface="Calibri"/>
              </a:rPr>
              <a:t>NAIC — </a:t>
            </a:r>
            <a:r>
              <a:rPr b="0" i="0" lang="en-US" sz="850" u="sng" cap="none" strike="noStrike">
                <a:solidFill>
                  <a:schemeClr val="hlink"/>
                </a:solidFill>
                <a:latin typeface="Calibri"/>
                <a:ea typeface="Calibri"/>
                <a:cs typeface="Calibri"/>
                <a:sym typeface="Calibri"/>
                <a:hlinkClick r:id="rId12"/>
              </a:rPr>
              <a:t>Spring 2026 National Meeting (22–25 Mar 2026), SVO report on private letter rating filings — summary by Sidley</a:t>
            </a:r>
            <a:r>
              <a:rPr b="0" i="0" lang="en-US" sz="850" u="none" cap="none" strike="noStrike">
                <a:solidFill>
                  <a:srgbClr val="6B6B6B"/>
                </a:solidFill>
                <a:latin typeface="Calibri"/>
                <a:ea typeface="Calibri"/>
                <a:cs typeface="Calibri"/>
                <a:sym typeface="Calibri"/>
              </a:rPr>
              <a:t> (14 Apr 2026) — cited for: PLR filings 1,961 → 12,269</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22222"/>
              </a:buClr>
              <a:buSzPts val="850"/>
              <a:buFont typeface="Calibri"/>
              <a:buNone/>
            </a:pPr>
            <a:r>
              <a:rPr b="1" i="0" lang="en-US" sz="850" u="none" cap="none" strike="noStrike">
                <a:solidFill>
                  <a:srgbClr val="222222"/>
                </a:solidFill>
                <a:latin typeface="Calibri"/>
                <a:ea typeface="Calibri"/>
                <a:cs typeface="Calibri"/>
                <a:sym typeface="Calibri"/>
              </a:rPr>
              <a:t>NAIC — </a:t>
            </a:r>
            <a:r>
              <a:rPr b="0" i="0" lang="en-US" sz="850" u="sng" cap="none" strike="noStrike">
                <a:solidFill>
                  <a:schemeClr val="hlink"/>
                </a:solidFill>
                <a:latin typeface="Calibri"/>
                <a:ea typeface="Calibri"/>
                <a:cs typeface="Calibri"/>
                <a:sym typeface="Calibri"/>
                <a:hlinkClick r:id="rId13"/>
              </a:rPr>
              <a:t>Purposes and Procedures Manual of the NAIC Investment Analysis Office (state-hosted copy)</a:t>
            </a:r>
            <a:r>
              <a:rPr b="0" i="0" lang="en-US" sz="850" u="none" cap="none" strike="noStrike">
                <a:solidFill>
                  <a:srgbClr val="6B6B6B"/>
                </a:solidFill>
                <a:latin typeface="Calibri"/>
                <a:ea typeface="Calibri"/>
                <a:cs typeface="Calibri"/>
                <a:sym typeface="Calibri"/>
              </a:rPr>
              <a:t> (current edition) — cited for: FE: designation from CRP rating, no SVO analysis; PL: insurer files the private rating letter, SVO verifies and assigns from the rating; full filing: SVO's own analysis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22222"/>
              </a:buClr>
              <a:buSzPts val="850"/>
              <a:buFont typeface="Calibri"/>
              <a:buNone/>
            </a:pPr>
            <a:r>
              <a:rPr b="1" i="0" lang="en-US" sz="850" u="none" cap="none" strike="noStrike">
                <a:solidFill>
                  <a:srgbClr val="222222"/>
                </a:solidFill>
                <a:latin typeface="Calibri"/>
                <a:ea typeface="Calibri"/>
                <a:cs typeface="Calibri"/>
                <a:sym typeface="Calibri"/>
              </a:rPr>
              <a:t>NAIC Blanks (E) Working Group — </a:t>
            </a:r>
            <a:r>
              <a:rPr b="0" i="0" lang="en-US" sz="850" u="sng" cap="none" strike="noStrike">
                <a:solidFill>
                  <a:schemeClr val="hlink"/>
                </a:solidFill>
                <a:latin typeface="Calibri"/>
                <a:ea typeface="Calibri"/>
                <a:cs typeface="Calibri"/>
                <a:sym typeface="Calibri"/>
                <a:hlinkClick r:id="rId14"/>
              </a:rPr>
              <a:t>2018-07BWG — PL and IF administrative symbols</a:t>
            </a:r>
            <a:r>
              <a:rPr b="0" i="0" lang="en-US" sz="850" u="none" cap="none" strike="noStrike">
                <a:solidFill>
                  <a:srgbClr val="6B6B6B"/>
                </a:solidFill>
                <a:latin typeface="Calibri"/>
                <a:ea typeface="Calibri"/>
                <a:cs typeface="Calibri"/>
                <a:sym typeface="Calibri"/>
              </a:rPr>
              <a:t> (2018) — cited for: private letter ratings are given under NDA and not in public data feeds; IF/YE symbols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22222"/>
              </a:buClr>
              <a:buSzPts val="850"/>
              <a:buFont typeface="Calibri"/>
              <a:buNone/>
            </a:pPr>
            <a:r>
              <a:rPr b="1" i="0" lang="en-US" sz="850" u="none" cap="none" strike="noStrike">
                <a:solidFill>
                  <a:srgbClr val="222222"/>
                </a:solidFill>
                <a:latin typeface="Calibri"/>
                <a:ea typeface="Calibri"/>
                <a:cs typeface="Calibri"/>
                <a:sym typeface="Calibri"/>
              </a:rPr>
              <a:t>NAIC Valuation of Securities (E) Task Force — </a:t>
            </a:r>
            <a:r>
              <a:rPr b="0" i="0" lang="en-US" sz="850" u="sng" cap="none" strike="noStrike">
                <a:solidFill>
                  <a:schemeClr val="hlink"/>
                </a:solidFill>
                <a:latin typeface="Calibri"/>
                <a:ea typeface="Calibri"/>
                <a:cs typeface="Calibri"/>
                <a:sym typeface="Calibri"/>
                <a:hlinkClick r:id="rId15"/>
              </a:rPr>
              <a:t>Summer 2024 National Meeting materials — SVO discretion over filing-exempt designations</a:t>
            </a:r>
            <a:r>
              <a:rPr b="0" i="0" lang="en-US" sz="850" u="none" cap="none" strike="noStrike">
                <a:solidFill>
                  <a:srgbClr val="6B6B6B"/>
                </a:solidFill>
                <a:latin typeface="Calibri"/>
                <a:ea typeface="Calibri"/>
                <a:cs typeface="Calibri"/>
                <a:sym typeface="Calibri"/>
              </a:rPr>
              <a:t> (13 Aug 2024) — cited for: "neither the SVO nor any NAIC member has the ability … to address [an anomalous rating] in a defined and methodical manner"; three-notch threshold ≈ 100% change in RBC factor</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22222"/>
              </a:buClr>
              <a:buSzPts val="850"/>
              <a:buFont typeface="Calibri"/>
              <a:buNone/>
            </a:pPr>
            <a:r>
              <a:rPr b="1" i="0" lang="en-US" sz="850" u="none" cap="none" strike="noStrike">
                <a:solidFill>
                  <a:srgbClr val="222222"/>
                </a:solidFill>
                <a:latin typeface="Calibri"/>
                <a:ea typeface="Calibri"/>
                <a:cs typeface="Calibri"/>
                <a:sym typeface="Calibri"/>
              </a:rPr>
              <a:t>NAIC — </a:t>
            </a:r>
            <a:r>
              <a:rPr b="0" i="0" lang="en-US" sz="850" u="sng" cap="none" strike="noStrike">
                <a:solidFill>
                  <a:schemeClr val="hlink"/>
                </a:solidFill>
                <a:latin typeface="Calibri"/>
                <a:ea typeface="Calibri"/>
                <a:cs typeface="Calibri"/>
                <a:sym typeface="Calibri"/>
                <a:hlinkClick r:id="rId16"/>
              </a:rPr>
              <a:t>Fall 2025 National Meeting — summary by Clifford Chance</a:t>
            </a:r>
            <a:r>
              <a:rPr b="0" i="0" lang="en-US" sz="850" u="none" cap="none" strike="noStrike">
                <a:solidFill>
                  <a:srgbClr val="6B6B6B"/>
                </a:solidFill>
                <a:latin typeface="Calibri"/>
                <a:ea typeface="Calibri"/>
                <a:cs typeface="Calibri"/>
                <a:sym typeface="Calibri"/>
              </a:rPr>
              <a:t> (Jan 2026) — cited for: Discretion Amendment: challenge CRP ratings ≥3 notches from SVO view; 1 Jan 2026 start delayed pending systems and data agreements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22222"/>
              </a:buClr>
              <a:buSzPts val="850"/>
              <a:buFont typeface="Calibri"/>
              <a:buNone/>
            </a:pPr>
            <a:r>
              <a:rPr b="1" i="0" lang="en-US" sz="850" u="none" cap="none" strike="noStrike">
                <a:solidFill>
                  <a:srgbClr val="222222"/>
                </a:solidFill>
                <a:latin typeface="Calibri"/>
                <a:ea typeface="Calibri"/>
                <a:cs typeface="Calibri"/>
                <a:sym typeface="Calibri"/>
              </a:rPr>
              <a:t>KBRA — </a:t>
            </a:r>
            <a:r>
              <a:rPr b="0" i="0" lang="en-US" sz="850" u="sng" cap="none" strike="noStrike">
                <a:solidFill>
                  <a:schemeClr val="hlink"/>
                </a:solidFill>
                <a:latin typeface="Calibri"/>
                <a:ea typeface="Calibri"/>
                <a:cs typeface="Calibri"/>
                <a:sym typeface="Calibri"/>
                <a:hlinkClick r:id="rId17"/>
              </a:rPr>
              <a:t>Private Credit: A More Balanced Review of the NAIC PLR Review Process for Insurance Balance Sheets</a:t>
            </a:r>
            <a:r>
              <a:rPr b="0" i="0" lang="en-US" sz="850" u="none" cap="none" strike="noStrike">
                <a:solidFill>
                  <a:srgbClr val="6B6B6B"/>
                </a:solidFill>
                <a:latin typeface="Calibri"/>
                <a:ea typeface="Calibri"/>
                <a:cs typeface="Calibri"/>
                <a:sym typeface="Calibri"/>
              </a:rPr>
              <a:t> (8 Jun 2026) — cited for: SVO discretion amendment delayed from Jan 2026</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22222"/>
              </a:buClr>
              <a:buSzPts val="850"/>
              <a:buFont typeface="Calibri"/>
              <a:buNone/>
            </a:pPr>
            <a:r>
              <a:rPr b="1" i="0" lang="en-US" sz="850" u="none" cap="none" strike="noStrike">
                <a:solidFill>
                  <a:srgbClr val="222222"/>
                </a:solidFill>
                <a:latin typeface="Calibri"/>
                <a:ea typeface="Calibri"/>
                <a:cs typeface="Calibri"/>
                <a:sym typeface="Calibri"/>
              </a:rPr>
              <a:t>S&amp;P Global Ratings — </a:t>
            </a:r>
            <a:r>
              <a:rPr b="0" i="0" lang="en-US" sz="850" u="none" cap="none" strike="noStrike">
                <a:solidFill>
                  <a:srgbClr val="222222"/>
                </a:solidFill>
                <a:latin typeface="Calibri"/>
                <a:ea typeface="Calibri"/>
                <a:cs typeface="Calibri"/>
                <a:sym typeface="Calibri"/>
              </a:rPr>
              <a:t>Scenario Analysis: North American Life Insurers Can Manage Private Credit Market Stress If One Occurs</a:t>
            </a:r>
            <a:r>
              <a:rPr b="1" i="0" lang="en-US" sz="850" u="none" cap="none" strike="noStrike">
                <a:solidFill>
                  <a:srgbClr val="222222"/>
                </a:solidFill>
                <a:highlight>
                  <a:srgbClr val="FFF2A8"/>
                </a:highlight>
                <a:latin typeface="Calibri"/>
                <a:ea typeface="Calibri"/>
                <a:cs typeface="Calibri"/>
                <a:sym typeface="Calibri"/>
              </a:rPr>
              <a:t>  [internal link — add before sending]</a:t>
            </a:r>
            <a:r>
              <a:rPr b="0" i="0" lang="en-US" sz="850" u="none" cap="none" strike="noStrike">
                <a:solidFill>
                  <a:srgbClr val="6B6B6B"/>
                </a:solidFill>
                <a:latin typeface="Calibri"/>
                <a:ea typeface="Calibri"/>
                <a:cs typeface="Calibri"/>
                <a:sym typeface="Calibri"/>
              </a:rPr>
              <a:t> (Apr 2026) — cited for: only two rated life insurers might face downgrade pressure under severe stress</a:t>
            </a:r>
            <a:endParaRPr b="0" i="0" sz="1200" u="none" cap="none" strike="noStrike">
              <a:solidFill>
                <a:schemeClr val="dk1"/>
              </a:solidFill>
              <a:latin typeface="Calibri"/>
              <a:ea typeface="Calibri"/>
              <a:cs typeface="Calibri"/>
              <a:sym typeface="Calibri"/>
            </a:endParaRPr>
          </a:p>
        </p:txBody>
      </p:sp>
      <p:sp>
        <p:nvSpPr>
          <p:cNvPr id="67" name="Google Shape;67;p6"/>
          <p:cNvSpPr txBox="1"/>
          <p:nvPr/>
        </p:nvSpPr>
        <p:spPr>
          <a:xfrm>
            <a:off x="457200" y="5989320"/>
            <a:ext cx="11274552"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750"/>
              <a:buFont typeface="Calibri"/>
              <a:buNone/>
            </a:pPr>
            <a:r>
              <a:rPr b="1" i="0" lang="en-US" sz="750" u="none" cap="none" strike="noStrike">
                <a:solidFill>
                  <a:srgbClr val="6B6B6B"/>
                </a:solidFill>
                <a:latin typeface="Calibri"/>
                <a:ea typeface="Calibri"/>
                <a:cs typeface="Calibri"/>
                <a:sym typeface="Calibri"/>
              </a:rPr>
              <a:t>Dashboard data —</a:t>
            </a:r>
            <a:r>
              <a:rPr b="0" i="0" lang="en-US" sz="750" u="none" cap="none" strike="noStrike">
                <a:solidFill>
                  <a:srgbClr val="6B6B6B"/>
                </a:solidFill>
                <a:latin typeface="Calibri"/>
                <a:ea typeface="Calibri"/>
                <a:cs typeface="Calibri"/>
                <a:sym typeface="Calibri"/>
              </a:rPr>
              <a:t> Private Credit Market Monitor (Power BI), built from S&amp;P Capital IQ / Capital IQ Pro extracts of the FR Y-9C (bank holding company regulatory report filed with the Federal Reserve) and of NAIC statutory annual statements, Schedule D Part 1 (bond schedule). Sources key: </a:t>
            </a:r>
            <a:r>
              <a:rPr b="1" i="0" lang="en-US" sz="750" u="none" cap="none" strike="noStrike">
                <a:solidFill>
                  <a:srgbClr val="6B6B6B"/>
                </a:solidFill>
                <a:latin typeface="Calibri"/>
                <a:ea typeface="Calibri"/>
                <a:cs typeface="Calibri"/>
                <a:sym typeface="Calibri"/>
              </a:rPr>
              <a:t>FDIC</a:t>
            </a:r>
            <a:r>
              <a:rPr b="0" i="0" lang="en-US" sz="750" u="none" cap="none" strike="noStrike">
                <a:solidFill>
                  <a:srgbClr val="6B6B6B"/>
                </a:solidFill>
                <a:latin typeface="Calibri"/>
                <a:ea typeface="Calibri"/>
                <a:cs typeface="Calibri"/>
                <a:sym typeface="Calibri"/>
              </a:rPr>
              <a:t> = Federal Deposit Insurance Corporation, the U.S. bank regulator and deposit insurer · </a:t>
            </a:r>
            <a:r>
              <a:rPr b="1" i="0" lang="en-US" sz="750" u="none" cap="none" strike="noStrike">
                <a:solidFill>
                  <a:srgbClr val="6B6B6B"/>
                </a:solidFill>
                <a:latin typeface="Calibri"/>
                <a:ea typeface="Calibri"/>
                <a:cs typeface="Calibri"/>
                <a:sym typeface="Calibri"/>
              </a:rPr>
              <a:t>Federal Reserve</a:t>
            </a:r>
            <a:r>
              <a:rPr b="0" i="0" lang="en-US" sz="750" u="none" cap="none" strike="noStrike">
                <a:solidFill>
                  <a:srgbClr val="6B6B6B"/>
                </a:solidFill>
                <a:latin typeface="Calibri"/>
                <a:ea typeface="Calibri"/>
                <a:cs typeface="Calibri"/>
                <a:sym typeface="Calibri"/>
              </a:rPr>
              <a:t> = the U.S. central bank and bank supervisor · </a:t>
            </a:r>
            <a:r>
              <a:rPr b="1" i="0" lang="en-US" sz="750" u="none" cap="none" strike="noStrike">
                <a:solidFill>
                  <a:srgbClr val="6B6B6B"/>
                </a:solidFill>
                <a:latin typeface="Calibri"/>
                <a:ea typeface="Calibri"/>
                <a:cs typeface="Calibri"/>
                <a:sym typeface="Calibri"/>
              </a:rPr>
              <a:t>OFR</a:t>
            </a:r>
            <a:r>
              <a:rPr b="0" i="0" lang="en-US" sz="750" u="none" cap="none" strike="noStrike">
                <a:solidFill>
                  <a:srgbClr val="6B6B6B"/>
                </a:solidFill>
                <a:latin typeface="Calibri"/>
                <a:ea typeface="Calibri"/>
                <a:cs typeface="Calibri"/>
                <a:sym typeface="Calibri"/>
              </a:rPr>
              <a:t> = Office of Financial Research, the U.S. Treasury's financial-stability research office · </a:t>
            </a:r>
            <a:r>
              <a:rPr b="1" i="0" lang="en-US" sz="750" u="none" cap="none" strike="noStrike">
                <a:solidFill>
                  <a:srgbClr val="6B6B6B"/>
                </a:solidFill>
                <a:latin typeface="Calibri"/>
                <a:ea typeface="Calibri"/>
                <a:cs typeface="Calibri"/>
                <a:sym typeface="Calibri"/>
              </a:rPr>
              <a:t>NAIC</a:t>
            </a:r>
            <a:r>
              <a:rPr b="0" i="0" lang="en-US" sz="750" u="none" cap="none" strike="noStrike">
                <a:solidFill>
                  <a:srgbClr val="6B6B6B"/>
                </a:solidFill>
                <a:latin typeface="Calibri"/>
                <a:ea typeface="Calibri"/>
                <a:cs typeface="Calibri"/>
                <a:sym typeface="Calibri"/>
              </a:rPr>
              <a:t> = National Association of Insurance Commissioners, the body of U.S. state insurance regulators; its Securities Valuation Office (SVO) assigns NAIC designations · </a:t>
            </a:r>
            <a:r>
              <a:rPr b="1" i="0" lang="en-US" sz="750" u="none" cap="none" strike="noStrike">
                <a:solidFill>
                  <a:srgbClr val="6B6B6B"/>
                </a:solidFill>
                <a:latin typeface="Calibri"/>
                <a:ea typeface="Calibri"/>
                <a:cs typeface="Calibri"/>
                <a:sym typeface="Calibri"/>
              </a:rPr>
              <a:t>Moody's, Fitch Ratings, KBRA</a:t>
            </a:r>
            <a:r>
              <a:rPr b="0" i="0" lang="en-US" sz="750" u="none" cap="none" strike="noStrike">
                <a:solidFill>
                  <a:srgbClr val="6B6B6B"/>
                </a:solidFill>
                <a:latin typeface="Calibri"/>
                <a:ea typeface="Calibri"/>
                <a:cs typeface="Calibri"/>
                <a:sym typeface="Calibri"/>
              </a:rPr>
              <a:t> = credit rating agencies · </a:t>
            </a:r>
            <a:r>
              <a:rPr b="1" i="0" lang="en-US" sz="750" u="none" cap="none" strike="noStrike">
                <a:solidFill>
                  <a:srgbClr val="6B6B6B"/>
                </a:solidFill>
                <a:latin typeface="Calibri"/>
                <a:ea typeface="Calibri"/>
                <a:cs typeface="Calibri"/>
                <a:sym typeface="Calibri"/>
              </a:rPr>
              <a:t>S&amp;P Global Market Intelligence</a:t>
            </a:r>
            <a:r>
              <a:rPr b="0" i="0" lang="en-US" sz="750" u="none" cap="none" strike="noStrike">
                <a:solidFill>
                  <a:srgbClr val="6B6B6B"/>
                </a:solidFill>
                <a:latin typeface="Calibri"/>
                <a:ea typeface="Calibri"/>
                <a:cs typeface="Calibri"/>
                <a:sym typeface="Calibri"/>
              </a:rPr>
              <a:t> = S&amp;P Global's data and research division, separate from S&amp;P Global Ratings. Internal use only.</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
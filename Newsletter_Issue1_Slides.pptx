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【填写提示 — 发前删掉这段】黄色高亮 = 从 dashboard 读数填入（括号里是 2026Q1 的旧数，仅参考）。左栏：刷新到 2026Q2 后读 4 张卡片 + "Change since YE2025" 表（需 2025Q4 / 2026Q2 两期，见 checklist A3）；第 3 条 bullet 的 "A- 及以上占比" 是可选条目 5，不放就删整条。右栏：先完成 guide Part 0-1/0-2 再读卡片；两张小表分别来自视觉② 和视觉①（四桶比例要用 $934bn universe 重读）；migration 那条 bullet 的三个数来自 Quarterly Monitor 页（checklist B4），Q2 列拉不到就把 2026Q2 改成 2026Q1。
Speaker notes / reference:
Banks. Regulatory filings have no private credit line item. The FR Y-9C breaks loans to non-depository financial institutions (NDFI) into five borrower types since 2024; loans to business credit intermediaries (BCI) are the closest proxy for private credit (direct lenders, BDCs, private credit funds) and the measure Moody's used; total NDFI is the upper bound. Sample: S&amp;P-rated bank holding companies that report the NDFI detail, consolidated to the parent level (subsidiaries removed) — every bank's subcategories reconcile to its reported totals. History starts at YE2025 by design; the series builds one quarter per issue. Industry context: FDIC 2026 Risk Review — NDFI loans $1.4T at YE2025, 5.6% of industry assets, 86% at banks above $100bn, 66% at the ten largest; past-due/non-accrual 0.15% vs 1.39% for C&amp;I. FDIC QBP Q2 2026 — NDFI loans +$279bn (+22.4% YoY) vs total loans +6.8%.
Insurers. Universe: U.S. life/fraternal insurers' private placement bonds on NAIC Schedule D Part 1 as of YE2025, identified by Private Placement Number (PPN); universe and snapshot at the same date (no survivorship bias). Excludes 144A securities by construction, Schedule BA (funds, direct-lending vehicles) and Schedule B mortgage loans. Exposure metric = book/adjusted carrying value (BACV); denominators (net admitted cash &amp; invested assets; capital &amp; surplus) statutory basis, same date. Rating channel: PL = private letter rating (issued privately by an NRSRO, filed with the SVO; not published); No symbol = designation assigned by SVO full review; FE = filing exempt (issuer has a public rating; still a private placement, not 144A); Other = transitional administrative statuses. NAIC Spring 2026 meeting: SVO PL rating filings rose from 1,961 (2022) to 12,269 (2025), +526%; SVO warned of resource strain. Moody's (June 2026), wider scope ($807bn private &amp; illiquid fixed income incl. Schedule BA): 43% NAIC 2 and 9% below IG vs 36% / 5% for the total bond portfolio. Migration: rows = YE2025 bucket, columns = latest quarter; off-diagonal = designation change; blank latest designation = disposed.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【填写提示 — 发前删掉这段】左半页是你的部分，外部数据都已核对，只有第 5 条的 S&amp;P 内网链接要补（[[internal link]]）。右半页是同事的位置，虚线框直接删掉替换。如果版面要再省，先砍第 4 条（Moody's/S&amp;P MI 的增长数据，dashboard 页已有 baseline），再砍第 3 条的 CLO 半句。
Links (paste into the email body or keep here):
Federal Reserve Financial Stability Report, May 2026 — https://www.federalreserve.gov/publications/files/financial-stability-report-20260508.pdf
Federal Reserve Senior Loan Officer Opinion Survey, July 2026 — https://www.federalreserve.gov/data/sloos/sloos-202607.htm
FDIC 2026 Risk Review — https://www.fdic.gov/analysis/2026-risk-review-full.pdf
FDIC Banking Issues in Focus: Bank Lending to NDFIs (Feb 2026) — https://www.fdic.gov/analysis/bank-lending-nondepository-financial-institutions.pdf
FSB Report on Vulnerabilities in Private Credit (6 May 2026) — https://www.fsb.org/2026/05/report-on-vulnerabilities-in-private-credit/
OFR Brief 26-02, Measuring Counterparty Exposures to Private Credit (Mar 2026) — https://www.financialresearch.gov/briefs/files/OFRBrief-26-02-measuring-counterparty-exposures-private-credit.pdf
BIS Bulletin 128, AI disruption in private credit (Jul 2026) — https://www.bis.org/publ/bisbull128.htm
NAIC Private Credit topic page — https://content.naic.org/insurance-topics/private-credit
NAIC Spring 2026 National Meeting summary (Sidley) — https://datamatters.sidley.com/2026/04/14/regulatory-update-national-association-of-insurance-commissioners-spring-2026-national-meeting/
KBRA, NAIC PLR Review Process (8 Jun 2026) — https://www.kbra.com/publications/NqqwYmxw
Fitch U.S. private credit default rate Q2 2026 (via Investment Executive, 30 Jul 2026) — https://www.investmentexecutive.com/news/research-and-markets/u-s-private-credit-defaults-rise-fitch-3/
Moody's on U.S. life insurers' private credit (Insurance Business, 8 Jun 2026) — https://www.insurancebusinessmag.com/us/news/life-insurance/us-life-insurers-private-credit-push-is-creating-liquidity-and-concentration-risks-moodys-warns-578168.aspx
S&amp;P Global MI, Private credit exposure grows as insurers eye higher yields (27 May 2026) — https://www.spglobal.com/market-intelligence/en/news-insights/articles/2026/5/private-credit-exposure-grows-as-insurers-eye-higher-yields-diversification-101850154
S&amp;P Global Ratings, Scenario Analysis: North American Life Insurers Can Manage Private Credit Market Stress If One Occurs (Apr 2026) — [internal link]
S&amp;P Global Ratings, Insurance In Focus webinar (19 May 2026) — https://www.spglobal.com/ratings/en/events/webinars/insurance-in-focus-webinar-19may2026
S&amp;P Global Ratings Private Credit research hub — https://www.spglobal.com/ratings/en/research/private-markets/private-credit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457200"/>
          </a:xfrm>
          <a:prstGeom prst="rect">
            <a:avLst/>
          </a:prstGeom>
          <a:noFill/>
          <a:ln/>
        </p:spPr>
        <p:txBody>
          <a:bodyPr wrap="square" lIns="0" tIns="0" rIns="0" bIns="0" rtlCol="0" anchor="ctr"/>
          <a:lstStyle/>
          <a:p>
            <a:pPr indent="0" marL="0">
              <a:buNone/>
            </a:pPr>
            <a:r>
              <a:rPr lang="en-US" sz="2200" b="1" dirty="0">
                <a:solidFill>
                  <a:srgbClr val="1F3864"/>
                </a:solidFill>
                <a:latin typeface="Calibri" pitchFamily="34" charset="0"/>
                <a:ea typeface="Calibri" pitchFamily="34" charset="-122"/>
                <a:cs typeface="Calibri" pitchFamily="34" charset="-120"/>
              </a:rPr>
              <a:t>Private credit exposure at a glance — U.S. Banks and U.S. Life Insurers</a:t>
            </a:r>
            <a:endParaRPr lang="en-US" sz="2200" dirty="0"/>
          </a:p>
        </p:txBody>
      </p:sp>
      <p:sp>
        <p:nvSpPr>
          <p:cNvPr id="3" name="Text 1"/>
          <p:cNvSpPr txBox="1"/>
          <p:nvPr/>
        </p:nvSpPr>
        <p:spPr>
          <a:xfrm>
            <a:off x="457200" y="731520"/>
            <a:ext cx="11247120" cy="274320"/>
          </a:xfrm>
          <a:prstGeom prst="rect">
            <a:avLst/>
          </a:prstGeom>
          <a:noFill/>
          <a:ln/>
        </p:spPr>
        <p:txBody>
          <a:bodyPr wrap="square" lIns="0" tIns="0" rIns="0" bIns="0" rtlCol="0" anchor="ctr"/>
          <a:lstStyle/>
          <a:p>
            <a:pPr indent="0" marL="0">
              <a:buNone/>
            </a:pPr>
            <a:r>
              <a:rPr lang="en-US" sz="950" dirty="0">
                <a:solidFill>
                  <a:srgbClr val="6B6B6B"/>
                </a:solidFill>
                <a:latin typeface="Calibri" pitchFamily="34" charset="0"/>
                <a:ea typeface="Calibri" pitchFamily="34" charset="-122"/>
                <a:cs typeface="Calibri" pitchFamily="34" charset="-120"/>
              </a:rPr>
              <a:t>Private Credit Market Monitor · Quarterly Update, Issue 1 · Banks: FR Y-9C </a:t>
            </a:r>
            <a:pPr indent="0" marL="0">
              <a:buNone/>
            </a:pPr>
            <a:r>
              <a:rPr lang="en-US" sz="950" b="1" dirty="0">
                <a:solidFill>
                  <a:srgbClr val="6B6B6B"/>
                </a:solidFill>
                <a:highlight>
                  <a:srgbClr val="FFF2A8"/>
                </a:highlight>
                <a:latin typeface="Calibri" pitchFamily="34" charset="0"/>
                <a:ea typeface="Calibri" pitchFamily="34" charset="-122"/>
                <a:cs typeface="Calibri" pitchFamily="34" charset="-120"/>
              </a:rPr>
              <a:t>Q2 2026</a:t>
            </a:r>
            <a:pPr indent="0" marL="0">
              <a:buNone/>
            </a:pPr>
            <a:r>
              <a:rPr lang="en-US" sz="950" dirty="0">
                <a:solidFill>
                  <a:srgbClr val="6B6B6B"/>
                </a:solidFill>
                <a:latin typeface="Calibri" pitchFamily="34" charset="0"/>
                <a:ea typeface="Calibri" pitchFamily="34" charset="-122"/>
                <a:cs typeface="Calibri" pitchFamily="34" charset="-120"/>
              </a:rPr>
              <a:t>, S&amp;P-rated bank holding companies, parent-consolidated · Insurers: NAIC Schedule D Part 1 as of YE2025, U.S. life/fraternal, designation migration through </a:t>
            </a:r>
            <a:pPr indent="0" marL="0">
              <a:buNone/>
            </a:pPr>
            <a:r>
              <a:rPr lang="en-US" sz="950" b="1" dirty="0">
                <a:solidFill>
                  <a:srgbClr val="6B6B6B"/>
                </a:solidFill>
                <a:highlight>
                  <a:srgbClr val="FFF2A8"/>
                </a:highlight>
                <a:latin typeface="Calibri" pitchFamily="34" charset="0"/>
                <a:ea typeface="Calibri" pitchFamily="34" charset="-122"/>
                <a:cs typeface="Calibri" pitchFamily="34" charset="-120"/>
              </a:rPr>
              <a:t>2026Q2</a:t>
            </a:r>
            <a:endParaRPr lang="en-US" sz="950" dirty="0"/>
          </a:p>
        </p:txBody>
      </p:sp>
      <p:sp>
        <p:nvSpPr>
          <p:cNvPr id="4" name="Shape 2"/>
          <p:cNvSpPr/>
          <p:nvPr/>
        </p:nvSpPr>
        <p:spPr>
          <a:xfrm>
            <a:off x="457200" y="1188720"/>
            <a:ext cx="329184" cy="329184"/>
          </a:xfrm>
          <a:prstGeom prst="ellipse">
            <a:avLst/>
          </a:prstGeom>
          <a:solidFill>
            <a:srgbClr val="1F3864"/>
          </a:solidFill>
          <a:ln w="12700">
            <a:solidFill>
              <a:srgbClr val="1F3864"/>
            </a:solidFill>
            <a:prstDash val="solid"/>
          </a:ln>
        </p:spPr>
      </p:sp>
      <p:pic>
        <p:nvPicPr>
          <p:cNvPr id="5" name="Image 0" descr="preencoded.png">    </p:cNvPr>
          <p:cNvPicPr>
            <a:picLocks noChangeAspect="1"/>
          </p:cNvPicPr>
          <p:nvPr/>
        </p:nvPicPr>
        <p:blipFill>
          <a:blip r:embed="rId1"/>
          <a:stretch>
            <a:fillRect/>
          </a:stretch>
        </p:blipFill>
        <p:spPr>
          <a:xfrm>
            <a:off x="534924" y="1266444"/>
            <a:ext cx="173736" cy="173736"/>
          </a:xfrm>
          <a:prstGeom prst="rect">
            <a:avLst/>
          </a:prstGeom>
        </p:spPr>
      </p:pic>
      <p:sp>
        <p:nvSpPr>
          <p:cNvPr id="6" name="Text 3"/>
          <p:cNvSpPr txBox="1"/>
          <p:nvPr/>
        </p:nvSpPr>
        <p:spPr>
          <a:xfrm>
            <a:off x="877824" y="1170432"/>
            <a:ext cx="5065776" cy="365760"/>
          </a:xfrm>
          <a:prstGeom prst="rect">
            <a:avLst/>
          </a:prstGeom>
          <a:noFill/>
          <a:ln/>
        </p:spPr>
        <p:txBody>
          <a:bodyPr wrap="square" lIns="0" tIns="0" rIns="0" bIns="0" rtlCol="0" anchor="ctr"/>
          <a:lstStyle/>
          <a:p>
            <a:pPr indent="0" marL="0">
              <a:buNone/>
            </a:pPr>
            <a:r>
              <a:rPr lang="en-US" sz="1350" b="1" dirty="0">
                <a:solidFill>
                  <a:srgbClr val="1F3864"/>
                </a:solidFill>
                <a:latin typeface="Calibri" pitchFamily="34" charset="0"/>
                <a:ea typeface="Calibri" pitchFamily="34" charset="-122"/>
                <a:cs typeface="Calibri" pitchFamily="34" charset="-120"/>
              </a:rPr>
              <a:t>U.S. Banks — lending to non-depository financial institutions (NDFI)</a:t>
            </a:r>
            <a:endParaRPr lang="en-US" sz="1350" dirty="0"/>
          </a:p>
        </p:txBody>
      </p:sp>
      <p:sp>
        <p:nvSpPr>
          <p:cNvPr id="7" name="Shape 4"/>
          <p:cNvSpPr/>
          <p:nvPr/>
        </p:nvSpPr>
        <p:spPr>
          <a:xfrm>
            <a:off x="457200" y="1691640"/>
            <a:ext cx="1289304" cy="868680"/>
          </a:xfrm>
          <a:prstGeom prst="roundRect">
            <a:avLst>
              <a:gd name="adj" fmla="val 6316"/>
            </a:avLst>
          </a:prstGeom>
          <a:solidFill>
            <a:srgbClr val="EAF1FB"/>
          </a:solidFill>
          <a:ln w="12700">
            <a:solidFill>
              <a:srgbClr val="EAF1FB"/>
            </a:solidFill>
            <a:prstDash val="solid"/>
          </a:ln>
        </p:spPr>
      </p:sp>
      <p:sp>
        <p:nvSpPr>
          <p:cNvPr id="8" name="Text 5"/>
          <p:cNvSpPr txBox="1"/>
          <p:nvPr/>
        </p:nvSpPr>
        <p:spPr>
          <a:xfrm>
            <a:off x="457200"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latin typeface="Calibri" pitchFamily="34" charset="0"/>
                <a:ea typeface="Calibri" pitchFamily="34" charset="-122"/>
                <a:cs typeface="Calibri" pitchFamily="34" charset="-120"/>
              </a:rPr>
              <a:t>$</a:t>
            </a:r>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1.53</a:t>
            </a:r>
            <a:pPr algn="ctr" indent="0" marL="0">
              <a:buNone/>
            </a:pPr>
            <a:r>
              <a:rPr lang="en-US" sz="1800" b="1" dirty="0">
                <a:solidFill>
                  <a:srgbClr val="1F3864"/>
                </a:solidFill>
                <a:latin typeface="Calibri" pitchFamily="34" charset="0"/>
                <a:ea typeface="Calibri" pitchFamily="34" charset="-122"/>
                <a:cs typeface="Calibri" pitchFamily="34" charset="-120"/>
              </a:rPr>
              <a:t>T</a:t>
            </a:r>
            <a:endParaRPr lang="en-US" sz="1800" dirty="0"/>
          </a:p>
        </p:txBody>
      </p:sp>
      <p:sp>
        <p:nvSpPr>
          <p:cNvPr id="9" name="Text 6"/>
          <p:cNvSpPr txBox="1"/>
          <p:nvPr/>
        </p:nvSpPr>
        <p:spPr>
          <a:xfrm>
            <a:off x="502920"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Loans to NDFI</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(upper bound)</a:t>
            </a:r>
            <a:endParaRPr lang="en-US" sz="850" dirty="0"/>
          </a:p>
        </p:txBody>
      </p:sp>
      <p:sp>
        <p:nvSpPr>
          <p:cNvPr id="10" name="Shape 7"/>
          <p:cNvSpPr/>
          <p:nvPr/>
        </p:nvSpPr>
        <p:spPr>
          <a:xfrm>
            <a:off x="1856232" y="1691640"/>
            <a:ext cx="1289304" cy="868680"/>
          </a:xfrm>
          <a:prstGeom prst="roundRect">
            <a:avLst>
              <a:gd name="adj" fmla="val 6316"/>
            </a:avLst>
          </a:prstGeom>
          <a:solidFill>
            <a:srgbClr val="EAF1FB"/>
          </a:solidFill>
          <a:ln w="12700">
            <a:solidFill>
              <a:srgbClr val="EAF1FB"/>
            </a:solidFill>
            <a:prstDash val="solid"/>
          </a:ln>
        </p:spPr>
      </p:sp>
      <p:sp>
        <p:nvSpPr>
          <p:cNvPr id="11" name="Text 8"/>
          <p:cNvSpPr txBox="1"/>
          <p:nvPr/>
        </p:nvSpPr>
        <p:spPr>
          <a:xfrm>
            <a:off x="1856232"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15</a:t>
            </a:r>
            <a:pPr algn="ctr" indent="0" marL="0">
              <a:buNone/>
            </a:pPr>
            <a:r>
              <a:rPr lang="en-US" sz="1800" b="1" dirty="0">
                <a:solidFill>
                  <a:srgbClr val="1F3864"/>
                </a:solidFill>
                <a:latin typeface="Calibri" pitchFamily="34" charset="0"/>
                <a:ea typeface="Calibri" pitchFamily="34" charset="-122"/>
                <a:cs typeface="Calibri" pitchFamily="34" charset="-120"/>
              </a:rPr>
              <a:t>%</a:t>
            </a:r>
            <a:endParaRPr lang="en-US" sz="1800" dirty="0"/>
          </a:p>
        </p:txBody>
      </p:sp>
      <p:sp>
        <p:nvSpPr>
          <p:cNvPr id="12" name="Text 9"/>
          <p:cNvSpPr txBox="1"/>
          <p:nvPr/>
        </p:nvSpPr>
        <p:spPr>
          <a:xfrm>
            <a:off x="1901952"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NDFI loans as % of</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total loans</a:t>
            </a:r>
            <a:endParaRPr lang="en-US" sz="850" dirty="0"/>
          </a:p>
        </p:txBody>
      </p:sp>
      <p:sp>
        <p:nvSpPr>
          <p:cNvPr id="13" name="Shape 10"/>
          <p:cNvSpPr/>
          <p:nvPr/>
        </p:nvSpPr>
        <p:spPr>
          <a:xfrm>
            <a:off x="3255264" y="1691640"/>
            <a:ext cx="1289304" cy="868680"/>
          </a:xfrm>
          <a:prstGeom prst="roundRect">
            <a:avLst>
              <a:gd name="adj" fmla="val 6316"/>
            </a:avLst>
          </a:prstGeom>
          <a:solidFill>
            <a:srgbClr val="EAF1FB"/>
          </a:solidFill>
          <a:ln w="12700">
            <a:solidFill>
              <a:srgbClr val="EAF1FB"/>
            </a:solidFill>
            <a:prstDash val="solid"/>
          </a:ln>
        </p:spPr>
      </p:sp>
      <p:sp>
        <p:nvSpPr>
          <p:cNvPr id="14" name="Text 11"/>
          <p:cNvSpPr txBox="1"/>
          <p:nvPr/>
        </p:nvSpPr>
        <p:spPr>
          <a:xfrm>
            <a:off x="3255264"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latin typeface="Calibri" pitchFamily="34" charset="0"/>
                <a:ea typeface="Calibri" pitchFamily="34" charset="-122"/>
                <a:cs typeface="Calibri" pitchFamily="34" charset="-120"/>
              </a:rPr>
              <a:t>$</a:t>
            </a:r>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411</a:t>
            </a:r>
            <a:pPr algn="ctr" indent="0" marL="0">
              <a:buNone/>
            </a:pPr>
            <a:r>
              <a:rPr lang="en-US" sz="1800" b="1" dirty="0">
                <a:solidFill>
                  <a:srgbClr val="1F3864"/>
                </a:solidFill>
                <a:latin typeface="Calibri" pitchFamily="34" charset="0"/>
                <a:ea typeface="Calibri" pitchFamily="34" charset="-122"/>
                <a:cs typeface="Calibri" pitchFamily="34" charset="-120"/>
              </a:rPr>
              <a:t>bn</a:t>
            </a:r>
            <a:endParaRPr lang="en-US" sz="1800" dirty="0"/>
          </a:p>
        </p:txBody>
      </p:sp>
      <p:sp>
        <p:nvSpPr>
          <p:cNvPr id="15" name="Text 12"/>
          <p:cNvSpPr txBox="1"/>
          <p:nvPr/>
        </p:nvSpPr>
        <p:spPr>
          <a:xfrm>
            <a:off x="3300984"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Loans to business credit</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intermediaries (core proxy)</a:t>
            </a:r>
            <a:endParaRPr lang="en-US" sz="850" dirty="0"/>
          </a:p>
        </p:txBody>
      </p:sp>
      <p:sp>
        <p:nvSpPr>
          <p:cNvPr id="16" name="Shape 13"/>
          <p:cNvSpPr/>
          <p:nvPr/>
        </p:nvSpPr>
        <p:spPr>
          <a:xfrm>
            <a:off x="4654296" y="1691640"/>
            <a:ext cx="1289304" cy="868680"/>
          </a:xfrm>
          <a:prstGeom prst="roundRect">
            <a:avLst>
              <a:gd name="adj" fmla="val 6316"/>
            </a:avLst>
          </a:prstGeom>
          <a:solidFill>
            <a:srgbClr val="EAF1FB"/>
          </a:solidFill>
          <a:ln w="12700">
            <a:solidFill>
              <a:srgbClr val="EAF1FB"/>
            </a:solidFill>
            <a:prstDash val="solid"/>
          </a:ln>
        </p:spPr>
      </p:sp>
      <p:sp>
        <p:nvSpPr>
          <p:cNvPr id="17" name="Text 14"/>
          <p:cNvSpPr txBox="1"/>
          <p:nvPr/>
        </p:nvSpPr>
        <p:spPr>
          <a:xfrm>
            <a:off x="4654296"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49</a:t>
            </a:r>
            <a:endParaRPr lang="en-US" sz="1800" dirty="0"/>
          </a:p>
        </p:txBody>
      </p:sp>
      <p:sp>
        <p:nvSpPr>
          <p:cNvPr id="18" name="Text 15"/>
          <p:cNvSpPr txBox="1"/>
          <p:nvPr/>
        </p:nvSpPr>
        <p:spPr>
          <a:xfrm>
            <a:off x="4700016"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S&amp;P-rated bank holding</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companies in sample</a:t>
            </a:r>
            <a:endParaRPr lang="en-US" sz="850" dirty="0"/>
          </a:p>
        </p:txBody>
      </p:sp>
      <p:sp>
        <p:nvSpPr>
          <p:cNvPr id="19" name="Text 16"/>
          <p:cNvSpPr txBox="1"/>
          <p:nvPr/>
        </p:nvSpPr>
        <p:spPr>
          <a:xfrm>
            <a:off x="457200" y="2697480"/>
            <a:ext cx="5486400" cy="228600"/>
          </a:xfrm>
          <a:prstGeom prst="rect">
            <a:avLst/>
          </a:prstGeom>
          <a:noFill/>
          <a:ln/>
        </p:spPr>
        <p:txBody>
          <a:bodyPr wrap="square" lIns="0" tIns="0" rIns="0" bIns="0" rtlCol="0" anchor="ctr"/>
          <a:lstStyle/>
          <a:p>
            <a:pPr indent="0" marL="0">
              <a:buNone/>
            </a:pPr>
            <a:r>
              <a:rPr lang="en-US" sz="850" b="1" spc="100" kern="0" dirty="0">
                <a:solidFill>
                  <a:srgbClr val="6B6B6B"/>
                </a:solidFill>
                <a:latin typeface="Calibri" pitchFamily="34" charset="0"/>
                <a:ea typeface="Calibri" pitchFamily="34" charset="-122"/>
                <a:cs typeface="Calibri" pitchFamily="34" charset="-120"/>
              </a:rPr>
              <a:t>CHANGE SINCE YEAR-END 2025 · CONSTANT SAMPLE OF </a:t>
            </a:r>
            <a:pPr indent="0" marL="0">
              <a:buNone/>
            </a:pPr>
            <a:r>
              <a:rPr lang="en-US" sz="850" b="1" spc="100" kern="0" dirty="0">
                <a:solidFill>
                  <a:srgbClr val="6B6B6B"/>
                </a:solidFill>
                <a:highlight>
                  <a:srgbClr val="FFF2A8"/>
                </a:highlight>
                <a:latin typeface="Calibri" pitchFamily="34" charset="0"/>
                <a:ea typeface="Calibri" pitchFamily="34" charset="-122"/>
                <a:cs typeface="Calibri" pitchFamily="34" charset="-120"/>
              </a:rPr>
              <a:t>49</a:t>
            </a:r>
            <a:pPr indent="0" marL="0">
              <a:buNone/>
            </a:pPr>
            <a:r>
              <a:rPr lang="en-US" sz="850" b="1" spc="100" kern="0" dirty="0">
                <a:solidFill>
                  <a:srgbClr val="6B6B6B"/>
                </a:solidFill>
                <a:latin typeface="Calibri" pitchFamily="34" charset="0"/>
                <a:ea typeface="Calibri" pitchFamily="34" charset="-122"/>
                <a:cs typeface="Calibri" pitchFamily="34" charset="-120"/>
              </a:rPr>
              <a:t> BANKS</a:t>
            </a:r>
            <a:endParaRPr lang="en-US" sz="8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944368"/>
          <a:ext cx="5486400" cy="914400"/>
        </p:xfrm>
        <a:graphic>
          <a:graphicData uri="http://schemas.openxmlformats.org/drawingml/2006/table">
            <a:tbl>
              <a:tblPr/>
              <a:tblGrid>
                <a:gridCol w="2194560"/>
                <a:gridCol w="822960"/>
                <a:gridCol w="822960"/>
                <a:gridCol w="822960"/>
                <a:gridCol w="822960"/>
              </a:tblGrid>
              <a:tr h="246888">
                <a:tc>
                  <a:txBody>
                    <a:bodyPr/>
                    <a:lstStyle/>
                    <a:p>
                      <a:endParaRPr/>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2025Q4</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2026Q1</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1F1F1F"/>
                          </a:solidFill>
                          <a:highlight>
                            <a:srgbClr val="FFF2A8"/>
                          </a:highlight>
                          <a:latin typeface="Calibri" pitchFamily="34" charset="0"/>
                          <a:ea typeface="Calibri" pitchFamily="34" charset="-122"/>
                          <a:cs typeface="Calibri" pitchFamily="34" charset="-120"/>
                        </a:rPr>
                        <a:t>2026Q2</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Δ since YE2025</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r>
              <a:tr h="246888">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Loans to NDFI ($T)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1.53</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NDFI % of total loans</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15.3</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 pp</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r>
              <a:tr h="246888">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Loans to business credit intermed. ($bn)</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411</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XXX</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bl>
          </a:graphicData>
        </a:graphic>
      </p:graphicFrame>
      <p:sp>
        <p:nvSpPr>
          <p:cNvPr id="21" name="Text 17"/>
          <p:cNvSpPr txBox="1"/>
          <p:nvPr/>
        </p:nvSpPr>
        <p:spPr>
          <a:xfrm>
            <a:off x="457200" y="4160520"/>
            <a:ext cx="5486400" cy="17373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Regulatory filings have no “private credit” line: we use Y-9C loans to </a:t>
            </a:r>
            <a:pPr indent="0" marL="0">
              <a:buNone/>
            </a:pPr>
            <a:r>
              <a:rPr lang="en-US" sz="1050" b="1" dirty="0">
                <a:solidFill>
                  <a:srgbClr val="222222"/>
                </a:solidFill>
                <a:latin typeface="Calibri" pitchFamily="34" charset="0"/>
                <a:ea typeface="Calibri" pitchFamily="34" charset="-122"/>
                <a:cs typeface="Calibri" pitchFamily="34" charset="-120"/>
              </a:rPr>
              <a:t>business credit intermediaries</a:t>
            </a:r>
            <a:pPr indent="0" marL="0">
              <a:buNone/>
            </a:pPr>
            <a:r>
              <a:rPr lang="en-US" sz="1050" dirty="0">
                <a:solidFill>
                  <a:srgbClr val="222222"/>
                </a:solidFill>
                <a:latin typeface="Calibri" pitchFamily="34" charset="0"/>
                <a:ea typeface="Calibri" pitchFamily="34" charset="-122"/>
                <a:cs typeface="Calibri" pitchFamily="34" charset="-120"/>
              </a:rPr>
              <a:t> (direct lenders, BDCs, private credit funds) as the core proxy and total NDFI loans as the upper bound — a range, not a point estimate.</a:t>
            </a:r>
            <a:endParaRPr lang="en-US" sz="1050" dirty="0"/>
          </a:p>
          <a:p>
            <a:pPr marL="152400" indent="-1524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NDFI lending is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15</a:t>
            </a:r>
            <a:pPr indent="0" marL="0">
              <a:buNone/>
            </a:pPr>
            <a:r>
              <a:rPr lang="en-US" sz="1050" dirty="0">
                <a:solidFill>
                  <a:srgbClr val="222222"/>
                </a:solidFill>
                <a:latin typeface="Calibri" pitchFamily="34" charset="0"/>
                <a:ea typeface="Calibri" pitchFamily="34" charset="-122"/>
                <a:cs typeface="Calibri" pitchFamily="34" charset="-120"/>
              </a:rPr>
              <a:t>% of the rated banks' loan book, in line with FDIC data (15.6% for banks above $250bn at YE2025, up from 1.2% in 2010). Since year-end 2025 it grew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 against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 for total loans; industry-wide the FDIC reports +22.4% YoY in Q2 2026 vs +6.8%.</a:t>
            </a:r>
            <a:endParaRPr lang="en-US" sz="1050" dirty="0"/>
          </a:p>
          <a:p>
            <a:pPr marL="152400" indent="-152400">
              <a:buSzPct val="100000"/>
              <a:buChar char="•"/>
            </a:pPr>
            <a:r>
              <a:rPr lang="en-US" sz="1050" dirty="0">
                <a:solidFill>
                  <a:srgbClr val="222222"/>
                </a:solidFill>
                <a:latin typeface="Calibri" pitchFamily="34" charset="0"/>
                <a:ea typeface="Calibri" pitchFamily="34" charset="-122"/>
                <a:cs typeface="Calibri" pitchFamily="34" charset="-120"/>
              </a:rPr>
              <a:t>A large-bank, investment-grade business: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 of NDFI loans sit with banks rated A- or higher; the ten largest U.S. banks hold 66% of the industry total (FDIC).</a:t>
            </a:r>
            <a:endParaRPr lang="en-US" sz="1050" dirty="0"/>
          </a:p>
        </p:txBody>
      </p:sp>
      <p:sp>
        <p:nvSpPr>
          <p:cNvPr id="22" name="Text 18"/>
          <p:cNvSpPr txBox="1"/>
          <p:nvPr/>
        </p:nvSpPr>
        <p:spPr>
          <a:xfrm>
            <a:off x="457200" y="5989320"/>
            <a:ext cx="5486400" cy="548640"/>
          </a:xfrm>
          <a:prstGeom prst="rect">
            <a:avLst/>
          </a:prstGeom>
          <a:noFill/>
          <a:ln/>
        </p:spPr>
        <p:txBody>
          <a:bodyPr wrap="square" lIns="0" tIns="0" rIns="0" bIns="0" rtlCol="0" anchor="t"/>
          <a:lstStyle/>
          <a:p>
            <a:pPr indent="0" marL="0">
              <a:buNone/>
            </a:pPr>
            <a:r>
              <a:rPr lang="en-US" sz="750" dirty="0">
                <a:solidFill>
                  <a:srgbClr val="6B6B6B"/>
                </a:solidFill>
                <a:latin typeface="Calibri" pitchFamily="34" charset="0"/>
                <a:ea typeface="Calibri" pitchFamily="34" charset="-122"/>
                <a:cs typeface="Calibri" pitchFamily="34" charset="-120"/>
              </a:rPr>
              <a:t>Scope: S&amp;P-rated U.S. bank holding companies reporting the NDFI detail, subsidiaries removed to avoid double counting. Y-9C reports drawn balances only (undrawn commitments not captured). NDFI categories: mortgage, business credit, private equity funds, consumer credit, other intermediaries.</a:t>
            </a:r>
            <a:endParaRPr lang="en-US" sz="750" dirty="0"/>
          </a:p>
        </p:txBody>
      </p:sp>
      <p:sp>
        <p:nvSpPr>
          <p:cNvPr id="23" name="Shape 19"/>
          <p:cNvSpPr/>
          <p:nvPr/>
        </p:nvSpPr>
        <p:spPr>
          <a:xfrm>
            <a:off x="6245352" y="1188720"/>
            <a:ext cx="329184" cy="329184"/>
          </a:xfrm>
          <a:prstGeom prst="ellipse">
            <a:avLst/>
          </a:prstGeom>
          <a:solidFill>
            <a:srgbClr val="1F3864"/>
          </a:solidFill>
          <a:ln w="12700">
            <a:solidFill>
              <a:srgbClr val="1F3864"/>
            </a:solidFill>
            <a:prstDash val="solid"/>
          </a:ln>
        </p:spPr>
      </p:sp>
      <p:pic>
        <p:nvPicPr>
          <p:cNvPr id="24" name="Image 1" descr="preencoded.png">    </p:cNvPr>
          <p:cNvPicPr>
            <a:picLocks noChangeAspect="1"/>
          </p:cNvPicPr>
          <p:nvPr/>
        </p:nvPicPr>
        <p:blipFill>
          <a:blip r:embed="rId2"/>
          <a:stretch>
            <a:fillRect/>
          </a:stretch>
        </p:blipFill>
        <p:spPr>
          <a:xfrm>
            <a:off x="6323076" y="1266444"/>
            <a:ext cx="173736" cy="173736"/>
          </a:xfrm>
          <a:prstGeom prst="rect">
            <a:avLst/>
          </a:prstGeom>
        </p:spPr>
      </p:pic>
      <p:sp>
        <p:nvSpPr>
          <p:cNvPr id="25" name="Text 20"/>
          <p:cNvSpPr txBox="1"/>
          <p:nvPr/>
        </p:nvSpPr>
        <p:spPr>
          <a:xfrm>
            <a:off x="6665976" y="1170432"/>
            <a:ext cx="5065776" cy="365760"/>
          </a:xfrm>
          <a:prstGeom prst="rect">
            <a:avLst/>
          </a:prstGeom>
          <a:noFill/>
          <a:ln/>
        </p:spPr>
        <p:txBody>
          <a:bodyPr wrap="square" lIns="0" tIns="0" rIns="0" bIns="0" rtlCol="0" anchor="ctr"/>
          <a:lstStyle/>
          <a:p>
            <a:pPr indent="0" marL="0">
              <a:buNone/>
            </a:pPr>
            <a:r>
              <a:rPr lang="en-US" sz="1350" b="1" dirty="0">
                <a:solidFill>
                  <a:srgbClr val="1F3864"/>
                </a:solidFill>
                <a:latin typeface="Calibri" pitchFamily="34" charset="0"/>
                <a:ea typeface="Calibri" pitchFamily="34" charset="-122"/>
                <a:cs typeface="Calibri" pitchFamily="34" charset="-120"/>
              </a:rPr>
              <a:t>U.S. Life Insurers — private placement (PP) bond holdings</a:t>
            </a:r>
            <a:endParaRPr lang="en-US" sz="1350" dirty="0"/>
          </a:p>
        </p:txBody>
      </p:sp>
      <p:sp>
        <p:nvSpPr>
          <p:cNvPr id="26" name="Shape 21"/>
          <p:cNvSpPr/>
          <p:nvPr/>
        </p:nvSpPr>
        <p:spPr>
          <a:xfrm>
            <a:off x="6245352" y="1691640"/>
            <a:ext cx="1289304" cy="868680"/>
          </a:xfrm>
          <a:prstGeom prst="roundRect">
            <a:avLst>
              <a:gd name="adj" fmla="val 6316"/>
            </a:avLst>
          </a:prstGeom>
          <a:solidFill>
            <a:srgbClr val="EAF1FB"/>
          </a:solidFill>
          <a:ln w="12700">
            <a:solidFill>
              <a:srgbClr val="EAF1FB"/>
            </a:solidFill>
            <a:prstDash val="solid"/>
          </a:ln>
        </p:spPr>
      </p:sp>
      <p:sp>
        <p:nvSpPr>
          <p:cNvPr id="27" name="Text 22"/>
          <p:cNvSpPr txBox="1"/>
          <p:nvPr/>
        </p:nvSpPr>
        <p:spPr>
          <a:xfrm>
            <a:off x="6245352"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latin typeface="Calibri" pitchFamily="34" charset="0"/>
                <a:ea typeface="Calibri" pitchFamily="34" charset="-122"/>
                <a:cs typeface="Calibri" pitchFamily="34" charset="-120"/>
              </a:rPr>
              <a:t>$</a:t>
            </a:r>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934</a:t>
            </a:r>
            <a:pPr algn="ctr" indent="0" marL="0">
              <a:buNone/>
            </a:pPr>
            <a:r>
              <a:rPr lang="en-US" sz="1800" b="1" dirty="0">
                <a:solidFill>
                  <a:srgbClr val="1F3864"/>
                </a:solidFill>
                <a:latin typeface="Calibri" pitchFamily="34" charset="0"/>
                <a:ea typeface="Calibri" pitchFamily="34" charset="-122"/>
                <a:cs typeface="Calibri" pitchFamily="34" charset="-120"/>
              </a:rPr>
              <a:t>bn</a:t>
            </a:r>
            <a:endParaRPr lang="en-US" sz="1800" dirty="0"/>
          </a:p>
        </p:txBody>
      </p:sp>
      <p:sp>
        <p:nvSpPr>
          <p:cNvPr id="28" name="Text 23"/>
          <p:cNvSpPr txBox="1"/>
          <p:nvPr/>
        </p:nvSpPr>
        <p:spPr>
          <a:xfrm>
            <a:off x="6291072"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PP bond BACV</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(Sched D Pt 1), YE2025</a:t>
            </a:r>
            <a:endParaRPr lang="en-US" sz="850" dirty="0"/>
          </a:p>
        </p:txBody>
      </p:sp>
      <p:sp>
        <p:nvSpPr>
          <p:cNvPr id="29" name="Shape 24"/>
          <p:cNvSpPr/>
          <p:nvPr/>
        </p:nvSpPr>
        <p:spPr>
          <a:xfrm>
            <a:off x="7644384" y="1691640"/>
            <a:ext cx="1289304" cy="868680"/>
          </a:xfrm>
          <a:prstGeom prst="roundRect">
            <a:avLst>
              <a:gd name="adj" fmla="val 6316"/>
            </a:avLst>
          </a:prstGeom>
          <a:solidFill>
            <a:srgbClr val="EAF1FB"/>
          </a:solidFill>
          <a:ln w="12700">
            <a:solidFill>
              <a:srgbClr val="EAF1FB"/>
            </a:solidFill>
            <a:prstDash val="solid"/>
          </a:ln>
        </p:spPr>
      </p:sp>
      <p:sp>
        <p:nvSpPr>
          <p:cNvPr id="30" name="Text 25"/>
          <p:cNvSpPr txBox="1"/>
          <p:nvPr/>
        </p:nvSpPr>
        <p:spPr>
          <a:xfrm>
            <a:off x="7644384"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15</a:t>
            </a:r>
            <a:pPr algn="ctr" indent="0" marL="0">
              <a:buNone/>
            </a:pPr>
            <a:r>
              <a:rPr lang="en-US" sz="1800" b="1" dirty="0">
                <a:solidFill>
                  <a:srgbClr val="1F3864"/>
                </a:solidFill>
                <a:latin typeface="Calibri" pitchFamily="34" charset="0"/>
                <a:ea typeface="Calibri" pitchFamily="34" charset="-122"/>
                <a:cs typeface="Calibri" pitchFamily="34" charset="-120"/>
              </a:rPr>
              <a:t>%</a:t>
            </a:r>
            <a:endParaRPr lang="en-US" sz="1800" dirty="0"/>
          </a:p>
        </p:txBody>
      </p:sp>
      <p:sp>
        <p:nvSpPr>
          <p:cNvPr id="31" name="Text 26"/>
          <p:cNvSpPr txBox="1"/>
          <p:nvPr/>
        </p:nvSpPr>
        <p:spPr>
          <a:xfrm>
            <a:off x="7690104"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of net admitted cash</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&amp; invested assets</a:t>
            </a:r>
            <a:endParaRPr lang="en-US" sz="850" dirty="0"/>
          </a:p>
        </p:txBody>
      </p:sp>
      <p:sp>
        <p:nvSpPr>
          <p:cNvPr id="32" name="Shape 27"/>
          <p:cNvSpPr/>
          <p:nvPr/>
        </p:nvSpPr>
        <p:spPr>
          <a:xfrm>
            <a:off x="9043416" y="1691640"/>
            <a:ext cx="1289304" cy="868680"/>
          </a:xfrm>
          <a:prstGeom prst="roundRect">
            <a:avLst>
              <a:gd name="adj" fmla="val 6316"/>
            </a:avLst>
          </a:prstGeom>
          <a:solidFill>
            <a:srgbClr val="EAF1FB"/>
          </a:solidFill>
          <a:ln w="12700">
            <a:solidFill>
              <a:srgbClr val="EAF1FB"/>
            </a:solidFill>
            <a:prstDash val="solid"/>
          </a:ln>
        </p:spPr>
      </p:sp>
      <p:sp>
        <p:nvSpPr>
          <p:cNvPr id="33" name="Text 28"/>
          <p:cNvSpPr txBox="1"/>
          <p:nvPr/>
        </p:nvSpPr>
        <p:spPr>
          <a:xfrm>
            <a:off x="9043416"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2.0</a:t>
            </a:r>
            <a:pPr algn="ctr" indent="0" marL="0">
              <a:buNone/>
            </a:pPr>
            <a:r>
              <a:rPr lang="en-US" sz="1800" b="1" dirty="0">
                <a:solidFill>
                  <a:srgbClr val="1F3864"/>
                </a:solidFill>
                <a:latin typeface="Calibri" pitchFamily="34" charset="0"/>
                <a:ea typeface="Calibri" pitchFamily="34" charset="-122"/>
                <a:cs typeface="Calibri" pitchFamily="34" charset="-120"/>
              </a:rPr>
              <a:t>x</a:t>
            </a:r>
            <a:endParaRPr lang="en-US" sz="1800" dirty="0"/>
          </a:p>
        </p:txBody>
      </p:sp>
      <p:sp>
        <p:nvSpPr>
          <p:cNvPr id="34" name="Text 29"/>
          <p:cNvSpPr txBox="1"/>
          <p:nvPr/>
        </p:nvSpPr>
        <p:spPr>
          <a:xfrm>
            <a:off x="9089136"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PP as a multiple of</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capital &amp; surplus</a:t>
            </a:r>
            <a:endParaRPr lang="en-US" sz="850" dirty="0"/>
          </a:p>
        </p:txBody>
      </p:sp>
      <p:sp>
        <p:nvSpPr>
          <p:cNvPr id="35" name="Shape 30"/>
          <p:cNvSpPr/>
          <p:nvPr/>
        </p:nvSpPr>
        <p:spPr>
          <a:xfrm>
            <a:off x="10442448" y="1691640"/>
            <a:ext cx="1289304" cy="868680"/>
          </a:xfrm>
          <a:prstGeom prst="roundRect">
            <a:avLst>
              <a:gd name="adj" fmla="val 6316"/>
            </a:avLst>
          </a:prstGeom>
          <a:solidFill>
            <a:srgbClr val="EAF1FB"/>
          </a:solidFill>
          <a:ln w="12700">
            <a:solidFill>
              <a:srgbClr val="EAF1FB"/>
            </a:solidFill>
            <a:prstDash val="solid"/>
          </a:ln>
        </p:spPr>
      </p:sp>
      <p:sp>
        <p:nvSpPr>
          <p:cNvPr id="36" name="Text 31"/>
          <p:cNvSpPr txBox="1"/>
          <p:nvPr/>
        </p:nvSpPr>
        <p:spPr>
          <a:xfrm>
            <a:off x="10442448" y="1764792"/>
            <a:ext cx="1289304" cy="384048"/>
          </a:xfrm>
          <a:prstGeom prst="rect">
            <a:avLst/>
          </a:prstGeom>
          <a:noFill/>
          <a:ln/>
        </p:spPr>
        <p:txBody>
          <a:bodyPr wrap="square" lIns="0" tIns="0" rIns="0" bIns="0" rtlCol="0" anchor="ctr"/>
          <a:lstStyle/>
          <a:p>
            <a:pPr algn="ctr" indent="0" marL="0">
              <a:buNone/>
            </a:pPr>
            <a:r>
              <a:rPr lang="en-US" sz="1800" b="1" dirty="0">
                <a:solidFill>
                  <a:srgbClr val="1F3864"/>
                </a:solidFill>
                <a:highlight>
                  <a:srgbClr val="FFF2A8"/>
                </a:highlight>
                <a:latin typeface="Calibri" pitchFamily="34" charset="0"/>
                <a:ea typeface="Calibri" pitchFamily="34" charset="-122"/>
                <a:cs typeface="Calibri" pitchFamily="34" charset="-120"/>
              </a:rPr>
              <a:t>41.7</a:t>
            </a:r>
            <a:pPr algn="ctr" indent="0" marL="0">
              <a:buNone/>
            </a:pPr>
            <a:r>
              <a:rPr lang="en-US" sz="1800" b="1" dirty="0">
                <a:solidFill>
                  <a:srgbClr val="1F3864"/>
                </a:solidFill>
                <a:latin typeface="Calibri" pitchFamily="34" charset="0"/>
                <a:ea typeface="Calibri" pitchFamily="34" charset="-122"/>
                <a:cs typeface="Calibri" pitchFamily="34" charset="-120"/>
              </a:rPr>
              <a:t>%</a:t>
            </a:r>
            <a:endParaRPr lang="en-US" sz="1800" dirty="0"/>
          </a:p>
        </p:txBody>
      </p:sp>
      <p:sp>
        <p:nvSpPr>
          <p:cNvPr id="37" name="Text 32"/>
          <p:cNvSpPr txBox="1"/>
          <p:nvPr/>
        </p:nvSpPr>
        <p:spPr>
          <a:xfrm>
            <a:off x="10488168" y="2148840"/>
            <a:ext cx="1197864" cy="365760"/>
          </a:xfrm>
          <a:prstGeom prst="rect">
            <a:avLst/>
          </a:prstGeom>
          <a:noFill/>
          <a:ln/>
        </p:spPr>
        <p:txBody>
          <a:bodyPr wrap="square" lIns="0" tIns="0" rIns="0" bIns="0" rtlCol="0" anchor="t"/>
          <a:lstStyle/>
          <a:p>
            <a:pPr algn="ctr" indent="0" marL="0">
              <a:buNone/>
            </a:pPr>
            <a:r>
              <a:rPr lang="en-US" sz="850" dirty="0">
                <a:solidFill>
                  <a:srgbClr val="6B6B6B"/>
                </a:solidFill>
                <a:latin typeface="Calibri" pitchFamily="34" charset="0"/>
                <a:ea typeface="Calibri" pitchFamily="34" charset="-122"/>
                <a:cs typeface="Calibri" pitchFamily="34" charset="-120"/>
              </a:rPr>
              <a:t>of PP carries a private</a:t>
            </a:r>
            <a:endParaRPr lang="en-US" sz="850" dirty="0"/>
          </a:p>
          <a:p>
            <a:pPr algn="ctr" indent="0" marL="0">
              <a:buNone/>
            </a:pPr>
            <a:r>
              <a:rPr lang="en-US" sz="850" dirty="0">
                <a:solidFill>
                  <a:srgbClr val="6B6B6B"/>
                </a:solidFill>
                <a:latin typeface="Calibri" pitchFamily="34" charset="0"/>
                <a:ea typeface="Calibri" pitchFamily="34" charset="-122"/>
                <a:cs typeface="Calibri" pitchFamily="34" charset="-120"/>
              </a:rPr>
              <a:t>letter (PL) rating</a:t>
            </a:r>
            <a:endParaRPr lang="en-US" sz="850" dirty="0"/>
          </a:p>
        </p:txBody>
      </p:sp>
      <p:sp>
        <p:nvSpPr>
          <p:cNvPr id="38" name="Text 33"/>
          <p:cNvSpPr txBox="1"/>
          <p:nvPr/>
        </p:nvSpPr>
        <p:spPr>
          <a:xfrm>
            <a:off x="6245352" y="2697480"/>
            <a:ext cx="2651760" cy="228600"/>
          </a:xfrm>
          <a:prstGeom prst="rect">
            <a:avLst/>
          </a:prstGeom>
          <a:noFill/>
          <a:ln/>
        </p:spPr>
        <p:txBody>
          <a:bodyPr wrap="square" lIns="0" tIns="0" rIns="0" bIns="0" rtlCol="0" anchor="ctr"/>
          <a:lstStyle/>
          <a:p>
            <a:pPr indent="0" marL="0">
              <a:buNone/>
            </a:pPr>
            <a:r>
              <a:rPr lang="en-US" sz="850" b="1" spc="100" kern="0" dirty="0">
                <a:solidFill>
                  <a:srgbClr val="6B6B6B"/>
                </a:solidFill>
                <a:latin typeface="Calibri" pitchFamily="34" charset="0"/>
                <a:ea typeface="Calibri" pitchFamily="34" charset="-122"/>
                <a:cs typeface="Calibri" pitchFamily="34" charset="-120"/>
              </a:rPr>
              <a:t>BY RATING CHANNEL (SVO SYMBOL)</a:t>
            </a:r>
            <a:endParaRPr lang="en-US" sz="850" dirty="0"/>
          </a:p>
        </p:txBody>
      </p:sp>
      <p:sp>
        <p:nvSpPr>
          <p:cNvPr id="39" name="Text 34"/>
          <p:cNvSpPr txBox="1"/>
          <p:nvPr/>
        </p:nvSpPr>
        <p:spPr>
          <a:xfrm>
            <a:off x="9079992" y="2697480"/>
            <a:ext cx="2651760" cy="228600"/>
          </a:xfrm>
          <a:prstGeom prst="rect">
            <a:avLst/>
          </a:prstGeom>
          <a:noFill/>
          <a:ln/>
        </p:spPr>
        <p:txBody>
          <a:bodyPr wrap="square" lIns="0" tIns="0" rIns="0" bIns="0" rtlCol="0" anchor="ctr"/>
          <a:lstStyle/>
          <a:p>
            <a:pPr indent="0" marL="0">
              <a:buNone/>
            </a:pPr>
            <a:r>
              <a:rPr lang="en-US" sz="850" b="1" spc="100" kern="0" dirty="0">
                <a:solidFill>
                  <a:srgbClr val="6B6B6B"/>
                </a:solidFill>
                <a:latin typeface="Calibri" pitchFamily="34" charset="0"/>
                <a:ea typeface="Calibri" pitchFamily="34" charset="-122"/>
                <a:cs typeface="Calibri" pitchFamily="34" charset="-120"/>
              </a:rPr>
              <a:t>BY NAIC DESIGNATION</a:t>
            </a:r>
            <a:endParaRPr lang="en-US" sz="85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6245352" y="2944368"/>
          <a:ext cx="2651760" cy="914400"/>
        </p:xfrm>
        <a:graphic>
          <a:graphicData uri="http://schemas.openxmlformats.org/drawingml/2006/table">
            <a:tbl>
              <a:tblPr/>
              <a:tblGrid>
                <a:gridCol w="1920240"/>
                <a:gridCol w="731520"/>
              </a:tblGrid>
              <a:tr h="219456">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Channel</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 of PP</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PL — private letter rating</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41.7</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No symbol — SVO full review</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FE — issuer publicly rated</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Other administrative</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r>
            </a:tbl>
          </a:graphicData>
        </a:graphic>
      </p:graphicFrame>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9079992" y="2944368"/>
          <a:ext cx="2651760" cy="914400"/>
        </p:xfrm>
        <a:graphic>
          <a:graphicData uri="http://schemas.openxmlformats.org/drawingml/2006/table">
            <a:tbl>
              <a:tblPr/>
              <a:tblGrid>
                <a:gridCol w="1920240"/>
                <a:gridCol w="731520"/>
              </a:tblGrid>
              <a:tr h="219456">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Designation (≈ rating)</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 of PP</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1F3864"/>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NAIC 1 (AAA–A)</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NAIC 2 (BBB)</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NAIC 3–6 (below IG)</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6.1</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Not designated</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c>
                  <a:txBody>
                    <a:bodyPr/>
                    <a:lstStyle/>
                    <a:p>
                      <a:pPr algn="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X</a:t>
                      </a:r>
                      <a:pPr algn="r" indent="0" marL="0">
                        <a:buNone/>
                      </a:pPr>
                      <a:r>
                        <a:rPr lang="en-US" sz="900" dirty="0">
                          <a:solidFill>
                            <a:srgbClr val="222222"/>
                          </a:solidFill>
                          <a:latin typeface="Calibri" pitchFamily="34" charset="0"/>
                          <a:ea typeface="Calibri" pitchFamily="34" charset="-122"/>
                          <a:cs typeface="Calibri" pitchFamily="34" charset="-120"/>
                        </a:rPr>
                        <a:t>%</a:t>
                      </a:r>
                      <a:endParaRPr lang="en-US" sz="1200" dirty="0"/>
                    </a:p>
                  </a:txBody>
                  <a:tcPr marL="36576" marR="36576" marT="36576" marB="36576" anchor="ctr">
                    <a:lnL w="6350" cap="flat" cmpd="sng" algn="ctr">
                      <a:solidFill>
                        <a:srgbClr val="C9D3E3"/>
                      </a:solidFill>
                      <a:prstDash val="solid"/>
                      <a:round/>
                      <a:headEnd type="none" w="med" len="med"/>
                      <a:tailEnd type="none" w="med" len="med"/>
                    </a:lnL>
                    <a:lnR w="6350" cap="flat" cmpd="sng" algn="ctr">
                      <a:solidFill>
                        <a:srgbClr val="C9D3E3"/>
                      </a:solidFill>
                      <a:prstDash val="solid"/>
                      <a:round/>
                      <a:headEnd type="none" w="med" len="med"/>
                      <a:tailEnd type="none" w="med" len="med"/>
                    </a:lnR>
                    <a:lnT w="6350" cap="flat" cmpd="sng" algn="ctr">
                      <a:solidFill>
                        <a:srgbClr val="C9D3E3"/>
                      </a:solidFill>
                      <a:prstDash val="solid"/>
                      <a:round/>
                      <a:headEnd type="none" w="med" len="med"/>
                      <a:tailEnd type="none" w="med" len="med"/>
                    </a:lnT>
                    <a:lnB w="6350" cap="flat" cmpd="sng" algn="ctr">
                      <a:solidFill>
                        <a:srgbClr val="C9D3E3"/>
                      </a:solidFill>
                      <a:prstDash val="solid"/>
                      <a:round/>
                      <a:headEnd type="none" w="med" len="med"/>
                      <a:tailEnd type="none" w="med" len="med"/>
                    </a:lnB>
                    <a:solidFill>
                      <a:srgbClr val="F4F7FB"/>
                    </a:solidFill>
                  </a:tcPr>
                </a:tc>
              </a:tr>
            </a:tbl>
          </a:graphicData>
        </a:graphic>
      </p:graphicFrame>
      <p:sp>
        <p:nvSpPr>
          <p:cNvPr id="42" name="Text 35"/>
          <p:cNvSpPr txBox="1"/>
          <p:nvPr/>
        </p:nvSpPr>
        <p:spPr>
          <a:xfrm>
            <a:off x="6245352" y="4160520"/>
            <a:ext cx="5486400" cy="1737360"/>
          </a:xfrm>
          <a:prstGeom prst="rect">
            <a:avLst/>
          </a:prstGeom>
          <a:noFill/>
          <a:ln/>
        </p:spPr>
        <p:txBody>
          <a:bodyPr wrap="square" lIns="0" tIns="0" rIns="0" bIns="0" rtlCol="0" anchor="t"/>
          <a:lstStyle/>
          <a:p>
            <a:pPr marL="152400" indent="-152400">
              <a:spcAft>
                <a:spcPts val="500"/>
              </a:spcAft>
              <a:buSzPct val="100000"/>
              <a:buChar char="•"/>
            </a:pPr>
            <a:r>
              <a:rPr lang="en-US" sz="1050" b="1" dirty="0">
                <a:solidFill>
                  <a:srgbClr val="222222"/>
                </a:solidFill>
                <a:latin typeface="Calibri" pitchFamily="34" charset="0"/>
                <a:ea typeface="Calibri" pitchFamily="34" charset="-122"/>
                <a:cs typeface="Calibri" pitchFamily="34" charset="-120"/>
              </a:rPr>
              <a:t>Transparency, not just quality, is the lens:</a:t>
            </a:r>
            <a:pPr indent="0" marL="0">
              <a:buNone/>
            </a:pPr>
            <a:r>
              <a:rPr lang="en-US" sz="1050" dirty="0">
                <a:solidFill>
                  <a:srgbClr val="222222"/>
                </a:solidFill>
                <a:latin typeface="Calibri" pitchFamily="34" charset="0"/>
                <a:ea typeface="Calibri" pitchFamily="34" charset="-122"/>
                <a:cs typeface="Calibri" pitchFamily="34" charset="-120"/>
              </a:rPr>
              <a:t>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42</a:t>
            </a:r>
            <a:pPr indent="0" marL="0">
              <a:buNone/>
            </a:pPr>
            <a:r>
              <a:rPr lang="en-US" sz="1050" dirty="0">
                <a:solidFill>
                  <a:srgbClr val="222222"/>
                </a:solidFill>
                <a:latin typeface="Calibri" pitchFamily="34" charset="0"/>
                <a:ea typeface="Calibri" pitchFamily="34" charset="-122"/>
                <a:cs typeface="Calibri" pitchFamily="34" charset="-120"/>
              </a:rPr>
              <a:t>% of PP holdings rely on ratings that are never published. The NAIC's SVO saw PL rating filings rise 526% between 2022 and 2025 and warns it may not complete them all by year-end.</a:t>
            </a:r>
            <a:endParaRPr lang="en-US" sz="1050" dirty="0"/>
          </a:p>
          <a:p>
            <a:pPr marL="152400" indent="-1524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Credit quality skews to the lower end of investment grade: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 NAIC 2 and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6.1</a:t>
            </a:r>
            <a:pPr indent="0" marL="0">
              <a:buNone/>
            </a:pPr>
            <a:r>
              <a:rPr lang="en-US" sz="1050" dirty="0">
                <a:solidFill>
                  <a:srgbClr val="222222"/>
                </a:solidFill>
                <a:latin typeface="Calibri" pitchFamily="34" charset="0"/>
                <a:ea typeface="Calibri" pitchFamily="34" charset="-122"/>
                <a:cs typeface="Calibri" pitchFamily="34" charset="-120"/>
              </a:rPr>
              <a:t>% below investment grade (Moody's, on a wider $807bn scope: 43% and 9%).</a:t>
            </a:r>
            <a:endParaRPr lang="en-US" sz="1050" dirty="0"/>
          </a:p>
          <a:p>
            <a:pPr marL="152400" indent="-152400">
              <a:buSzPct val="100000"/>
              <a:buChar char="•"/>
            </a:pPr>
            <a:r>
              <a:rPr lang="en-US" sz="1050" b="1" dirty="0">
                <a:solidFill>
                  <a:srgbClr val="222222"/>
                </a:solidFill>
                <a:latin typeface="Calibri" pitchFamily="34" charset="0"/>
                <a:ea typeface="Calibri" pitchFamily="34" charset="-122"/>
                <a:cs typeface="Calibri" pitchFamily="34" charset="-120"/>
              </a:rPr>
              <a:t>Migration since YE2025:</a:t>
            </a:r>
            <a:pPr indent="0" marL="0">
              <a:buNone/>
            </a:pPr>
            <a:r>
              <a:rPr lang="en-US" sz="1050" dirty="0">
                <a:solidFill>
                  <a:srgbClr val="222222"/>
                </a:solidFill>
                <a:latin typeface="Calibri" pitchFamily="34" charset="0"/>
                <a:ea typeface="Calibri" pitchFamily="34" charset="-122"/>
                <a:cs typeface="Calibri" pitchFamily="34" charset="-120"/>
              </a:rPr>
              <a:t>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bn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 of PP) moved to a weaker NAIC bucket and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X.X</a:t>
            </a:r>
            <a:pPr indent="0" marL="0">
              <a:buNone/>
            </a:pPr>
            <a:r>
              <a:rPr lang="en-US" sz="1050" dirty="0">
                <a:solidFill>
                  <a:srgbClr val="222222"/>
                </a:solidFill>
                <a:latin typeface="Calibri" pitchFamily="34" charset="0"/>
                <a:ea typeface="Calibri" pitchFamily="34" charset="-122"/>
                <a:cs typeface="Calibri" pitchFamily="34" charset="-120"/>
              </a:rPr>
              <a:t>bn was disposed through </a:t>
            </a:r>
            <a:pPr indent="0" marL="0">
              <a:buNone/>
            </a:pPr>
            <a:r>
              <a:rPr lang="en-US" sz="1050" b="1" dirty="0">
                <a:solidFill>
                  <a:srgbClr val="222222"/>
                </a:solidFill>
                <a:highlight>
                  <a:srgbClr val="FFF2A8"/>
                </a:highlight>
                <a:latin typeface="Calibri" pitchFamily="34" charset="0"/>
                <a:ea typeface="Calibri" pitchFamily="34" charset="-122"/>
                <a:cs typeface="Calibri" pitchFamily="34" charset="-120"/>
              </a:rPr>
              <a:t>2026Q2</a:t>
            </a:r>
            <a:pPr indent="0" marL="0">
              <a:buNone/>
            </a:pPr>
            <a:r>
              <a:rPr lang="en-US" sz="1050" dirty="0">
                <a:solidFill>
                  <a:srgbClr val="222222"/>
                </a:solidFill>
                <a:latin typeface="Calibri" pitchFamily="34" charset="0"/>
                <a:ea typeface="Calibri" pitchFamily="34" charset="-122"/>
                <a:cs typeface="Calibri" pitchFamily="34" charset="-120"/>
              </a:rPr>
              <a:t> — an early read; most PL ratings refresh at year-end. Full matrix on the dashboard.</a:t>
            </a:r>
            <a:endParaRPr lang="en-US" sz="1050" dirty="0"/>
          </a:p>
        </p:txBody>
      </p:sp>
      <p:sp>
        <p:nvSpPr>
          <p:cNvPr id="43" name="Text 36"/>
          <p:cNvSpPr txBox="1"/>
          <p:nvPr/>
        </p:nvSpPr>
        <p:spPr>
          <a:xfrm>
            <a:off x="6245352" y="5989320"/>
            <a:ext cx="5486400" cy="548640"/>
          </a:xfrm>
          <a:prstGeom prst="rect">
            <a:avLst/>
          </a:prstGeom>
          <a:noFill/>
          <a:ln/>
        </p:spPr>
        <p:txBody>
          <a:bodyPr wrap="square" lIns="0" tIns="0" rIns="0" bIns="0" rtlCol="0" anchor="t"/>
          <a:lstStyle/>
          <a:p>
            <a:pPr indent="0" marL="0">
              <a:buNone/>
            </a:pPr>
            <a:r>
              <a:rPr lang="en-US" sz="750" dirty="0">
                <a:solidFill>
                  <a:srgbClr val="6B6B6B"/>
                </a:solidFill>
                <a:latin typeface="Calibri" pitchFamily="34" charset="0"/>
                <a:ea typeface="Calibri" pitchFamily="34" charset="-122"/>
                <a:cs typeface="Calibri" pitchFamily="34" charset="-120"/>
              </a:rPr>
              <a:t>Scope: PPN-identified private placement bonds on NAIC Schedule D Part 1, statutory carrying value (BACV). Excludes 144A, Schedule BA (funds, direct lending) and Schedule B mortgage loans — a defined subset of private credit, not the whole. Denominators statutory, same date.</a:t>
            </a:r>
            <a:endParaRPr lang="en-US" sz="750" dirty="0"/>
          </a:p>
        </p:txBody>
      </p:sp>
      <p:sp>
        <p:nvSpPr>
          <p:cNvPr id="44" name="Text 37"/>
          <p:cNvSpPr txBox="1"/>
          <p:nvPr/>
        </p:nvSpPr>
        <p:spPr>
          <a:xfrm>
            <a:off x="457200" y="6492240"/>
            <a:ext cx="11247120" cy="228600"/>
          </a:xfrm>
          <a:prstGeom prst="rect">
            <a:avLst/>
          </a:prstGeom>
          <a:noFill/>
          <a:ln/>
        </p:spPr>
        <p:txBody>
          <a:bodyPr wrap="square" lIns="0" tIns="0" rIns="0" bIns="0" rtlCol="0" anchor="ctr"/>
          <a:lstStyle/>
          <a:p>
            <a:pPr indent="0" marL="0">
              <a:buNone/>
            </a:pPr>
            <a:r>
              <a:rPr lang="en-US" sz="750" dirty="0">
                <a:solidFill>
                  <a:srgbClr val="6B6B6B"/>
                </a:solidFill>
                <a:latin typeface="Calibri" pitchFamily="34" charset="0"/>
                <a:ea typeface="Calibri" pitchFamily="34" charset="-122"/>
                <a:cs typeface="Calibri" pitchFamily="34" charset="-120"/>
              </a:rPr>
              <a:t>Source: S&amp;P Capital IQ (FR Y-9C; NAIC statutory filings), FDIC, NAIC, Moody's. Private Credit Market Monitor dashboards. Internal use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457200"/>
          </a:xfrm>
          <a:prstGeom prst="rect">
            <a:avLst/>
          </a:prstGeom>
          <a:noFill/>
          <a:ln/>
        </p:spPr>
        <p:txBody>
          <a:bodyPr wrap="square" lIns="0" tIns="0" rIns="0" bIns="0" rtlCol="0" anchor="ctr"/>
          <a:lstStyle/>
          <a:p>
            <a:pPr indent="0" marL="0">
              <a:buNone/>
            </a:pPr>
            <a:r>
              <a:rPr lang="en-US" sz="2200" b="1" dirty="0">
                <a:solidFill>
                  <a:srgbClr val="1F3864"/>
                </a:solidFill>
                <a:latin typeface="Calibri" pitchFamily="34" charset="0"/>
                <a:ea typeface="Calibri" pitchFamily="34" charset="-122"/>
                <a:cs typeface="Calibri" pitchFamily="34" charset="-120"/>
              </a:rPr>
              <a:t>Market news &amp; research — what moved in Q3 2026</a:t>
            </a:r>
            <a:endParaRPr lang="en-US" sz="2200" dirty="0"/>
          </a:p>
        </p:txBody>
      </p:sp>
      <p:sp>
        <p:nvSpPr>
          <p:cNvPr id="3" name="Text 1"/>
          <p:cNvSpPr txBox="1"/>
          <p:nvPr/>
        </p:nvSpPr>
        <p:spPr>
          <a:xfrm>
            <a:off x="457200" y="731520"/>
            <a:ext cx="11247120" cy="274320"/>
          </a:xfrm>
          <a:prstGeom prst="rect">
            <a:avLst/>
          </a:prstGeom>
          <a:noFill/>
          <a:ln/>
        </p:spPr>
        <p:txBody>
          <a:bodyPr wrap="square" lIns="0" tIns="0" rIns="0" bIns="0" rtlCol="0" anchor="ctr"/>
          <a:lstStyle/>
          <a:p>
            <a:pPr indent="0" marL="0">
              <a:buNone/>
            </a:pPr>
            <a:r>
              <a:rPr lang="en-US" sz="950" dirty="0">
                <a:solidFill>
                  <a:srgbClr val="6B6B6B"/>
                </a:solidFill>
                <a:latin typeface="Calibri" pitchFamily="34" charset="0"/>
                <a:ea typeface="Calibri" pitchFamily="34" charset="-122"/>
                <a:cs typeface="Calibri" pitchFamily="34" charset="-120"/>
              </a:rPr>
              <a:t>Private Credit Market Monitor · Quarterly Update, Issue 1 · Each item ties back to a number on the dashboard slide</a:t>
            </a:r>
            <a:endParaRPr lang="en-US" sz="950" dirty="0"/>
          </a:p>
        </p:txBody>
      </p:sp>
      <p:sp>
        <p:nvSpPr>
          <p:cNvPr id="4" name="Shape 2"/>
          <p:cNvSpPr/>
          <p:nvPr/>
        </p:nvSpPr>
        <p:spPr>
          <a:xfrm>
            <a:off x="457200" y="1188720"/>
            <a:ext cx="329184" cy="329184"/>
          </a:xfrm>
          <a:prstGeom prst="ellipse">
            <a:avLst/>
          </a:prstGeom>
          <a:solidFill>
            <a:srgbClr val="1F3864"/>
          </a:solidFill>
          <a:ln w="12700">
            <a:solidFill>
              <a:srgbClr val="1F3864"/>
            </a:solidFill>
            <a:prstDash val="solid"/>
          </a:ln>
        </p:spPr>
      </p:sp>
      <p:pic>
        <p:nvPicPr>
          <p:cNvPr id="5" name="Image 0" descr="preencoded.png">    </p:cNvPr>
          <p:cNvPicPr>
            <a:picLocks noChangeAspect="1"/>
          </p:cNvPicPr>
          <p:nvPr/>
        </p:nvPicPr>
        <p:blipFill>
          <a:blip r:embed="rId1"/>
          <a:stretch>
            <a:fillRect/>
          </a:stretch>
        </p:blipFill>
        <p:spPr>
          <a:xfrm>
            <a:off x="534924" y="1266444"/>
            <a:ext cx="173736" cy="173736"/>
          </a:xfrm>
          <a:prstGeom prst="rect">
            <a:avLst/>
          </a:prstGeom>
        </p:spPr>
      </p:pic>
      <p:sp>
        <p:nvSpPr>
          <p:cNvPr id="6" name="Text 3"/>
          <p:cNvSpPr txBox="1"/>
          <p:nvPr/>
        </p:nvSpPr>
        <p:spPr>
          <a:xfrm>
            <a:off x="877824" y="1170432"/>
            <a:ext cx="5065776" cy="365760"/>
          </a:xfrm>
          <a:prstGeom prst="rect">
            <a:avLst/>
          </a:prstGeom>
          <a:noFill/>
          <a:ln/>
        </p:spPr>
        <p:txBody>
          <a:bodyPr wrap="square" lIns="0" tIns="0" rIns="0" bIns="0" rtlCol="0" anchor="ctr"/>
          <a:lstStyle/>
          <a:p>
            <a:pPr indent="0" marL="0">
              <a:buNone/>
            </a:pPr>
            <a:r>
              <a:rPr lang="en-US" sz="1350" b="1" dirty="0">
                <a:solidFill>
                  <a:srgbClr val="1F3864"/>
                </a:solidFill>
                <a:latin typeface="Calibri" pitchFamily="34" charset="0"/>
                <a:ea typeface="Calibri" pitchFamily="34" charset="-122"/>
                <a:cs typeface="Calibri" pitchFamily="34" charset="-120"/>
              </a:rPr>
              <a:t>U.S. Banks &amp; U.S. Insurance</a:t>
            </a:r>
            <a:endParaRPr lang="en-US" sz="1350" dirty="0"/>
          </a:p>
        </p:txBody>
      </p:sp>
      <p:sp>
        <p:nvSpPr>
          <p:cNvPr id="7" name="Shape 4"/>
          <p:cNvSpPr/>
          <p:nvPr/>
        </p:nvSpPr>
        <p:spPr>
          <a:xfrm>
            <a:off x="457200" y="1673352"/>
            <a:ext cx="237744" cy="237744"/>
          </a:xfrm>
          <a:prstGeom prst="ellipse">
            <a:avLst/>
          </a:prstGeom>
          <a:solidFill>
            <a:srgbClr val="EAF1FB"/>
          </a:solidFill>
          <a:ln w="12700">
            <a:solidFill>
              <a:srgbClr val="EAF1FB"/>
            </a:solidFill>
            <a:prstDash val="solid"/>
          </a:ln>
        </p:spPr>
      </p:sp>
      <p:sp>
        <p:nvSpPr>
          <p:cNvPr id="8" name="Text 5"/>
          <p:cNvSpPr txBox="1"/>
          <p:nvPr/>
        </p:nvSpPr>
        <p:spPr>
          <a:xfrm>
            <a:off x="457200" y="1673352"/>
            <a:ext cx="237744" cy="237744"/>
          </a:xfrm>
          <a:prstGeom prst="rect">
            <a:avLst/>
          </a:prstGeom>
          <a:noFill/>
          <a:ln/>
        </p:spPr>
        <p:txBody>
          <a:bodyPr wrap="square" lIns="0" tIns="0" rIns="0" bIns="0" rtlCol="0" anchor="ctr"/>
          <a:lstStyle/>
          <a:p>
            <a:pPr algn="ctr" indent="0" marL="0">
              <a:buNone/>
            </a:pPr>
            <a:r>
              <a:rPr lang="en-US" sz="950" b="1" dirty="0">
                <a:solidFill>
                  <a:srgbClr val="1F3864"/>
                </a:solidFill>
                <a:latin typeface="Calibri" pitchFamily="34" charset="0"/>
                <a:ea typeface="Calibri" pitchFamily="34" charset="-122"/>
                <a:cs typeface="Calibri" pitchFamily="34" charset="-120"/>
              </a:rPr>
              <a:t>1</a:t>
            </a:r>
            <a:endParaRPr lang="en-US" sz="950" dirty="0"/>
          </a:p>
        </p:txBody>
      </p:sp>
      <p:sp>
        <p:nvSpPr>
          <p:cNvPr id="9" name="Text 6"/>
          <p:cNvSpPr txBox="1"/>
          <p:nvPr/>
        </p:nvSpPr>
        <p:spPr>
          <a:xfrm>
            <a:off x="786384" y="1645920"/>
            <a:ext cx="5157216" cy="914400"/>
          </a:xfrm>
          <a:prstGeom prst="rect">
            <a:avLst/>
          </a:prstGeom>
          <a:noFill/>
          <a:ln/>
        </p:spPr>
        <p:txBody>
          <a:bodyPr wrap="square" lIns="0" tIns="0" rIns="0" bIns="0" rtlCol="0" anchor="t"/>
          <a:lstStyle/>
          <a:p>
            <a:pPr indent="0" marL="0">
              <a:buNone/>
            </a:pPr>
            <a:r>
              <a:rPr lang="en-US" sz="1050" b="1" dirty="0">
                <a:solidFill>
                  <a:srgbClr val="1F3864"/>
                </a:solidFill>
                <a:latin typeface="Calibri" pitchFamily="34" charset="0"/>
                <a:ea typeface="Calibri" pitchFamily="34" charset="-122"/>
                <a:cs typeface="Calibri" pitchFamily="34" charset="-120"/>
              </a:rPr>
              <a:t>Banks are tightening NDFI standards even as volumes surge</a:t>
            </a:r>
            <a:endParaRPr lang="en-US" sz="1050" dirty="0"/>
          </a:p>
          <a:p>
            <a:pPr indent="0" marL="0">
              <a:buNone/>
            </a:pPr>
            <a:r>
              <a:rPr lang="en-US" sz="900" dirty="0">
                <a:solidFill>
                  <a:srgbClr val="222222"/>
                </a:solidFill>
                <a:latin typeface="Calibri" pitchFamily="34" charset="0"/>
                <a:ea typeface="Calibri" pitchFamily="34" charset="-122"/>
                <a:cs typeface="Calibri" pitchFamily="34" charset="-120"/>
              </a:rPr>
              <a:t>Fed SLOOS July 2026 asked about all five NDFI loan types: significant net shares of banks put standards at the tighter end of their range since 2011. Meanwhile FDIC Q2 2026 data show NDFI loans +$279bn, +22.4% YoY vs +6.8% for total loans.</a:t>
            </a:r>
            <a:endParaRPr lang="en-US" sz="1050" dirty="0"/>
          </a:p>
          <a:p>
            <a:pPr indent="0" marL="0">
              <a:buNone/>
            </a:pPr>
            <a:r>
              <a:rPr lang="en-US" sz="750" i="1" dirty="0">
                <a:solidFill>
                  <a:srgbClr val="6B6B6B"/>
                </a:solidFill>
                <a:latin typeface="Calibri" pitchFamily="34" charset="0"/>
                <a:ea typeface="Calibri" pitchFamily="34" charset="-122"/>
                <a:cs typeface="Calibri" pitchFamily="34" charset="-120"/>
              </a:rPr>
              <a:t>Federal Reserve SLOOS (3 Aug 2026); FDIC Quarterly Banking Profile Q2 2026 (27 Aug 2026)</a:t>
            </a:r>
            <a:endParaRPr lang="en-US" sz="1050" dirty="0"/>
          </a:p>
        </p:txBody>
      </p:sp>
      <p:sp>
        <p:nvSpPr>
          <p:cNvPr id="10" name="Shape 7"/>
          <p:cNvSpPr/>
          <p:nvPr/>
        </p:nvSpPr>
        <p:spPr>
          <a:xfrm>
            <a:off x="457200" y="2624328"/>
            <a:ext cx="237744" cy="237744"/>
          </a:xfrm>
          <a:prstGeom prst="ellipse">
            <a:avLst/>
          </a:prstGeom>
          <a:solidFill>
            <a:srgbClr val="EAF1FB"/>
          </a:solidFill>
          <a:ln w="12700">
            <a:solidFill>
              <a:srgbClr val="EAF1FB"/>
            </a:solidFill>
            <a:prstDash val="solid"/>
          </a:ln>
        </p:spPr>
      </p:sp>
      <p:sp>
        <p:nvSpPr>
          <p:cNvPr id="11" name="Text 8"/>
          <p:cNvSpPr txBox="1"/>
          <p:nvPr/>
        </p:nvSpPr>
        <p:spPr>
          <a:xfrm>
            <a:off x="457200" y="2624328"/>
            <a:ext cx="237744" cy="237744"/>
          </a:xfrm>
          <a:prstGeom prst="rect">
            <a:avLst/>
          </a:prstGeom>
          <a:noFill/>
          <a:ln/>
        </p:spPr>
        <p:txBody>
          <a:bodyPr wrap="square" lIns="0" tIns="0" rIns="0" bIns="0" rtlCol="0" anchor="ctr"/>
          <a:lstStyle/>
          <a:p>
            <a:pPr algn="ctr" indent="0" marL="0">
              <a:buNone/>
            </a:pPr>
            <a:r>
              <a:rPr lang="en-US" sz="950" b="1" dirty="0">
                <a:solidFill>
                  <a:srgbClr val="1F3864"/>
                </a:solidFill>
                <a:latin typeface="Calibri" pitchFamily="34" charset="0"/>
                <a:ea typeface="Calibri" pitchFamily="34" charset="-122"/>
                <a:cs typeface="Calibri" pitchFamily="34" charset="-120"/>
              </a:rPr>
              <a:t>2</a:t>
            </a:r>
            <a:endParaRPr lang="en-US" sz="950" dirty="0"/>
          </a:p>
        </p:txBody>
      </p:sp>
      <p:sp>
        <p:nvSpPr>
          <p:cNvPr id="12" name="Text 9"/>
          <p:cNvSpPr txBox="1"/>
          <p:nvPr/>
        </p:nvSpPr>
        <p:spPr>
          <a:xfrm>
            <a:off x="786384" y="2596896"/>
            <a:ext cx="5157216" cy="914400"/>
          </a:xfrm>
          <a:prstGeom prst="rect">
            <a:avLst/>
          </a:prstGeom>
          <a:noFill/>
          <a:ln/>
        </p:spPr>
        <p:txBody>
          <a:bodyPr wrap="square" lIns="0" tIns="0" rIns="0" bIns="0" rtlCol="0" anchor="t"/>
          <a:lstStyle/>
          <a:p>
            <a:pPr indent="0" marL="0">
              <a:buNone/>
            </a:pPr>
            <a:r>
              <a:rPr lang="en-US" sz="1050" b="1" dirty="0">
                <a:solidFill>
                  <a:srgbClr val="1F3864"/>
                </a:solidFill>
                <a:latin typeface="Calibri" pitchFamily="34" charset="0"/>
                <a:ea typeface="Calibri" pitchFamily="34" charset="-122"/>
                <a:cs typeface="Calibri" pitchFamily="34" charset="-120"/>
              </a:rPr>
              <a:t>Private credit stress indicators are at records — bank lines are the backstop</a:t>
            </a:r>
            <a:endParaRPr lang="en-US" sz="1050" dirty="0"/>
          </a:p>
          <a:p>
            <a:pPr indent="0" marL="0">
              <a:buNone/>
            </a:pPr>
            <a:r>
              <a:rPr lang="en-US" sz="900" dirty="0">
                <a:solidFill>
                  <a:srgbClr val="222222"/>
                </a:solidFill>
                <a:latin typeface="Calibri" pitchFamily="34" charset="0"/>
                <a:ea typeface="Calibri" pitchFamily="34" charset="-122"/>
                <a:cs typeface="Calibri" pitchFamily="34" charset="-120"/>
              </a:rPr>
              <a:t>Fitch's U.S. private credit default rate hit 6.0% TTM in Q2 2026 (5.7% in Q1), more than half via maturity extensions. The Fed's May FSR notes semi-liquid BDC redemptions exceeded inflows in Q1 2026 for the first time; for the top-10 perpetual BDCs, bank credit lines plus cash cover ≥3 quarters of 5% redemptions.</a:t>
            </a:r>
            <a:endParaRPr lang="en-US" sz="1050" dirty="0"/>
          </a:p>
          <a:p>
            <a:pPr indent="0" marL="0">
              <a:buNone/>
            </a:pPr>
            <a:r>
              <a:rPr lang="en-US" sz="750" i="1" dirty="0">
                <a:solidFill>
                  <a:srgbClr val="6B6B6B"/>
                </a:solidFill>
                <a:latin typeface="Calibri" pitchFamily="34" charset="0"/>
                <a:ea typeface="Calibri" pitchFamily="34" charset="-122"/>
                <a:cs typeface="Calibri" pitchFamily="34" charset="-120"/>
              </a:rPr>
              <a:t>Fitch Ratings (30 Jul 2026); Federal Reserve Financial Stability Report, Box 4.1 (8 May 2026)</a:t>
            </a:r>
            <a:endParaRPr lang="en-US" sz="1050" dirty="0"/>
          </a:p>
        </p:txBody>
      </p:sp>
      <p:sp>
        <p:nvSpPr>
          <p:cNvPr id="13" name="Shape 10"/>
          <p:cNvSpPr/>
          <p:nvPr/>
        </p:nvSpPr>
        <p:spPr>
          <a:xfrm>
            <a:off x="457200" y="3575304"/>
            <a:ext cx="237744" cy="237744"/>
          </a:xfrm>
          <a:prstGeom prst="ellipse">
            <a:avLst/>
          </a:prstGeom>
          <a:solidFill>
            <a:srgbClr val="EAF1FB"/>
          </a:solidFill>
          <a:ln w="12700">
            <a:solidFill>
              <a:srgbClr val="EAF1FB"/>
            </a:solidFill>
            <a:prstDash val="solid"/>
          </a:ln>
        </p:spPr>
      </p:sp>
      <p:sp>
        <p:nvSpPr>
          <p:cNvPr id="14" name="Text 11"/>
          <p:cNvSpPr txBox="1"/>
          <p:nvPr/>
        </p:nvSpPr>
        <p:spPr>
          <a:xfrm>
            <a:off x="457200" y="3575304"/>
            <a:ext cx="237744" cy="237744"/>
          </a:xfrm>
          <a:prstGeom prst="rect">
            <a:avLst/>
          </a:prstGeom>
          <a:noFill/>
          <a:ln/>
        </p:spPr>
        <p:txBody>
          <a:bodyPr wrap="square" lIns="0" tIns="0" rIns="0" bIns="0" rtlCol="0" anchor="ctr"/>
          <a:lstStyle/>
          <a:p>
            <a:pPr algn="ctr" indent="0" marL="0">
              <a:buNone/>
            </a:pPr>
            <a:r>
              <a:rPr lang="en-US" sz="950" b="1" dirty="0">
                <a:solidFill>
                  <a:srgbClr val="1F3864"/>
                </a:solidFill>
                <a:latin typeface="Calibri" pitchFamily="34" charset="0"/>
                <a:ea typeface="Calibri" pitchFamily="34" charset="-122"/>
                <a:cs typeface="Calibri" pitchFamily="34" charset="-120"/>
              </a:rPr>
              <a:t>3</a:t>
            </a:r>
            <a:endParaRPr lang="en-US" sz="950" dirty="0"/>
          </a:p>
        </p:txBody>
      </p:sp>
      <p:sp>
        <p:nvSpPr>
          <p:cNvPr id="15" name="Text 12"/>
          <p:cNvSpPr txBox="1"/>
          <p:nvPr/>
        </p:nvSpPr>
        <p:spPr>
          <a:xfrm>
            <a:off x="786384" y="3547872"/>
            <a:ext cx="5157216" cy="914400"/>
          </a:xfrm>
          <a:prstGeom prst="rect">
            <a:avLst/>
          </a:prstGeom>
          <a:noFill/>
          <a:ln/>
        </p:spPr>
        <p:txBody>
          <a:bodyPr wrap="square" lIns="0" tIns="0" rIns="0" bIns="0" rtlCol="0" anchor="t"/>
          <a:lstStyle/>
          <a:p>
            <a:pPr indent="0" marL="0">
              <a:buNone/>
            </a:pPr>
            <a:r>
              <a:rPr lang="en-US" sz="1050" b="1" dirty="0">
                <a:solidFill>
                  <a:srgbClr val="1F3864"/>
                </a:solidFill>
                <a:latin typeface="Calibri" pitchFamily="34" charset="0"/>
                <a:ea typeface="Calibri" pitchFamily="34" charset="-122"/>
                <a:cs typeface="Calibri" pitchFamily="34" charset="-120"/>
              </a:rPr>
              <a:t>Regulators zero in on private letter ratings</a:t>
            </a:r>
            <a:endParaRPr lang="en-US" sz="1050" dirty="0"/>
          </a:p>
          <a:p>
            <a:pPr indent="0" marL="0">
              <a:buNone/>
            </a:pPr>
            <a:r>
              <a:rPr lang="en-US" sz="900" dirty="0">
                <a:solidFill>
                  <a:srgbClr val="222222"/>
                </a:solidFill>
                <a:latin typeface="Calibri" pitchFamily="34" charset="0"/>
                <a:ea typeface="Calibri" pitchFamily="34" charset="-122"/>
                <a:cs typeface="Calibri" pitchFamily="34" charset="-120"/>
              </a:rPr>
              <a:t>SVO PL rating filings rose from 1,961 (2022) to 12,269 (2025); the SVO warns it may not complete them all before year-end. Its new discretion to challenge ratings (adopted Aug 2024) has slipped from a Jan 2026 start; the CLO risk-based capital framework targets 31 Dec 2026.</a:t>
            </a:r>
            <a:endParaRPr lang="en-US" sz="1050" dirty="0"/>
          </a:p>
          <a:p>
            <a:pPr indent="0" marL="0">
              <a:buNone/>
            </a:pPr>
            <a:r>
              <a:rPr lang="en-US" sz="750" i="1" dirty="0">
                <a:solidFill>
                  <a:srgbClr val="6B6B6B"/>
                </a:solidFill>
                <a:latin typeface="Calibri" pitchFamily="34" charset="0"/>
                <a:ea typeface="Calibri" pitchFamily="34" charset="-122"/>
                <a:cs typeface="Calibri" pitchFamily="34" charset="-120"/>
              </a:rPr>
              <a:t>NAIC Spring 2026 National Meeting; KBRA, “A More Balanced Review of the NAIC PLR Review Process” (8 Jun 2026)</a:t>
            </a:r>
            <a:endParaRPr lang="en-US" sz="1050" dirty="0"/>
          </a:p>
        </p:txBody>
      </p:sp>
      <p:sp>
        <p:nvSpPr>
          <p:cNvPr id="16" name="Shape 13"/>
          <p:cNvSpPr/>
          <p:nvPr/>
        </p:nvSpPr>
        <p:spPr>
          <a:xfrm>
            <a:off x="457200" y="4526280"/>
            <a:ext cx="237744" cy="237744"/>
          </a:xfrm>
          <a:prstGeom prst="ellipse">
            <a:avLst/>
          </a:prstGeom>
          <a:solidFill>
            <a:srgbClr val="EAF1FB"/>
          </a:solidFill>
          <a:ln w="12700">
            <a:solidFill>
              <a:srgbClr val="EAF1FB"/>
            </a:solidFill>
            <a:prstDash val="solid"/>
          </a:ln>
        </p:spPr>
      </p:sp>
      <p:sp>
        <p:nvSpPr>
          <p:cNvPr id="17" name="Text 14"/>
          <p:cNvSpPr txBox="1"/>
          <p:nvPr/>
        </p:nvSpPr>
        <p:spPr>
          <a:xfrm>
            <a:off x="457200" y="4526280"/>
            <a:ext cx="237744" cy="237744"/>
          </a:xfrm>
          <a:prstGeom prst="rect">
            <a:avLst/>
          </a:prstGeom>
          <a:noFill/>
          <a:ln/>
        </p:spPr>
        <p:txBody>
          <a:bodyPr wrap="square" lIns="0" tIns="0" rIns="0" bIns="0" rtlCol="0" anchor="ctr"/>
          <a:lstStyle/>
          <a:p>
            <a:pPr algn="ctr" indent="0" marL="0">
              <a:buNone/>
            </a:pPr>
            <a:r>
              <a:rPr lang="en-US" sz="950" b="1" dirty="0">
                <a:solidFill>
                  <a:srgbClr val="1F3864"/>
                </a:solidFill>
                <a:latin typeface="Calibri" pitchFamily="34" charset="0"/>
                <a:ea typeface="Calibri" pitchFamily="34" charset="-122"/>
                <a:cs typeface="Calibri" pitchFamily="34" charset="-120"/>
              </a:rPr>
              <a:t>4</a:t>
            </a:r>
            <a:endParaRPr lang="en-US" sz="950" dirty="0"/>
          </a:p>
        </p:txBody>
      </p:sp>
      <p:sp>
        <p:nvSpPr>
          <p:cNvPr id="18" name="Text 15"/>
          <p:cNvSpPr txBox="1"/>
          <p:nvPr/>
        </p:nvSpPr>
        <p:spPr>
          <a:xfrm>
            <a:off x="786384" y="4498848"/>
            <a:ext cx="5157216" cy="914400"/>
          </a:xfrm>
          <a:prstGeom prst="rect">
            <a:avLst/>
          </a:prstGeom>
          <a:noFill/>
          <a:ln/>
        </p:spPr>
        <p:txBody>
          <a:bodyPr wrap="square" lIns="0" tIns="0" rIns="0" bIns="0" rtlCol="0" anchor="t"/>
          <a:lstStyle/>
          <a:p>
            <a:pPr indent="0" marL="0">
              <a:buNone/>
            </a:pPr>
            <a:r>
              <a:rPr lang="en-US" sz="1050" b="1" dirty="0">
                <a:solidFill>
                  <a:srgbClr val="1F3864"/>
                </a:solidFill>
                <a:latin typeface="Calibri" pitchFamily="34" charset="0"/>
                <a:ea typeface="Calibri" pitchFamily="34" charset="-122"/>
                <a:cs typeface="Calibri" pitchFamily="34" charset="-120"/>
              </a:rPr>
              <a:t>Life insurers' private allocations keep climbing — and concentrating</a:t>
            </a:r>
            <a:endParaRPr lang="en-US" sz="1050" dirty="0"/>
          </a:p>
          <a:p>
            <a:pPr indent="0" marL="0">
              <a:buNone/>
            </a:pPr>
            <a:r>
              <a:rPr lang="en-US" sz="900" dirty="0">
                <a:solidFill>
                  <a:srgbClr val="222222"/>
                </a:solidFill>
                <a:latin typeface="Calibri" pitchFamily="34" charset="0"/>
                <a:ea typeface="Calibri" pitchFamily="34" charset="-122"/>
                <a:cs typeface="Calibri" pitchFamily="34" charset="-120"/>
              </a:rPr>
              <a:t>U.S. life insurers' private placement bonds reached 23.4% of admitted bonds in 2025 (18.3% in 2021). Moody's puts private &amp; illiquid fixed income at $807bn, 20% of the industry's $4T portfolio, +$122bn in a year, with the top 10 holders at 44% of it.</a:t>
            </a:r>
            <a:endParaRPr lang="en-US" sz="1050" dirty="0"/>
          </a:p>
          <a:p>
            <a:pPr indent="0" marL="0">
              <a:buNone/>
            </a:pPr>
            <a:r>
              <a:rPr lang="en-US" sz="750" i="1" dirty="0">
                <a:solidFill>
                  <a:srgbClr val="6B6B6B"/>
                </a:solidFill>
                <a:latin typeface="Calibri" pitchFamily="34" charset="0"/>
                <a:ea typeface="Calibri" pitchFamily="34" charset="-122"/>
                <a:cs typeface="Calibri" pitchFamily="34" charset="-120"/>
              </a:rPr>
              <a:t>S&amp;P Global Market Intelligence (27 May 2026); Moody's (Jun 2026)</a:t>
            </a:r>
            <a:endParaRPr lang="en-US" sz="1050" dirty="0"/>
          </a:p>
        </p:txBody>
      </p:sp>
      <p:sp>
        <p:nvSpPr>
          <p:cNvPr id="19" name="Shape 16"/>
          <p:cNvSpPr/>
          <p:nvPr/>
        </p:nvSpPr>
        <p:spPr>
          <a:xfrm>
            <a:off x="457200" y="5477256"/>
            <a:ext cx="237744" cy="237744"/>
          </a:xfrm>
          <a:prstGeom prst="ellipse">
            <a:avLst/>
          </a:prstGeom>
          <a:solidFill>
            <a:srgbClr val="EAF1FB"/>
          </a:solidFill>
          <a:ln w="12700">
            <a:solidFill>
              <a:srgbClr val="EAF1FB"/>
            </a:solidFill>
            <a:prstDash val="solid"/>
          </a:ln>
        </p:spPr>
      </p:sp>
      <p:sp>
        <p:nvSpPr>
          <p:cNvPr id="20" name="Text 17"/>
          <p:cNvSpPr txBox="1"/>
          <p:nvPr/>
        </p:nvSpPr>
        <p:spPr>
          <a:xfrm>
            <a:off x="457200" y="5477256"/>
            <a:ext cx="237744" cy="237744"/>
          </a:xfrm>
          <a:prstGeom prst="rect">
            <a:avLst/>
          </a:prstGeom>
          <a:noFill/>
          <a:ln/>
        </p:spPr>
        <p:txBody>
          <a:bodyPr wrap="square" lIns="0" tIns="0" rIns="0" bIns="0" rtlCol="0" anchor="ctr"/>
          <a:lstStyle/>
          <a:p>
            <a:pPr algn="ctr" indent="0" marL="0">
              <a:buNone/>
            </a:pPr>
            <a:r>
              <a:rPr lang="en-US" sz="950" b="1" dirty="0">
                <a:solidFill>
                  <a:srgbClr val="1F3864"/>
                </a:solidFill>
                <a:latin typeface="Calibri" pitchFamily="34" charset="0"/>
                <a:ea typeface="Calibri" pitchFamily="34" charset="-122"/>
                <a:cs typeface="Calibri" pitchFamily="34" charset="-120"/>
              </a:rPr>
              <a:t>5</a:t>
            </a:r>
            <a:endParaRPr lang="en-US" sz="950" dirty="0"/>
          </a:p>
        </p:txBody>
      </p:sp>
      <p:sp>
        <p:nvSpPr>
          <p:cNvPr id="21" name="Text 18"/>
          <p:cNvSpPr txBox="1"/>
          <p:nvPr/>
        </p:nvSpPr>
        <p:spPr>
          <a:xfrm>
            <a:off x="786384" y="5449824"/>
            <a:ext cx="5157216" cy="914400"/>
          </a:xfrm>
          <a:prstGeom prst="rect">
            <a:avLst/>
          </a:prstGeom>
          <a:noFill/>
          <a:ln/>
        </p:spPr>
        <p:txBody>
          <a:bodyPr wrap="square" lIns="0" tIns="0" rIns="0" bIns="0" rtlCol="0" anchor="t"/>
          <a:lstStyle/>
          <a:p>
            <a:pPr indent="0" marL="0">
              <a:buNone/>
            </a:pPr>
            <a:r>
              <a:rPr lang="en-US" sz="1050" b="1" dirty="0">
                <a:solidFill>
                  <a:srgbClr val="1F3864"/>
                </a:solidFill>
                <a:latin typeface="Calibri" pitchFamily="34" charset="0"/>
                <a:ea typeface="Calibri" pitchFamily="34" charset="-122"/>
                <a:cs typeface="Calibri" pitchFamily="34" charset="-120"/>
              </a:rPr>
              <a:t>S&amp;P Global Ratings: North American life insurers can manage a private credit stress</a:t>
            </a:r>
            <a:endParaRPr lang="en-US" sz="1050" dirty="0"/>
          </a:p>
          <a:p>
            <a:pPr indent="0" marL="0">
              <a:buNone/>
            </a:pPr>
            <a:r>
              <a:rPr lang="en-US" sz="900" dirty="0">
                <a:solidFill>
                  <a:srgbClr val="222222"/>
                </a:solidFill>
                <a:latin typeface="Calibri" pitchFamily="34" charset="0"/>
                <a:ea typeface="Calibri" pitchFamily="34" charset="-122"/>
                <a:cs typeface="Calibri" pitchFamily="34" charset="-120"/>
              </a:rPr>
              <a:t>Under a severe scenario in which below-IG default rates roughly double their 2008–09 peak, only two rated insurers might face downgrade pressure and about half would see moderate pressure. See also the Insurance In Focus webinar on U.S. private credit exposure (19 May 2026). </a:t>
            </a:r>
            <a:pPr indent="0" marL="0">
              <a:buNone/>
            </a:pPr>
            <a:r>
              <a:rPr lang="en-US" sz="900" b="1" dirty="0">
                <a:solidFill>
                  <a:srgbClr val="222222"/>
                </a:solidFill>
                <a:highlight>
                  <a:srgbClr val="FFF2A8"/>
                </a:highlight>
                <a:latin typeface="Calibri" pitchFamily="34" charset="0"/>
                <a:ea typeface="Calibri" pitchFamily="34" charset="-122"/>
                <a:cs typeface="Calibri" pitchFamily="34" charset="-120"/>
              </a:rPr>
              <a:t>internal link</a:t>
            </a:r>
            <a:endParaRPr lang="en-US" sz="1050" dirty="0"/>
          </a:p>
          <a:p>
            <a:pPr indent="0" marL="0">
              <a:buNone/>
            </a:pPr>
            <a:r>
              <a:rPr lang="en-US" sz="750" i="1" dirty="0">
                <a:solidFill>
                  <a:srgbClr val="6B6B6B"/>
                </a:solidFill>
                <a:latin typeface="Calibri" pitchFamily="34" charset="0"/>
                <a:ea typeface="Calibri" pitchFamily="34" charset="-122"/>
                <a:cs typeface="Calibri" pitchFamily="34" charset="-120"/>
              </a:rPr>
              <a:t>S&amp;P Global Ratings, “Scenario Analysis: North American Life Insurers Can Manage Private Credit Market Stress…” (Apr 2026)</a:t>
            </a:r>
            <a:endParaRPr lang="en-US" sz="1050" dirty="0"/>
          </a:p>
        </p:txBody>
      </p:sp>
      <p:sp>
        <p:nvSpPr>
          <p:cNvPr id="22" name="Shape 19"/>
          <p:cNvSpPr/>
          <p:nvPr/>
        </p:nvSpPr>
        <p:spPr>
          <a:xfrm>
            <a:off x="6245352" y="1188720"/>
            <a:ext cx="5486400" cy="5120640"/>
          </a:xfrm>
          <a:prstGeom prst="roundRect">
            <a:avLst>
              <a:gd name="adj" fmla="val 1429"/>
            </a:avLst>
          </a:prstGeom>
          <a:solidFill>
            <a:srgbClr val="F4F7FB"/>
          </a:solidFill>
          <a:ln w="12700">
            <a:solidFill>
              <a:srgbClr val="C9D3E3"/>
            </a:solidFill>
            <a:prstDash val="dash"/>
          </a:ln>
        </p:spPr>
      </p:sp>
      <p:sp>
        <p:nvSpPr>
          <p:cNvPr id="23" name="Text 20"/>
          <p:cNvSpPr txBox="1"/>
          <p:nvPr/>
        </p:nvSpPr>
        <p:spPr>
          <a:xfrm>
            <a:off x="6519672" y="1371600"/>
            <a:ext cx="4937760" cy="1097280"/>
          </a:xfrm>
          <a:prstGeom prst="rect">
            <a:avLst/>
          </a:prstGeom>
          <a:noFill/>
          <a:ln/>
        </p:spPr>
        <p:txBody>
          <a:bodyPr wrap="square" lIns="0" tIns="0" rIns="0" bIns="0" rtlCol="0" anchor="t"/>
          <a:lstStyle/>
          <a:p>
            <a:pPr indent="0" marL="0">
              <a:buNone/>
            </a:pPr>
            <a:r>
              <a:rPr lang="en-US" sz="1350" b="1" dirty="0">
                <a:solidFill>
                  <a:srgbClr val="1F3864"/>
                </a:solidFill>
                <a:highlight>
                  <a:srgbClr val="FFF2A8"/>
                </a:highlight>
                <a:latin typeface="Calibri" pitchFamily="34" charset="0"/>
                <a:ea typeface="Calibri" pitchFamily="34" charset="-122"/>
                <a:cs typeface="Calibri" pitchFamily="34" charset="-120"/>
              </a:rPr>
              <a:t>Other sectors — colleague's half</a:t>
            </a:r>
            <a:endParaRPr lang="en-US" sz="1350" dirty="0"/>
          </a:p>
          <a:p>
            <a:pPr indent="0" marL="0">
              <a:buNone/>
            </a:pPr>
            <a:r>
              <a:rPr lang="en-US" sz="1000" dirty="0">
                <a:solidFill>
                  <a:srgbClr val="6B6B6B"/>
                </a:solidFill>
                <a:latin typeface="Calibri" pitchFamily="34" charset="0"/>
                <a:ea typeface="Calibri" pitchFamily="34" charset="-122"/>
                <a:cs typeface="Calibri" pitchFamily="34" charset="-120"/>
              </a:rPr>
              <a:t>Same format: numbered items, one bold headline, two lines of what happened, one grey source line. Five items fit at this size.</a:t>
            </a:r>
            <a:endParaRPr lang="en-US" sz="1350" dirty="0"/>
          </a:p>
        </p:txBody>
      </p:sp>
      <p:sp>
        <p:nvSpPr>
          <p:cNvPr id="24" name="Text 21"/>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750" dirty="0">
                <a:solidFill>
                  <a:srgbClr val="6B6B6B"/>
                </a:solidFill>
                <a:latin typeface="Calibri" pitchFamily="34" charset="0"/>
                <a:ea typeface="Calibri" pitchFamily="34" charset="-122"/>
                <a:cs typeface="Calibri" pitchFamily="34" charset="-120"/>
              </a:rPr>
              <a:t>Links: Fed FSR May 2026 · Fed SLOOS Jul 2026 · FDIC Risk Review 2026 · FSB Vulnerabilities in Private Credit (May 2026) · OFR Brief 26-02 · BIS Bulletin 128 · NAIC private credit page · S&amp;P Global Ratings Private Markets hub — full URLs in speaker notes. Internal use only.</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Private Credit Market Monitor — Quarterly Update, Issue 1</dc:title>
  <dc:subject>PptxGenJS Presentation</dc:subject>
  <dc:creator>Private Credit Market Monitor</dc:creator>
  <cp:lastModifiedBy>Private Credit Market Monitor</cp:lastModifiedBy>
  <cp:revision>1</cp:revision>
  <dcterms:created xsi:type="dcterms:W3CDTF">2026-09-10T03:19:08Z</dcterms:created>
  <dcterms:modified xsi:type="dcterms:W3CDTF">2026-09-10T03:19:08Z</dcterms:modified>
</cp:coreProperties>
</file>
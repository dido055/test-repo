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【填写提示 — 发前删掉这段】数字已按 9/11 的两张 dashboard 截图填好（Q1 = v3 文件，Q2 = v4_26q2 文件）：Total loans 10,012.8 → 10,195.7bn (+1.8%)；NDFI 1,528.4 → 1,568.7bn (+2.6%)；BC 410.9 → 418.6bn (+1.9%)；PE funds 371.7 → 394.3bn (+6.1%)；Mortgage +2.0%、Other +2.1%、Consumer −1.4%；NDFI % 15.26 → 15.39%；A- 及以上 = (8+48+345+428)/1,569 = 53%；Top 5 by $ = 249+229+206+142+138 = 964bn = 61%。样本两期都是同一批 48 家（已核对，7 月的 "49" 是旧数）。还剩一件事：截图——US Banks 页停在 2026Q2、取消所有选中、toggle 在 Business Credit、View → 100%+，整页截图（两个 treemap、ratings bar、cards、三张 Top 5）贴进 16:9 虚线框，保持比例缩放后删提示字。State Street 的 43.0% 从截图里的 Top 5 表核对。文字规则（9/12 定稿）：每条 = 一句加粗结论（含核心数字 + 指向哪个图）+ 一句灰色斜体外部佐证（来源 + 日期），全部是完整句子、不用未解释的缩写；图下注释只定义术语（NDFI loans / BC loans / Total loans），不解释各个图。每条外部证据后面都用括号标注（机构 + 报告 + 月份），页脚 Sources 行解释各机构是什么（FDIC、Federal Reserve、Moody's/Fitch、S&amp;P Global MI）。来源核对记录：0.15% vs 1.39% 是 FDIC 2026 Risk Review（2026 年 4 月底发布）里 2025Q4 的数；FDIC 2026 年 2 月的 Banking Issues in Focus 里是 0.15% vs 1.32%（2025Q3），两者别混。Bullet 1 的佐证逻辑（9/12 重写）：先用 FDIC 的官方定义说明 BC 这一类装的是谁（direct lenders、private debt funds、BDC，但也有 finance companies、CLO、leasing）——这就是为什么只能叫 proxy、NDFI 是上限；再举两个把这一行当 private credit exposure 度量的机构：Moody's（$300bn / $1.2T ≈ 25%，和我们 BC % of NDFI 26.7% 吻合，间接说明它用的就是 BC 行——但公开报道只写 loans to private credit providers，没点名 business credit intermediaries，发前在 Moody's 原文里核一下）和 OFR Brief 26-02 的 Figure 1（Studies of the Private Credit Counterparty Exposure：Call reports / Business credit intermediaries 2024 = $400bn committed / $264bn drawn，与 Moody's 2023 survey、Fed FSR、Fed Y-14 研究并列）。原来提的 S&amp;P MI「track BC share」和 Fed「monitor NDFI」两句因为没说清和 proxy 选择的关系，已删。「Next quarter」那条已按你的意见删掉，后续计划只留在 checklist/backlog 里。</a:t>
            </a:r>
            <a:br>
              <a:rPr lang="en-US"/>
            </a:br>
            <a:br>
              <a:rPr lang="en-US"/>
            </a:br>
            <a:r>
              <a:rPr lang="en-US"/>
              <a:t>备注（有人问 NDFI 为什么涨得比 BCI 快时用）：Q2 的 NDFI 增量 40.2bn 里，Private Equity Funds 贡献 22.6bn（371.7 → 394.3bn，+6.1%，五类里最快），Mortgage +2.0%、Other +2.1%、Consumer −1.4%。银行对 PE fund 的贷款以 subscription line 为主；private credit fund 自身的 subscription line 是否也被归在这一类，Y-9C 说明和 Fed/OFR 文章都没有明确表述，所以 slide 上不提。</a:t>
            </a:r>
            <a:br>
              <a:rPr lang="en-US"/>
            </a:br>
            <a:br>
              <a:rPr lang="en-US"/>
            </a:br>
            <a:r>
              <a:rPr lang="en-US"/>
              <a:t>Sources / links:</a:t>
            </a:r>
            <a:br>
              <a:rPr lang="en-US"/>
            </a:br>
            <a:r>
              <a:rPr lang="en-US"/>
              <a:t>FDIC 2026 Risk Review — https://www.fdic.gov/analysis/2026-risk-review-full.pdf</a:t>
            </a:r>
            <a:br>
              <a:rPr lang="en-US"/>
            </a:br>
            <a:r>
              <a:rPr lang="en-US"/>
              <a:t>FDIC Quarterly Banking Profile Q2 2026 (27 Aug 2026) — https://www.fdic.gov/analysis/quarterly-banking-profile</a:t>
            </a:r>
            <a:br>
              <a:rPr lang="en-US"/>
            </a:br>
            <a:r>
              <a:rPr lang="en-US"/>
              <a:t>FDIC Banking Issues in Focus: Bank Lending to NDFIs (Feb 2026) — https://www.fdic.gov/analysis/bank-lending-nondepository-financial-institutions.pdf</a:t>
            </a:r>
            <a:br>
              <a:rPr lang="en-US"/>
            </a:br>
            <a:r>
              <a:rPr lang="en-US"/>
              <a:t>Federal Reserve SLOOS July 2026 (3 Aug 2026) — https://www.federalreserve.gov/data/sloos/sloos-202607.htm</a:t>
            </a:r>
            <a:br>
              <a:rPr lang="en-US"/>
            </a:br>
            <a:r>
              <a:rPr lang="en-US"/>
              <a:t>Federal Reserve Financial Stability Report, May 2026 (Box 4.1) — https://www.federalreserve.gov/publications/files/financial-stability-report-20260508.pdf</a:t>
            </a:r>
            <a:br>
              <a:rPr lang="en-US"/>
            </a:br>
            <a:r>
              <a:rPr lang="en-US"/>
              <a:t>Fitch U.S. private credit default rate Q2 2026 (30 Jul 2026, via Investment Executive) — https://www.investmentexecutive.com/news/research-and-markets/u-s-private-credit-defaults-rise-fitch-3/</a:t>
            </a:r>
            <a:br>
              <a:rPr lang="en-US"/>
            </a:br>
            <a:r>
              <a:rPr lang="en-US"/>
              <a:t>S&amp;P Global Market Intelligence, US banks' NDFI lending pace reaccelerates in Q4 2025 (26 Feb 2026) — https://www.spglobal.com/market-intelligence/en/news-insights/articles/2026/2/us-banks-ndfi-lending-pace-reaccelerates-in-q4-2025-98612159</a:t>
            </a:r>
            <a:br>
              <a:rPr lang="en-US"/>
            </a:br>
            <a:r>
              <a:rPr lang="en-US"/>
              <a:t>S&amp;P Global Ratings, Systemic Risk: U.S. Banks' $1 Trillion In Loans To Nonbanks Like Private Credit Creates Risks And Rewards (Feb 2025) — [internal link]</a:t>
            </a:r>
            <a:br>
              <a:rPr lang="en-US"/>
            </a:br>
            <a:r>
              <a:rPr lang="en-US"/>
              <a:t>OFR Brief 26-02, Measuring Counterparty Exposures to Private Credit (Mar 2026) — https://www.financialresearch.gov/briefs/files/OFRBrief-26-02-measuring-counterparty-exposures-private-credit.pdf</a:t>
            </a:r>
            <a:br>
              <a:rPr lang="en-US"/>
            </a:br>
            <a:r>
              <a:rPr lang="en-US"/>
              <a:t>BIS Bulletin 128, AI disruption in private credit (Jul 2026) — https://www.bis.org/publ/bisbull128.htm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【填写提示 — 发前删掉这段】先做完 guide Part 0-1 / 0-2（卡片改名 + 两个比率 measure），再整页截图 US Insurance 页（cards、NAIC 四桶、SVO 四桶、Top 10），贴进 16:9 虚线框，保持比例缩放后删提示字。Bullet 2 的四桶 % 和 bullet 3 的 NAIC % 用 $934bn universe 重读（旧比例 40/36/14/10 是 $882.8bn 的）。bullet 4 的三个 migration 数来自 Quarterly Monitor 页（checklist B4）；CapIQ 拉不到 [06/26 Q] 就把 2026Q2 改成 2026Q1。Bullet 4 的 S&amp;P Ratings 文章要补内网链接。PL 的措辞保持中性——S&amp;P Ratings 自己也出 private letter rating。</a:t>
            </a:r>
            <a:br>
              <a:rPr lang="en-US"/>
            </a:br>
            <a:br>
              <a:rPr lang="en-US"/>
            </a:br>
            <a:r>
              <a:rPr lang="en-US"/>
              <a:t>术语（2026-09-12 改成大白话）：正文用 "PP holdings"（词汇表里标注 = dashboard 的 PP Bond BACV）、"capital &amp; surplus"（不用 C&amp;S）、"NAIC designation / below investment grade"、"rating channel"（= dashboard 的 SVO symbol；PL = private letter rating）；BACV、SVO、FE 这些缩写只在词汇表里出现一次。方法论 bullet 里点明我们是窄口径（PPN），Insurance practice 用 manual filter 筛普通 CUSIP 债券做更宽的估计——这句你核一下 practice 那边的说法和名称是否准确。</a:t>
            </a:r>
            <a:br>
              <a:rPr lang="en-US"/>
            </a:br>
            <a:br>
              <a:rPr lang="en-US"/>
            </a:br>
            <a:r>
              <a:rPr lang="en-US"/>
              <a:t>每条外部证据后面都用括号标注（机构 + 报告 + 月份），页脚 Sources 行解释 NAIC、Moody's/Fitch/KBRA、S&amp;P Global MI 是什么。NAIC Spring 2026 National Meeting 是 2026 年 3 月 22–25 日（PLR filings 1,961 → 12,269，+525.7%，SVO 称年底前将无法处理完全部 PLR filing）。「Next quarter」那条已删，后续计划留在 backlog。</a:t>
            </a:r>
            <a:br>
              <a:rPr lang="en-US"/>
            </a:br>
            <a:br>
              <a:rPr lang="en-US"/>
            </a:br>
            <a:r>
              <a:rPr lang="en-US"/>
              <a:t>注意两个数字口径：S&amp;P MI 5/27 的 "PP bonds 23.4% of admitted bonds" 和我们 $934bn ÷ 行业 life bonds ~$4T ≈ 23% 吻合，可放心引用；S&amp;P MI 8 月的 2026 US Insurance Investments Market Report 另有 "privately placed bonds 48.4% of life bonds"（含 144A 的宽口径），slide 上不要用，免得和 23.4% 打架。Moody's 的 $807bn "private &amp; illiquid fixed income" 比我们的 $934bn 还小，所以不能说它是 "更宽口径/上限"，只能说 "同一量级"。</a:t>
            </a:r>
            <a:br>
              <a:rPr lang="en-US"/>
            </a:br>
            <a:br>
              <a:rPr lang="en-US"/>
            </a:br>
            <a:r>
              <a:rPr lang="en-US"/>
              <a:t>Sources / links:</a:t>
            </a:r>
            <a:br>
              <a:rPr lang="en-US"/>
            </a:br>
            <a:r>
              <a:rPr lang="en-US"/>
              <a:t>S&amp;P Global Ratings, Scenario Analysis: North American Life Insurers Can Manage Private Credit Market Stress If One Occurs (Apr 2026) — [internal link]</a:t>
            </a:r>
            <a:br>
              <a:rPr lang="en-US"/>
            </a:br>
            <a:r>
              <a:rPr lang="en-US"/>
              <a:t>S&amp;P Global Ratings, Insurance In Focus: U.S. Private Credit Exposure and Capital Model Comparisons (webinar, 19 May 2026) — https://www.spglobal.com/ratings/en/events/webinars/insurance-in-focus-webinar-19may2026</a:t>
            </a:r>
            <a:br>
              <a:rPr lang="en-US"/>
            </a:br>
            <a:r>
              <a:rPr lang="en-US"/>
              <a:t>S&amp;P Global Ratings, The Rise Of Private Credit In Insurers' Investment Portfolios — https://www.spglobal.com/ratings/en/regulatory/article/the-rise-of-private-credit-in-insurers-investment-portfolios-s101643158</a:t>
            </a:r>
            <a:br>
              <a:rPr lang="en-US"/>
            </a:br>
            <a:r>
              <a:rPr lang="en-US"/>
              <a:t>S&amp;P Global Market Intelligence, Private credit exposure grows as insurers eye higher yields, diversification (27 May 2026) — https://www.spglobal.com/market-intelligence/en/news-insights/articles/2026/5/private-credit-exposure-grows-as-insurers-eye-higher-yields-diversification-101850154</a:t>
            </a:r>
            <a:br>
              <a:rPr lang="en-US"/>
            </a:br>
            <a:r>
              <a:rPr lang="en-US"/>
              <a:t>S&amp;P Global Market Intelligence, US insurance regulators pulling back the curtain on private credit (31 Mar 2026) — https://www.spglobal.com/market-intelligence/en/news-insights/articles/2026/3/us-insurance-regulators-pulling-back-the-curtain-on-private-credit-100049804</a:t>
            </a:r>
            <a:br>
              <a:rPr lang="en-US"/>
            </a:br>
            <a:r>
              <a:rPr lang="en-US"/>
              <a:t>Moody's on U.S. life insurers' private credit (Insurance Business, 8 Jun 2026) — https://www.insurancebusinessmag.com/us/news/life-insurance/us-life-insurers-private-credit-push-is-creating-liquidity-and-concentration-risks-moodys-warns-578168.aspx</a:t>
            </a:r>
            <a:br>
              <a:rPr lang="en-US"/>
            </a:br>
            <a:r>
              <a:rPr lang="en-US"/>
              <a:t>NAIC Spring 2026 National Meeting summary (Sidley, 14 Apr 2026) — https://datamatters.sidley.com/2026/04/14/regulatory-update-national-association-of-insurance-commissioners-spring-2026-national-meeting/</a:t>
            </a:r>
            <a:br>
              <a:rPr lang="en-US"/>
            </a:br>
            <a:r>
              <a:rPr lang="en-US"/>
              <a:t>KBRA, A More Balanced Review of the NAIC PLR Review Process (8 Jun 2026) — https://www.kbra.com/publications/NqqwYmxw</a:t>
            </a:r>
            <a:br>
              <a:rPr lang="en-US"/>
            </a:br>
            <a:r>
              <a:rPr lang="en-US"/>
              <a:t>NAIC Private Credit topic page — https://content.naic.org/insurance-topics/private-credit</a:t>
            </a:r>
            <a:br>
              <a:rPr lang="en-US"/>
            </a:br>
            <a:r>
              <a:rPr lang="en-US"/>
              <a:t>Fitch U.S. private credit default rate Q2 2026 (30 Jul 2026) — https://www.investmentexecutive.com/news/research-and-markets/u-s-private-credit-defaults-rise-fitch-3/</a:t>
            </a:r>
            <a:br>
              <a:rPr lang="en-US"/>
            </a:br>
            <a:r>
              <a:rPr lang="en-US"/>
              <a:t>Federal Reserve Financial Stability Report, May 2026 — https://www.federalreserve.gov/publications/files/financial-stability-report-20260508.pdf</a:t>
            </a:r>
            <a:br>
              <a:rPr lang="en-US"/>
            </a:br>
            <a:r>
              <a:rPr lang="en-US"/>
              <a:t>FSB, Report on Vulnerabilities in Private Credit (6 May 2026) — https://www.fsb.org/2026/05/report-on-vulnerabilities-in-private-credit/</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457200" y="301752"/>
            <a:ext cx="384048" cy="384048"/>
          </a:xfrm>
          <a:prstGeom prst="ellipse">
            <a:avLst/>
          </a:prstGeom>
          <a:solidFill>
            <a:srgbClr val="1F3864"/>
          </a:solidFill>
          <a:ln cap="flat" cmpd="sng" w="12700">
            <a:solidFill>
              <a:srgbClr val="1F38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p:cNvPicPr preferRelativeResize="0"/>
          <p:nvPr/>
        </p:nvPicPr>
        <p:blipFill rotWithShape="1">
          <a:blip r:embed="rId3">
            <a:alphaModFix/>
          </a:blip>
          <a:srcRect b="0" l="0" r="0" t="0"/>
          <a:stretch/>
        </p:blipFill>
        <p:spPr>
          <a:xfrm>
            <a:off x="548640" y="393192"/>
            <a:ext cx="201168" cy="201168"/>
          </a:xfrm>
          <a:prstGeom prst="rect">
            <a:avLst/>
          </a:prstGeom>
          <a:noFill/>
          <a:ln>
            <a:noFill/>
          </a:ln>
        </p:spPr>
      </p:pic>
      <p:sp>
        <p:nvSpPr>
          <p:cNvPr id="18" name="Google Shape;18;p3"/>
          <p:cNvSpPr txBox="1"/>
          <p:nvPr/>
        </p:nvSpPr>
        <p:spPr>
          <a:xfrm>
            <a:off x="960120" y="228600"/>
            <a:ext cx="107899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100"/>
              <a:buFont typeface="Calibri"/>
              <a:buNone/>
            </a:pPr>
            <a:r>
              <a:rPr b="1" i="0" lang="en-US" sz="2100" u="none" cap="none" strike="noStrike">
                <a:solidFill>
                  <a:srgbClr val="1F3864"/>
                </a:solidFill>
                <a:latin typeface="Calibri"/>
                <a:ea typeface="Calibri"/>
                <a:cs typeface="Calibri"/>
                <a:sym typeface="Calibri"/>
              </a:rPr>
              <a:t>U.S. Banks — loans to non-depository financial institutions (NDFI), Q2 2026</a:t>
            </a:r>
            <a:endParaRPr b="0" i="0" sz="2100" u="none" cap="none" strike="noStrike">
              <a:solidFill>
                <a:schemeClr val="dk1"/>
              </a:solidFill>
              <a:latin typeface="Calibri"/>
              <a:ea typeface="Calibri"/>
              <a:cs typeface="Calibri"/>
              <a:sym typeface="Calibri"/>
            </a:endParaRPr>
          </a:p>
        </p:txBody>
      </p:sp>
      <p:sp>
        <p:nvSpPr>
          <p:cNvPr id="19" name="Google Shape;19;p3"/>
          <p:cNvSpPr txBox="1"/>
          <p:nvPr/>
        </p:nvSpPr>
        <p:spPr>
          <a:xfrm>
            <a:off x="960120" y="758952"/>
            <a:ext cx="10789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950"/>
              <a:buFont typeface="Calibri"/>
              <a:buNone/>
            </a:pPr>
            <a:r>
              <a:rPr b="0" i="0" lang="en-US" sz="950" u="none" cap="none" strike="noStrike">
                <a:solidFill>
                  <a:srgbClr val="6B6B6B"/>
                </a:solidFill>
                <a:latin typeface="Calibri"/>
                <a:ea typeface="Calibri"/>
                <a:cs typeface="Calibri"/>
                <a:sym typeface="Calibri"/>
              </a:rPr>
              <a:t>Private Credit Market Monitor · Quarterly Update, Issue 1 (September 2026) · Data: FR Y-9C (bank holding company regulatory report) · 48 S&amp;P-rated U.S. bank holding companies</a:t>
            </a:r>
            <a:endParaRPr b="0" i="0" sz="950" u="none" cap="none" strike="noStrike">
              <a:solidFill>
                <a:schemeClr val="dk1"/>
              </a:solidFill>
              <a:latin typeface="Calibri"/>
              <a:ea typeface="Calibri"/>
              <a:cs typeface="Calibri"/>
              <a:sym typeface="Calibri"/>
            </a:endParaRPr>
          </a:p>
        </p:txBody>
      </p:sp>
      <p:sp>
        <p:nvSpPr>
          <p:cNvPr id="20" name="Google Shape;20;p3"/>
          <p:cNvSpPr/>
          <p:nvPr/>
        </p:nvSpPr>
        <p:spPr>
          <a:xfrm>
            <a:off x="457200" y="1188720"/>
            <a:ext cx="6675120" cy="3754755"/>
          </a:xfrm>
          <a:prstGeom prst="roundRect">
            <a:avLst>
              <a:gd fmla="val 1461" name="adj"/>
            </a:avLst>
          </a:prstGeom>
          <a:solidFill>
            <a:srgbClr val="F4F7FB"/>
          </a:solidFill>
          <a:ln cap="flat" cmpd="sng" w="12700">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txBox="1"/>
          <p:nvPr/>
        </p:nvSpPr>
        <p:spPr>
          <a:xfrm>
            <a:off x="777240" y="2426018"/>
            <a:ext cx="603504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864"/>
              </a:buClr>
              <a:buSzPts val="1200"/>
              <a:buFont typeface="Calibri"/>
              <a:buNone/>
            </a:pPr>
            <a:r>
              <a:rPr b="1" i="0" lang="en-US" sz="1200" u="none" cap="none" strike="noStrike">
                <a:solidFill>
                  <a:srgbClr val="1F3864"/>
                </a:solidFill>
                <a:highlight>
                  <a:srgbClr val="FFF2A8"/>
                </a:highlight>
                <a:latin typeface="Calibri"/>
                <a:ea typeface="Calibri"/>
                <a:cs typeface="Calibri"/>
                <a:sym typeface="Calibri"/>
              </a:rPr>
              <a:t>Paste dashboard screenshot here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Calibri"/>
              <a:buNone/>
            </a:pPr>
            <a:r>
              <a:rPr b="0" i="0" lang="en-US" sz="900" u="none" cap="none" strike="noStrike">
                <a:solidFill>
                  <a:srgbClr val="222222"/>
                </a:solidFill>
                <a:latin typeface="Calibri"/>
                <a:ea typeface="Calibri"/>
                <a:cs typeface="Calibri"/>
                <a:sym typeface="Calibri"/>
              </a:rPr>
              <a:t>Full US Banks page, 2026Q2 (all visuals: two treemaps, ratings bar, cards, three Top 5 charts). Box is 16:9; keep aspect ratio when resizing, then delete this text.</a:t>
            </a:r>
            <a:endParaRPr b="0" i="0" sz="1200" u="none" cap="none" strike="noStrike">
              <a:solidFill>
                <a:schemeClr val="dk1"/>
              </a:solidFill>
              <a:latin typeface="Calibri"/>
              <a:ea typeface="Calibri"/>
              <a:cs typeface="Calibri"/>
              <a:sym typeface="Calibri"/>
            </a:endParaRPr>
          </a:p>
        </p:txBody>
      </p:sp>
      <p:sp>
        <p:nvSpPr>
          <p:cNvPr id="22" name="Google Shape;22;p3"/>
          <p:cNvSpPr txBox="1"/>
          <p:nvPr/>
        </p:nvSpPr>
        <p:spPr>
          <a:xfrm>
            <a:off x="457200" y="5016627"/>
            <a:ext cx="667512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800"/>
              <a:buFont typeface="Calibri"/>
              <a:buNone/>
            </a:pPr>
            <a:r>
              <a:rPr b="1" i="0" lang="en-US" sz="800" u="none" cap="none" strike="noStrike">
                <a:solidFill>
                  <a:srgbClr val="6B6B6B"/>
                </a:solidFill>
                <a:latin typeface="Calibri"/>
                <a:ea typeface="Calibri"/>
                <a:cs typeface="Calibri"/>
                <a:sym typeface="Calibri"/>
              </a:rPr>
              <a:t>Reading the dashboard —</a:t>
            </a:r>
            <a:r>
              <a:rPr b="0" i="0" lang="en-US" sz="800" u="none" cap="none" strike="noStrike">
                <a:solidFill>
                  <a:srgbClr val="6B6B6B"/>
                </a:solidFill>
                <a:latin typeface="Calibri"/>
                <a:ea typeface="Calibri"/>
                <a:cs typeface="Calibri"/>
                <a:sym typeface="Calibri"/>
              </a:rPr>
              <a:t> </a:t>
            </a:r>
            <a:r>
              <a:rPr b="1" i="0" lang="en-US" sz="800" u="none" cap="none" strike="noStrike">
                <a:solidFill>
                  <a:srgbClr val="6B6B6B"/>
                </a:solidFill>
                <a:latin typeface="Calibri"/>
                <a:ea typeface="Calibri"/>
                <a:cs typeface="Calibri"/>
                <a:sym typeface="Calibri"/>
              </a:rPr>
              <a:t>NDFI loans:</a:t>
            </a:r>
            <a:r>
              <a:rPr b="0" i="0" lang="en-US" sz="800" u="none" cap="none" strike="noStrike">
                <a:solidFill>
                  <a:srgbClr val="6B6B6B"/>
                </a:solidFill>
                <a:latin typeface="Calibri"/>
                <a:ea typeface="Calibri"/>
                <a:cs typeface="Calibri"/>
                <a:sym typeface="Calibri"/>
              </a:rPr>
              <a:t> loans held by the sample banks to non-depository financial institutions, all five borrower types (mortgage, business credit, private equity funds, consumer credit, other). </a:t>
            </a:r>
            <a:r>
              <a:rPr b="1" i="0" lang="en-US" sz="800" u="none" cap="none" strike="noStrike">
                <a:solidFill>
                  <a:srgbClr val="6B6B6B"/>
                </a:solidFill>
                <a:latin typeface="Calibri"/>
                <a:ea typeface="Calibri"/>
                <a:cs typeface="Calibri"/>
                <a:sym typeface="Calibri"/>
              </a:rPr>
              <a:t>BC loans:</a:t>
            </a:r>
            <a:r>
              <a:rPr b="0" i="0" lang="en-US" sz="800" u="none" cap="none" strike="noStrike">
                <a:solidFill>
                  <a:srgbClr val="6B6B6B"/>
                </a:solidFill>
                <a:latin typeface="Calibri"/>
                <a:ea typeface="Calibri"/>
                <a:cs typeface="Calibri"/>
                <a:sym typeface="Calibri"/>
              </a:rPr>
              <a:t> loans to business credit intermediaries — direct lenders, BDCs, private credit funds — one of the five. </a:t>
            </a:r>
            <a:r>
              <a:rPr b="1" i="0" lang="en-US" sz="800" u="none" cap="none" strike="noStrike">
                <a:solidFill>
                  <a:srgbClr val="6B6B6B"/>
                </a:solidFill>
                <a:latin typeface="Calibri"/>
                <a:ea typeface="Calibri"/>
                <a:cs typeface="Calibri"/>
                <a:sym typeface="Calibri"/>
              </a:rPr>
              <a:t>Total loans:</a:t>
            </a:r>
            <a:r>
              <a:rPr b="0" i="0" lang="en-US" sz="800" u="none" cap="none" strike="noStrike">
                <a:solidFill>
                  <a:srgbClr val="6B6B6B"/>
                </a:solidFill>
                <a:latin typeface="Calibri"/>
                <a:ea typeface="Calibri"/>
                <a:cs typeface="Calibri"/>
                <a:sym typeface="Calibri"/>
              </a:rPr>
              <a:t> the banks' total loans &amp; leases.</a:t>
            </a:r>
            <a:endParaRPr b="0" i="0" sz="800" u="none" cap="none" strike="noStrike">
              <a:solidFill>
                <a:schemeClr val="dk1"/>
              </a:solidFill>
              <a:latin typeface="Calibri"/>
              <a:ea typeface="Calibri"/>
              <a:cs typeface="Calibri"/>
              <a:sym typeface="Calibri"/>
            </a:endParaRPr>
          </a:p>
        </p:txBody>
      </p:sp>
      <p:sp>
        <p:nvSpPr>
          <p:cNvPr id="23" name="Google Shape;23;p3"/>
          <p:cNvSpPr txBox="1"/>
          <p:nvPr/>
        </p:nvSpPr>
        <p:spPr>
          <a:xfrm>
            <a:off x="7406640" y="1188720"/>
            <a:ext cx="4325112" cy="5166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How we measure it: no regulatory filing has a line called “private credit”, so the team uses BC loans as its proxy for private credit and NDFI loans as the upper bound, and reports an estimate range rather than a single number.</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Why this line: regulators define business credit intermediaries as direct lenders, private debt funds and business development companies — but also finance companies and CLOs — so BC loans capture private credit lenders without isolating them (FDIC Banking Issues in Focus, Feb 2026). Others use it the same way: Moody's, from the same regulatory data, put U.S. banks' loans to private credit providers at about $300bn as of June 2025, within $1.2 trillion of NDFI loans (Moody's Ratings, Oct 2025), and the U.S. Treasury's Office of Financial Research counts the business credit intermediaries line among the published measures of banks' private credit exposure (OFR Brief 26-02, Mar 2026).</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NDFI loans grew faster than total loans in Q2 (+2.6% vs +1.8%; BC loans +1.9%), even though banks say their lending standards for these borrowers are tight.</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Industry-wide the gap is wider — NDFI loans +22.4% over the year vs +6.8% for all loans (FDIC Quarterly Banking Profile for Q2 2026, Aug 2026) — and banks rated their standards for all five NDFI borrower types at the tighter end of their range since 2011 (Federal Reserve Senior Loan Officer Survey, Jul 2026).</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Concentration runs both ways: the five largest lenders hold 61% of NDFI loans ($964bn), and by share of its own loan book State Street leads with BC loans at 43.0% of total loans (Top 5 charts) — a custody-bank business model rather than a credit-risk warning.</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About 79% of its $47bn loan book is financing for the investment funds it serves as custodian (State Street 2025 annual report, Feb 2026), and it has the highest BC share of any U.S. bank (S&amp;P Global Market Intelligence, Feb 2026).</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The lenders are strong but the borrowers are under strain: 53% of NDFI loans are held by banks rated A- or better and all but $1bn by investment-grade banks (ratings bar), while the private credit funds they lend to are seeing record defaults.</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The loans still perform — 0.15% of NDFI loans were past due or non-accrual at end-2025 vs 1.39% for ordinary commercial loans (FDIC 2026 Risk Review, Apr 2026) — but the U.S. private credit default rate hit a record 6.0% in Q2 2026 (Fitch Ratings, Jul 2026), and in Q1 2026 investors for the first time pulled more out of business development companies (listed private credit funds) than they put in, leaving bank credit lines as the backstop (Federal Reserve Financial Stability Report, May 2026).</a:t>
            </a:r>
            <a:endParaRPr b="0" i="0" sz="1000" u="none" cap="none" strike="noStrike">
              <a:solidFill>
                <a:schemeClr val="dk1"/>
              </a:solidFill>
              <a:latin typeface="Calibri"/>
              <a:ea typeface="Calibri"/>
              <a:cs typeface="Calibri"/>
              <a:sym typeface="Calibri"/>
            </a:endParaRPr>
          </a:p>
        </p:txBody>
      </p:sp>
      <p:sp>
        <p:nvSpPr>
          <p:cNvPr id="24" name="Google Shape;24;p3"/>
          <p:cNvSpPr txBox="1"/>
          <p:nvPr/>
        </p:nvSpPr>
        <p:spPr>
          <a:xfrm>
            <a:off x="457200" y="5760720"/>
            <a:ext cx="6675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Calibri"/>
              <a:buNone/>
            </a:pPr>
            <a:r>
              <a:rPr b="0" i="0" lang="en-US" sz="750" u="none" cap="none" strike="noStrike">
                <a:solidFill>
                  <a:srgbClr val="6B6B6B"/>
                </a:solidFill>
                <a:latin typeface="Calibri"/>
                <a:ea typeface="Calibri"/>
                <a:cs typeface="Calibri"/>
                <a:sym typeface="Calibri"/>
              </a:rPr>
              <a:t>Scope: S&amp;P-rated U.S. bank holding companies that report the NDFI detail, consolidated to the parent (subsidiaries removed to avoid double counting). Series starts 2026Q1, the first quarter with the five-way NDFI breakout on a consistent holding-company basis; quarter-on-quarter comparisons use the same 48 banks.</a:t>
            </a:r>
            <a:endParaRPr b="0" i="0" sz="750" u="none" cap="none" strike="noStrike">
              <a:solidFill>
                <a:schemeClr val="dk1"/>
              </a:solidFill>
              <a:latin typeface="Calibri"/>
              <a:ea typeface="Calibri"/>
              <a:cs typeface="Calibri"/>
              <a:sym typeface="Calibri"/>
            </a:endParaRPr>
          </a:p>
        </p:txBody>
      </p:sp>
      <p:sp>
        <p:nvSpPr>
          <p:cNvPr id="25" name="Google Shape;25;p3"/>
          <p:cNvSpPr txBox="1"/>
          <p:nvPr/>
        </p:nvSpPr>
        <p:spPr>
          <a:xfrm>
            <a:off x="457200" y="6419088"/>
            <a:ext cx="1127455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00"/>
              <a:buFont typeface="Calibri"/>
              <a:buNone/>
            </a:pPr>
            <a:r>
              <a:rPr b="1" i="0" lang="en-US" sz="700" u="none" cap="none" strike="noStrike">
                <a:solidFill>
                  <a:srgbClr val="6B6B6B"/>
                </a:solidFill>
                <a:latin typeface="Calibri"/>
                <a:ea typeface="Calibri"/>
                <a:cs typeface="Calibri"/>
                <a:sym typeface="Calibri"/>
              </a:rPr>
              <a:t>Sources —</a:t>
            </a:r>
            <a:r>
              <a:rPr b="0" i="0" lang="en-US" sz="700" u="none" cap="none" strike="noStrike">
                <a:solidFill>
                  <a:srgbClr val="6B6B6B"/>
                </a:solidFill>
                <a:latin typeface="Calibri"/>
                <a:ea typeface="Calibri"/>
                <a:cs typeface="Calibri"/>
                <a:sym typeface="Calibri"/>
              </a:rPr>
              <a:t> dashboard: Private Credit Market Monitor (S&amp;P Capital IQ, FR Y-9C). External evidence is cited in brackets after each statement; full links are in the speaker notes. </a:t>
            </a:r>
            <a:r>
              <a:rPr b="1" i="0" lang="en-US" sz="700" u="none" cap="none" strike="noStrike">
                <a:solidFill>
                  <a:srgbClr val="6B6B6B"/>
                </a:solidFill>
                <a:latin typeface="Calibri"/>
                <a:ea typeface="Calibri"/>
                <a:cs typeface="Calibri"/>
                <a:sym typeface="Calibri"/>
              </a:rPr>
              <a:t>FDIC</a:t>
            </a:r>
            <a:r>
              <a:rPr b="0" i="0" lang="en-US" sz="700" u="none" cap="none" strike="noStrike">
                <a:solidFill>
                  <a:srgbClr val="6B6B6B"/>
                </a:solidFill>
                <a:latin typeface="Calibri"/>
                <a:ea typeface="Calibri"/>
                <a:cs typeface="Calibri"/>
                <a:sym typeface="Calibri"/>
              </a:rPr>
              <a:t> = Federal Deposit Insurance Corporation, the U.S. bank regulator and deposit insurer. </a:t>
            </a:r>
            <a:r>
              <a:rPr b="1" i="0" lang="en-US" sz="700" u="none" cap="none" strike="noStrike">
                <a:solidFill>
                  <a:srgbClr val="6B6B6B"/>
                </a:solidFill>
                <a:latin typeface="Calibri"/>
                <a:ea typeface="Calibri"/>
                <a:cs typeface="Calibri"/>
                <a:sym typeface="Calibri"/>
              </a:rPr>
              <a:t>Federal Reserve</a:t>
            </a:r>
            <a:r>
              <a:rPr b="0" i="0" lang="en-US" sz="700" u="none" cap="none" strike="noStrike">
                <a:solidFill>
                  <a:srgbClr val="6B6B6B"/>
                </a:solidFill>
                <a:latin typeface="Calibri"/>
                <a:ea typeface="Calibri"/>
                <a:cs typeface="Calibri"/>
                <a:sym typeface="Calibri"/>
              </a:rPr>
              <a:t> = the U.S. central bank and bank supervisor. </a:t>
            </a:r>
            <a:r>
              <a:rPr b="1" i="0" lang="en-US" sz="700" u="none" cap="none" strike="noStrike">
                <a:solidFill>
                  <a:srgbClr val="6B6B6B"/>
                </a:solidFill>
                <a:latin typeface="Calibri"/>
                <a:ea typeface="Calibri"/>
                <a:cs typeface="Calibri"/>
                <a:sym typeface="Calibri"/>
              </a:rPr>
              <a:t>Moody's</a:t>
            </a:r>
            <a:r>
              <a:rPr b="0" i="0" lang="en-US" sz="700" u="none" cap="none" strike="noStrike">
                <a:solidFill>
                  <a:srgbClr val="6B6B6B"/>
                </a:solidFill>
                <a:latin typeface="Calibri"/>
                <a:ea typeface="Calibri"/>
                <a:cs typeface="Calibri"/>
                <a:sym typeface="Calibri"/>
              </a:rPr>
              <a:t> and </a:t>
            </a:r>
            <a:r>
              <a:rPr b="1" i="0" lang="en-US" sz="700" u="none" cap="none" strike="noStrike">
                <a:solidFill>
                  <a:srgbClr val="6B6B6B"/>
                </a:solidFill>
                <a:latin typeface="Calibri"/>
                <a:ea typeface="Calibri"/>
                <a:cs typeface="Calibri"/>
                <a:sym typeface="Calibri"/>
              </a:rPr>
              <a:t>Fitch Ratings</a:t>
            </a:r>
            <a:r>
              <a:rPr b="0" i="0" lang="en-US" sz="700" u="none" cap="none" strike="noStrike">
                <a:solidFill>
                  <a:srgbClr val="6B6B6B"/>
                </a:solidFill>
                <a:latin typeface="Calibri"/>
                <a:ea typeface="Calibri"/>
                <a:cs typeface="Calibri"/>
                <a:sym typeface="Calibri"/>
              </a:rPr>
              <a:t> = credit rating agencies. </a:t>
            </a:r>
            <a:r>
              <a:rPr b="1" i="0" lang="en-US" sz="700" u="none" cap="none" strike="noStrike">
                <a:solidFill>
                  <a:srgbClr val="6B6B6B"/>
                </a:solidFill>
                <a:latin typeface="Calibri"/>
                <a:ea typeface="Calibri"/>
                <a:cs typeface="Calibri"/>
                <a:sym typeface="Calibri"/>
              </a:rPr>
              <a:t>S&amp;P Global Market Intelligence</a:t>
            </a:r>
            <a:r>
              <a:rPr b="0" i="0" lang="en-US" sz="700" u="none" cap="none" strike="noStrike">
                <a:solidFill>
                  <a:srgbClr val="6B6B6B"/>
                </a:solidFill>
                <a:latin typeface="Calibri"/>
                <a:ea typeface="Calibri"/>
                <a:cs typeface="Calibri"/>
                <a:sym typeface="Calibri"/>
              </a:rPr>
              <a:t> = S&amp;P Global's data and research division, separate from S&amp;P Global Ratings. </a:t>
            </a:r>
            <a:r>
              <a:rPr b="1" i="0" lang="en-US" sz="700" u="none" cap="none" strike="noStrike">
                <a:solidFill>
                  <a:srgbClr val="6B6B6B"/>
                </a:solidFill>
                <a:latin typeface="Calibri"/>
                <a:ea typeface="Calibri"/>
                <a:cs typeface="Calibri"/>
                <a:sym typeface="Calibri"/>
              </a:rPr>
              <a:t>OFR</a:t>
            </a:r>
            <a:r>
              <a:rPr b="0" i="0" lang="en-US" sz="700" u="none" cap="none" strike="noStrike">
                <a:solidFill>
                  <a:srgbClr val="6B6B6B"/>
                </a:solidFill>
                <a:latin typeface="Calibri"/>
                <a:ea typeface="Calibri"/>
                <a:cs typeface="Calibri"/>
                <a:sym typeface="Calibri"/>
              </a:rPr>
              <a:t> = Office of Financial Research, the U.S. Treasury's financial-stability research office. Internal use only.</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4"/>
          <p:cNvSpPr/>
          <p:nvPr/>
        </p:nvSpPr>
        <p:spPr>
          <a:xfrm>
            <a:off x="457200" y="301752"/>
            <a:ext cx="384048" cy="384048"/>
          </a:xfrm>
          <a:prstGeom prst="ellipse">
            <a:avLst/>
          </a:prstGeom>
          <a:solidFill>
            <a:srgbClr val="1F3864"/>
          </a:solidFill>
          <a:ln cap="flat" cmpd="sng" w="12700">
            <a:solidFill>
              <a:srgbClr val="1F38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 name="Google Shape;32;p4"/>
          <p:cNvPicPr preferRelativeResize="0"/>
          <p:nvPr/>
        </p:nvPicPr>
        <p:blipFill rotWithShape="1">
          <a:blip r:embed="rId3">
            <a:alphaModFix/>
          </a:blip>
          <a:srcRect b="0" l="0" r="0" t="0"/>
          <a:stretch/>
        </p:blipFill>
        <p:spPr>
          <a:xfrm>
            <a:off x="548640" y="393192"/>
            <a:ext cx="201168" cy="201168"/>
          </a:xfrm>
          <a:prstGeom prst="rect">
            <a:avLst/>
          </a:prstGeom>
          <a:noFill/>
          <a:ln>
            <a:noFill/>
          </a:ln>
        </p:spPr>
      </p:pic>
      <p:sp>
        <p:nvSpPr>
          <p:cNvPr id="33" name="Google Shape;33;p4"/>
          <p:cNvSpPr txBox="1"/>
          <p:nvPr/>
        </p:nvSpPr>
        <p:spPr>
          <a:xfrm>
            <a:off x="960120" y="228600"/>
            <a:ext cx="107899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100"/>
              <a:buFont typeface="Calibri"/>
              <a:buNone/>
            </a:pPr>
            <a:r>
              <a:rPr b="1" i="0" lang="en-US" sz="2100" u="none" cap="none" strike="noStrike">
                <a:solidFill>
                  <a:srgbClr val="1F3864"/>
                </a:solidFill>
                <a:latin typeface="Calibri"/>
                <a:ea typeface="Calibri"/>
                <a:cs typeface="Calibri"/>
                <a:sym typeface="Calibri"/>
              </a:rPr>
              <a:t>U.S. Life Insurers — private placement (PP) bond holdings, YE2025</a:t>
            </a:r>
            <a:endParaRPr b="0" i="0" sz="2100" u="none" cap="none" strike="noStrike">
              <a:solidFill>
                <a:schemeClr val="dk1"/>
              </a:solidFill>
              <a:latin typeface="Calibri"/>
              <a:ea typeface="Calibri"/>
              <a:cs typeface="Calibri"/>
              <a:sym typeface="Calibri"/>
            </a:endParaRPr>
          </a:p>
        </p:txBody>
      </p:sp>
      <p:sp>
        <p:nvSpPr>
          <p:cNvPr id="34" name="Google Shape;34;p4"/>
          <p:cNvSpPr txBox="1"/>
          <p:nvPr/>
        </p:nvSpPr>
        <p:spPr>
          <a:xfrm>
            <a:off x="960120" y="758952"/>
            <a:ext cx="10789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950"/>
              <a:buFont typeface="Calibri"/>
              <a:buNone/>
            </a:pPr>
            <a:r>
              <a:rPr b="0" i="0" lang="en-US" sz="950" u="none" cap="none" strike="noStrike">
                <a:solidFill>
                  <a:srgbClr val="6B6B6B"/>
                </a:solidFill>
                <a:latin typeface="Calibri"/>
                <a:ea typeface="Calibri"/>
                <a:cs typeface="Calibri"/>
                <a:sym typeface="Calibri"/>
              </a:rPr>
              <a:t>Private Credit Market Monitor · Quarterly Update, Issue 1 (September 2026) · Data: NAIC statutory filings, bond schedule (Schedule D Part 1) · U.S. life/fraternal insurers · snapshot refreshed annually, credit-grade migration tracked quarterly (through </a:t>
            </a:r>
            <a:r>
              <a:rPr b="1" i="0" lang="en-US" sz="950" u="none" cap="none" strike="noStrike">
                <a:solidFill>
                  <a:srgbClr val="6B6B6B"/>
                </a:solidFill>
                <a:highlight>
                  <a:srgbClr val="FFF2A8"/>
                </a:highlight>
                <a:latin typeface="Calibri"/>
                <a:ea typeface="Calibri"/>
                <a:cs typeface="Calibri"/>
                <a:sym typeface="Calibri"/>
              </a:rPr>
              <a:t>2026Q2</a:t>
            </a:r>
            <a:r>
              <a:rPr b="0" i="0" lang="en-US" sz="950" u="none" cap="none" strike="noStrike">
                <a:solidFill>
                  <a:srgbClr val="6B6B6B"/>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35" name="Google Shape;35;p4"/>
          <p:cNvSpPr/>
          <p:nvPr/>
        </p:nvSpPr>
        <p:spPr>
          <a:xfrm>
            <a:off x="457200" y="1188720"/>
            <a:ext cx="6675120" cy="3754755"/>
          </a:xfrm>
          <a:prstGeom prst="roundRect">
            <a:avLst>
              <a:gd fmla="val 1461" name="adj"/>
            </a:avLst>
          </a:prstGeom>
          <a:solidFill>
            <a:srgbClr val="F4F7FB"/>
          </a:solidFill>
          <a:ln cap="flat" cmpd="sng" w="12700">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txBox="1"/>
          <p:nvPr/>
        </p:nvSpPr>
        <p:spPr>
          <a:xfrm>
            <a:off x="777240" y="2426018"/>
            <a:ext cx="603504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864"/>
              </a:buClr>
              <a:buSzPts val="1200"/>
              <a:buFont typeface="Calibri"/>
              <a:buNone/>
            </a:pPr>
            <a:r>
              <a:rPr b="1" i="0" lang="en-US" sz="1200" u="none" cap="none" strike="noStrike">
                <a:solidFill>
                  <a:srgbClr val="1F3864"/>
                </a:solidFill>
                <a:highlight>
                  <a:srgbClr val="FFF2A8"/>
                </a:highlight>
                <a:latin typeface="Calibri"/>
                <a:ea typeface="Calibri"/>
                <a:cs typeface="Calibri"/>
                <a:sym typeface="Calibri"/>
              </a:rPr>
              <a:t>Paste dashboard screenshot here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Calibri"/>
              <a:buNone/>
            </a:pPr>
            <a:r>
              <a:rPr b="0" i="0" lang="en-US" sz="900" u="none" cap="none" strike="noStrike">
                <a:solidFill>
                  <a:srgbClr val="222222"/>
                </a:solidFill>
                <a:latin typeface="Calibri"/>
                <a:ea typeface="Calibri"/>
                <a:cs typeface="Calibri"/>
                <a:sym typeface="Calibri"/>
              </a:rPr>
              <a:t>Full US Insurance page (cards, NAIC designation bar, rating-channel bar, Top 10 insurers, and whatever else is on the page). Box is 16:9; keep aspect ratio when resizing, then delete this text.</a:t>
            </a:r>
            <a:endParaRPr b="0" i="0" sz="1200" u="none" cap="none" strike="noStrike">
              <a:solidFill>
                <a:schemeClr val="dk1"/>
              </a:solidFill>
              <a:latin typeface="Calibri"/>
              <a:ea typeface="Calibri"/>
              <a:cs typeface="Calibri"/>
              <a:sym typeface="Calibri"/>
            </a:endParaRPr>
          </a:p>
        </p:txBody>
      </p:sp>
      <p:sp>
        <p:nvSpPr>
          <p:cNvPr id="37" name="Google Shape;37;p4"/>
          <p:cNvSpPr txBox="1"/>
          <p:nvPr/>
        </p:nvSpPr>
        <p:spPr>
          <a:xfrm>
            <a:off x="457200" y="5016627"/>
            <a:ext cx="667512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800"/>
              <a:buFont typeface="Calibri"/>
              <a:buNone/>
            </a:pPr>
            <a:r>
              <a:rPr b="1" i="0" lang="en-US" sz="800" u="none" cap="none" strike="noStrike">
                <a:solidFill>
                  <a:srgbClr val="6B6B6B"/>
                </a:solidFill>
                <a:latin typeface="Calibri"/>
                <a:ea typeface="Calibri"/>
                <a:cs typeface="Calibri"/>
                <a:sym typeface="Calibri"/>
              </a:rPr>
              <a:t>Reading the dashboard —</a:t>
            </a:r>
            <a:r>
              <a:rPr b="0" i="0" lang="en-US" sz="800" u="none" cap="none" strike="noStrike">
                <a:solidFill>
                  <a:srgbClr val="6B6B6B"/>
                </a:solidFill>
                <a:latin typeface="Calibri"/>
                <a:ea typeface="Calibri"/>
                <a:cs typeface="Calibri"/>
                <a:sym typeface="Calibri"/>
              </a:rPr>
              <a:t> </a:t>
            </a:r>
            <a:r>
              <a:rPr b="1" i="0" lang="en-US" sz="800" u="none" cap="none" strike="noStrike">
                <a:solidFill>
                  <a:srgbClr val="6B6B6B"/>
                </a:solidFill>
                <a:latin typeface="Calibri"/>
                <a:ea typeface="Calibri"/>
                <a:cs typeface="Calibri"/>
                <a:sym typeface="Calibri"/>
              </a:rPr>
              <a:t>PP holdings</a:t>
            </a:r>
            <a:r>
              <a:rPr b="0" i="0" lang="en-US" sz="800" u="none" cap="none" strike="noStrike">
                <a:solidFill>
                  <a:srgbClr val="6B6B6B"/>
                </a:solidFill>
                <a:latin typeface="Calibri"/>
                <a:ea typeface="Calibri"/>
                <a:cs typeface="Calibri"/>
                <a:sym typeface="Calibri"/>
              </a:rPr>
              <a:t> (dashboard: “PP Bond BACV”): the statutory book value of the private placement bonds held — bonds only, not the whole portfolio. </a:t>
            </a:r>
            <a:r>
              <a:rPr b="1" i="0" lang="en-US" sz="800" u="none" cap="none" strike="noStrike">
                <a:solidFill>
                  <a:srgbClr val="6B6B6B"/>
                </a:solidFill>
                <a:latin typeface="Calibri"/>
                <a:ea typeface="Calibri"/>
                <a:cs typeface="Calibri"/>
                <a:sym typeface="Calibri"/>
              </a:rPr>
              <a:t>Invested assets:</a:t>
            </a:r>
            <a:r>
              <a:rPr b="0" i="0" lang="en-US" sz="800" u="none" cap="none" strike="noStrike">
                <a:solidFill>
                  <a:srgbClr val="6B6B6B"/>
                </a:solidFill>
                <a:latin typeface="Calibri"/>
                <a:ea typeface="Calibri"/>
                <a:cs typeface="Calibri"/>
                <a:sym typeface="Calibri"/>
              </a:rPr>
              <a:t> the insurer's total cash &amp; invested assets. </a:t>
            </a:r>
            <a:r>
              <a:rPr b="1" i="0" lang="en-US" sz="800" u="none" cap="none" strike="noStrike">
                <a:solidFill>
                  <a:srgbClr val="6B6B6B"/>
                </a:solidFill>
                <a:latin typeface="Calibri"/>
                <a:ea typeface="Calibri"/>
                <a:cs typeface="Calibri"/>
                <a:sym typeface="Calibri"/>
              </a:rPr>
              <a:t>Capital &amp; surplus:</a:t>
            </a:r>
            <a:r>
              <a:rPr b="0" i="0" lang="en-US" sz="800" u="none" cap="none" strike="noStrike">
                <a:solidFill>
                  <a:srgbClr val="6B6B6B"/>
                </a:solidFill>
                <a:latin typeface="Calibri"/>
                <a:ea typeface="Calibri"/>
                <a:cs typeface="Calibri"/>
                <a:sym typeface="Calibri"/>
              </a:rPr>
              <a:t> the insurer's statutory capital — its solvency buffer. </a:t>
            </a:r>
            <a:r>
              <a:rPr b="1" i="0" lang="en-US" sz="800" u="none" cap="none" strike="noStrike">
                <a:solidFill>
                  <a:srgbClr val="6B6B6B"/>
                </a:solidFill>
                <a:latin typeface="Calibri"/>
                <a:ea typeface="Calibri"/>
                <a:cs typeface="Calibri"/>
                <a:sym typeface="Calibri"/>
              </a:rPr>
              <a:t>NAIC designation:</a:t>
            </a:r>
            <a:r>
              <a:rPr b="0" i="0" lang="en-US" sz="800" u="none" cap="none" strike="noStrike">
                <a:solidFill>
                  <a:srgbClr val="6B6B6B"/>
                </a:solidFill>
                <a:latin typeface="Calibri"/>
                <a:ea typeface="Calibri"/>
                <a:cs typeface="Calibri"/>
                <a:sym typeface="Calibri"/>
              </a:rPr>
              <a:t> the regulator's credit-quality grade — NAIC 1 (≈AAA–A), NAIC 2 (≈BBB), NAIC 3–6 (below investment grade). </a:t>
            </a:r>
            <a:r>
              <a:rPr b="1" i="0" lang="en-US" sz="800" u="none" cap="none" strike="noStrike">
                <a:solidFill>
                  <a:srgbClr val="6B6B6B"/>
                </a:solidFill>
                <a:latin typeface="Calibri"/>
                <a:ea typeface="Calibri"/>
                <a:cs typeface="Calibri"/>
                <a:sym typeface="Calibri"/>
              </a:rPr>
              <a:t>Rating channel</a:t>
            </a:r>
            <a:r>
              <a:rPr b="0" i="0" lang="en-US" sz="800" u="none" cap="none" strike="noStrike">
                <a:solidFill>
                  <a:srgbClr val="6B6B6B"/>
                </a:solidFill>
                <a:latin typeface="Calibri"/>
                <a:ea typeface="Calibri"/>
                <a:cs typeface="Calibri"/>
                <a:sym typeface="Calibri"/>
              </a:rPr>
              <a:t> (dashboard: “SVO symbol”): how that grade was obtained — PL = a private letter rating from a rating agency, never published; no symbol = the regulator's own review; FE = the issuer has a public rating; other = administrative statuses.</a:t>
            </a:r>
            <a:endParaRPr b="0" i="0" sz="800" u="none" cap="none" strike="noStrike">
              <a:solidFill>
                <a:schemeClr val="dk1"/>
              </a:solidFill>
              <a:latin typeface="Calibri"/>
              <a:ea typeface="Calibri"/>
              <a:cs typeface="Calibri"/>
              <a:sym typeface="Calibri"/>
            </a:endParaRPr>
          </a:p>
        </p:txBody>
      </p:sp>
      <p:sp>
        <p:nvSpPr>
          <p:cNvPr id="38" name="Google Shape;38;p4"/>
          <p:cNvSpPr txBox="1"/>
          <p:nvPr/>
        </p:nvSpPr>
        <p:spPr>
          <a:xfrm>
            <a:off x="7406640" y="1188720"/>
            <a:ext cx="4325112" cy="5166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How we measure it: statutory filings have no line called “private credit”, so the team counts the bonds that insurers flag as private placements on their bond schedule, at statutory book value — a narrow but reproducible floor. The Insurance practice's wider estimate also screens publicly identified (CUSIP) bonds with manual filters; ours excludes fund and direct-lending vehicles (Schedule BA), mortgage loans (Schedule B) and Rule 144A bonds.</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Two outside measures of the same exposure land in the same range as ours: S&amp;P Global Market Intelligence counts the same instrument and puts private placement bonds at 23.4% of life insurers' bonds in 2025, up from 18.3% in 2021 (May 2026), and Moody's own “private and illiquid fixed income” measure comes to $807bn, 20% of the industry's fixed income, up $122bn in a year (Moody's U.S. life insurers report, Jun 2026).</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The bigger unknown is opacity rather than credit quality: </a:t>
            </a:r>
            <a:r>
              <a:rPr b="1" i="0" lang="en-US" sz="1000" u="none" cap="none" strike="noStrike">
                <a:solidFill>
                  <a:srgbClr val="222222"/>
                </a:solidFill>
                <a:highlight>
                  <a:srgbClr val="FFF2A8"/>
                </a:highlight>
                <a:latin typeface="Calibri"/>
                <a:ea typeface="Calibri"/>
                <a:cs typeface="Calibri"/>
                <a:sym typeface="Calibri"/>
              </a:rPr>
              <a:t>42</a:t>
            </a:r>
            <a:r>
              <a:rPr b="1" i="0" lang="en-US" sz="1000" u="none" cap="none" strike="noStrike">
                <a:solidFill>
                  <a:srgbClr val="222222"/>
                </a:solidFill>
                <a:latin typeface="Calibri"/>
                <a:ea typeface="Calibri"/>
                <a:cs typeface="Calibri"/>
                <a:sym typeface="Calibri"/>
              </a:rPr>
              <a:t>% of PP holdings rely on private letter ratings that are never published, </a:t>
            </a:r>
            <a:r>
              <a:rPr b="1" i="0" lang="en-US" sz="1000" u="none" cap="none" strike="noStrike">
                <a:solidFill>
                  <a:srgbClr val="222222"/>
                </a:solidFill>
                <a:highlight>
                  <a:srgbClr val="FFF2A8"/>
                </a:highlight>
                <a:latin typeface="Calibri"/>
                <a:ea typeface="Calibri"/>
                <a:cs typeface="Calibri"/>
                <a:sym typeface="Calibri"/>
              </a:rPr>
              <a:t>XX</a:t>
            </a:r>
            <a:r>
              <a:rPr b="1" i="0" lang="en-US" sz="1000" u="none" cap="none" strike="noStrike">
                <a:solidFill>
                  <a:srgbClr val="222222"/>
                </a:solidFill>
                <a:latin typeface="Calibri"/>
                <a:ea typeface="Calibri"/>
                <a:cs typeface="Calibri"/>
                <a:sym typeface="Calibri"/>
              </a:rPr>
              <a:t>% on the regulator's own review, and only </a:t>
            </a:r>
            <a:r>
              <a:rPr b="1" i="0" lang="en-US" sz="1000" u="none" cap="none" strike="noStrike">
                <a:solidFill>
                  <a:srgbClr val="222222"/>
                </a:solidFill>
                <a:highlight>
                  <a:srgbClr val="FFF2A8"/>
                </a:highlight>
                <a:latin typeface="Calibri"/>
                <a:ea typeface="Calibri"/>
                <a:cs typeface="Calibri"/>
                <a:sym typeface="Calibri"/>
              </a:rPr>
              <a:t>XX</a:t>
            </a:r>
            <a:r>
              <a:rPr b="1" i="0" lang="en-US" sz="1000" u="none" cap="none" strike="noStrike">
                <a:solidFill>
                  <a:srgbClr val="222222"/>
                </a:solidFill>
                <a:latin typeface="Calibri"/>
                <a:ea typeface="Calibri"/>
                <a:cs typeface="Calibri"/>
                <a:sym typeface="Calibri"/>
              </a:rPr>
              <a:t>% on a public rating (rating-channel bar).</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The regulator is struggling to keep up: private letter rating filings rose from 1,961 in 2022 to 12,269 in 2025 (+526%), more than its securities office can clear by year-end (NAIC Spring National Meeting, Mar 2026), and its new power to challenge such ratings has slipped from a planned January 2026 start (KBRA, Jun 2026).</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Credit quality sits at the low end of investment grade: </a:t>
            </a:r>
            <a:r>
              <a:rPr b="1" i="0" lang="en-US" sz="1000" u="none" cap="none" strike="noStrike">
                <a:solidFill>
                  <a:srgbClr val="222222"/>
                </a:solidFill>
                <a:highlight>
                  <a:srgbClr val="FFF2A8"/>
                </a:highlight>
                <a:latin typeface="Calibri"/>
                <a:ea typeface="Calibri"/>
                <a:cs typeface="Calibri"/>
                <a:sym typeface="Calibri"/>
              </a:rPr>
              <a:t>XX</a:t>
            </a:r>
            <a:r>
              <a:rPr b="1" i="0" lang="en-US" sz="1000" u="none" cap="none" strike="noStrike">
                <a:solidFill>
                  <a:srgbClr val="222222"/>
                </a:solidFill>
                <a:latin typeface="Calibri"/>
                <a:ea typeface="Calibri"/>
                <a:cs typeface="Calibri"/>
                <a:sym typeface="Calibri"/>
              </a:rPr>
              <a:t>% of PP holdings are NAIC 1, </a:t>
            </a:r>
            <a:r>
              <a:rPr b="1" i="0" lang="en-US" sz="1000" u="none" cap="none" strike="noStrike">
                <a:solidFill>
                  <a:srgbClr val="222222"/>
                </a:solidFill>
                <a:highlight>
                  <a:srgbClr val="FFF2A8"/>
                </a:highlight>
                <a:latin typeface="Calibri"/>
                <a:ea typeface="Calibri"/>
                <a:cs typeface="Calibri"/>
                <a:sym typeface="Calibri"/>
              </a:rPr>
              <a:t>XX</a:t>
            </a:r>
            <a:r>
              <a:rPr b="1" i="0" lang="en-US" sz="1000" u="none" cap="none" strike="noStrike">
                <a:solidFill>
                  <a:srgbClr val="222222"/>
                </a:solidFill>
                <a:latin typeface="Calibri"/>
                <a:ea typeface="Calibri"/>
                <a:cs typeface="Calibri"/>
                <a:sym typeface="Calibri"/>
              </a:rPr>
              <a:t>% NAIC 2 and </a:t>
            </a:r>
            <a:r>
              <a:rPr b="1" i="0" lang="en-US" sz="1000" u="none" cap="none" strike="noStrike">
                <a:solidFill>
                  <a:srgbClr val="222222"/>
                </a:solidFill>
                <a:highlight>
                  <a:srgbClr val="FFF2A8"/>
                </a:highlight>
                <a:latin typeface="Calibri"/>
                <a:ea typeface="Calibri"/>
                <a:cs typeface="Calibri"/>
                <a:sym typeface="Calibri"/>
              </a:rPr>
              <a:t>6.1</a:t>
            </a:r>
            <a:r>
              <a:rPr b="1" i="0" lang="en-US" sz="1000" u="none" cap="none" strike="noStrike">
                <a:solidFill>
                  <a:srgbClr val="222222"/>
                </a:solidFill>
                <a:latin typeface="Calibri"/>
                <a:ea typeface="Calibri"/>
                <a:cs typeface="Calibri"/>
                <a:sym typeface="Calibri"/>
              </a:rPr>
              <a:t>% below investment grade (NAIC bar).</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Moody's finds the same tilt on its own measure — 43% NAIC 2 and 9% below investment grade, against 36% and 5% for insurers' bonds as a whole (Moody's, Jun 2026) — and the U.S. private credit default rate hit a record 6.0% in Q2 2026 (Fitch Ratings, Jul 2026).</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Grade migration since year-end is only an early read: $</a:t>
            </a:r>
            <a:r>
              <a:rPr b="1" i="0" lang="en-US" sz="1000" u="none" cap="none" strike="noStrike">
                <a:solidFill>
                  <a:srgbClr val="222222"/>
                </a:solidFill>
                <a:highlight>
                  <a:srgbClr val="FFF2A8"/>
                </a:highlight>
                <a:latin typeface="Calibri"/>
                <a:ea typeface="Calibri"/>
                <a:cs typeface="Calibri"/>
                <a:sym typeface="Calibri"/>
              </a:rPr>
              <a:t>X.X</a:t>
            </a:r>
            <a:r>
              <a:rPr b="1" i="0" lang="en-US" sz="1000" u="none" cap="none" strike="noStrike">
                <a:solidFill>
                  <a:srgbClr val="222222"/>
                </a:solidFill>
                <a:latin typeface="Calibri"/>
                <a:ea typeface="Calibri"/>
                <a:cs typeface="Calibri"/>
                <a:sym typeface="Calibri"/>
              </a:rPr>
              <a:t>bn (</a:t>
            </a:r>
            <a:r>
              <a:rPr b="1" i="0" lang="en-US" sz="1000" u="none" cap="none" strike="noStrike">
                <a:solidFill>
                  <a:srgbClr val="222222"/>
                </a:solidFill>
                <a:highlight>
                  <a:srgbClr val="FFF2A8"/>
                </a:highlight>
                <a:latin typeface="Calibri"/>
                <a:ea typeface="Calibri"/>
                <a:cs typeface="Calibri"/>
                <a:sym typeface="Calibri"/>
              </a:rPr>
              <a:t>X.X</a:t>
            </a:r>
            <a:r>
              <a:rPr b="1" i="0" lang="en-US" sz="1000" u="none" cap="none" strike="noStrike">
                <a:solidFill>
                  <a:srgbClr val="222222"/>
                </a:solidFill>
                <a:latin typeface="Calibri"/>
                <a:ea typeface="Calibri"/>
                <a:cs typeface="Calibri"/>
                <a:sym typeface="Calibri"/>
              </a:rPr>
              <a:t>% of PP holdings) moved to a weaker NAIC designation and $</a:t>
            </a:r>
            <a:r>
              <a:rPr b="1" i="0" lang="en-US" sz="1000" u="none" cap="none" strike="noStrike">
                <a:solidFill>
                  <a:srgbClr val="222222"/>
                </a:solidFill>
                <a:highlight>
                  <a:srgbClr val="FFF2A8"/>
                </a:highlight>
                <a:latin typeface="Calibri"/>
                <a:ea typeface="Calibri"/>
                <a:cs typeface="Calibri"/>
                <a:sym typeface="Calibri"/>
              </a:rPr>
              <a:t>X.X</a:t>
            </a:r>
            <a:r>
              <a:rPr b="1" i="0" lang="en-US" sz="1000" u="none" cap="none" strike="noStrike">
                <a:solidFill>
                  <a:srgbClr val="222222"/>
                </a:solidFill>
                <a:latin typeface="Calibri"/>
                <a:ea typeface="Calibri"/>
                <a:cs typeface="Calibri"/>
                <a:sym typeface="Calibri"/>
              </a:rPr>
              <a:t>bn was sold or matured through </a:t>
            </a:r>
            <a:r>
              <a:rPr b="1" i="0" lang="en-US" sz="1000" u="none" cap="none" strike="noStrike">
                <a:solidFill>
                  <a:srgbClr val="222222"/>
                </a:solidFill>
                <a:highlight>
                  <a:srgbClr val="FFF2A8"/>
                </a:highlight>
                <a:latin typeface="Calibri"/>
                <a:ea typeface="Calibri"/>
                <a:cs typeface="Calibri"/>
                <a:sym typeface="Calibri"/>
              </a:rPr>
              <a:t>2026Q2</a:t>
            </a:r>
            <a:r>
              <a:rPr b="1" i="0" lang="en-US" sz="1000" u="none" cap="none" strike="noStrike">
                <a:solidFill>
                  <a:srgbClr val="222222"/>
                </a:solidFill>
                <a:latin typeface="Calibri"/>
                <a:ea typeface="Calibri"/>
                <a:cs typeface="Calibri"/>
                <a:sym typeface="Calibri"/>
              </a:rPr>
              <a:t>; most private letter ratings are refreshed only at year-end, so the full picture arrives with YE2026 data.</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Even under severe private credit stress, only two rated North American life insurers might face downgrade pressure (S&amp;P Global Ratings scenario analysis, Apr 2026). </a:t>
            </a:r>
            <a:r>
              <a:rPr b="1" i="1" lang="en-US" sz="950" u="none" cap="none" strike="noStrike">
                <a:solidFill>
                  <a:srgbClr val="6B6B6B"/>
                </a:solidFill>
                <a:highlight>
                  <a:srgbClr val="FFF2A8"/>
                </a:highlight>
                <a:latin typeface="Calibri"/>
                <a:ea typeface="Calibri"/>
                <a:cs typeface="Calibri"/>
                <a:sym typeface="Calibri"/>
              </a:rPr>
              <a:t>internal link</a:t>
            </a:r>
            <a:endParaRPr b="0" i="0" sz="1000" u="none" cap="none" strike="noStrike">
              <a:solidFill>
                <a:schemeClr val="dk1"/>
              </a:solidFill>
              <a:latin typeface="Calibri"/>
              <a:ea typeface="Calibri"/>
              <a:cs typeface="Calibri"/>
              <a:sym typeface="Calibri"/>
            </a:endParaRPr>
          </a:p>
        </p:txBody>
      </p:sp>
      <p:sp>
        <p:nvSpPr>
          <p:cNvPr id="39" name="Google Shape;39;p4"/>
          <p:cNvSpPr txBox="1"/>
          <p:nvPr/>
        </p:nvSpPr>
        <p:spPr>
          <a:xfrm>
            <a:off x="457200" y="5760720"/>
            <a:ext cx="6675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Calibri"/>
              <a:buNone/>
            </a:pPr>
            <a:r>
              <a:rPr b="0" i="0" lang="en-US" sz="750" u="none" cap="none" strike="noStrike">
                <a:solidFill>
                  <a:srgbClr val="6B6B6B"/>
                </a:solidFill>
                <a:latin typeface="Calibri"/>
                <a:ea typeface="Calibri"/>
                <a:cs typeface="Calibri"/>
                <a:sym typeface="Calibri"/>
              </a:rPr>
              <a:t>Scope: bonds carrying a private placement number (PPN); universe and snapshot both at YE2025 (no survivorship bias). Statutory book value; denominators on the same basis and date; credit grades and rating channels as of YE2025.</a:t>
            </a:r>
            <a:endParaRPr b="0" i="0" sz="750" u="none" cap="none" strike="noStrike">
              <a:solidFill>
                <a:schemeClr val="dk1"/>
              </a:solidFill>
              <a:latin typeface="Calibri"/>
              <a:ea typeface="Calibri"/>
              <a:cs typeface="Calibri"/>
              <a:sym typeface="Calibri"/>
            </a:endParaRPr>
          </a:p>
        </p:txBody>
      </p:sp>
      <p:sp>
        <p:nvSpPr>
          <p:cNvPr id="40" name="Google Shape;40;p4"/>
          <p:cNvSpPr txBox="1"/>
          <p:nvPr/>
        </p:nvSpPr>
        <p:spPr>
          <a:xfrm>
            <a:off x="457200" y="6419088"/>
            <a:ext cx="1127455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00"/>
              <a:buFont typeface="Calibri"/>
              <a:buNone/>
            </a:pPr>
            <a:r>
              <a:rPr b="1" i="0" lang="en-US" sz="700" u="none" cap="none" strike="noStrike">
                <a:solidFill>
                  <a:srgbClr val="6B6B6B"/>
                </a:solidFill>
                <a:latin typeface="Calibri"/>
                <a:ea typeface="Calibri"/>
                <a:cs typeface="Calibri"/>
                <a:sym typeface="Calibri"/>
              </a:rPr>
              <a:t>Sources —</a:t>
            </a:r>
            <a:r>
              <a:rPr b="0" i="0" lang="en-US" sz="700" u="none" cap="none" strike="noStrike">
                <a:solidFill>
                  <a:srgbClr val="6B6B6B"/>
                </a:solidFill>
                <a:latin typeface="Calibri"/>
                <a:ea typeface="Calibri"/>
                <a:cs typeface="Calibri"/>
                <a:sym typeface="Calibri"/>
              </a:rPr>
              <a:t> dashboard: Private Credit Market Monitor (S&amp;P Capital IQ Pro, NAIC statutory filings). External evidence is cited in brackets after each statement; full links are in the speaker notes. </a:t>
            </a:r>
            <a:r>
              <a:rPr b="1" i="0" lang="en-US" sz="700" u="none" cap="none" strike="noStrike">
                <a:solidFill>
                  <a:srgbClr val="6B6B6B"/>
                </a:solidFill>
                <a:latin typeface="Calibri"/>
                <a:ea typeface="Calibri"/>
                <a:cs typeface="Calibri"/>
                <a:sym typeface="Calibri"/>
              </a:rPr>
              <a:t>NAIC</a:t>
            </a:r>
            <a:r>
              <a:rPr b="0" i="0" lang="en-US" sz="700" u="none" cap="none" strike="noStrike">
                <a:solidFill>
                  <a:srgbClr val="6B6B6B"/>
                </a:solidFill>
                <a:latin typeface="Calibri"/>
                <a:ea typeface="Calibri"/>
                <a:cs typeface="Calibri"/>
                <a:sym typeface="Calibri"/>
              </a:rPr>
              <a:t> = National Association of Insurance Commissioners, the body of U.S. state insurance regulators; its Securities Valuation Office assigns NAIC designations. </a:t>
            </a:r>
            <a:r>
              <a:rPr b="1" i="0" lang="en-US" sz="700" u="none" cap="none" strike="noStrike">
                <a:solidFill>
                  <a:srgbClr val="6B6B6B"/>
                </a:solidFill>
                <a:latin typeface="Calibri"/>
                <a:ea typeface="Calibri"/>
                <a:cs typeface="Calibri"/>
                <a:sym typeface="Calibri"/>
              </a:rPr>
              <a:t>Moody's</a:t>
            </a:r>
            <a:r>
              <a:rPr b="0" i="0" lang="en-US" sz="700" u="none" cap="none" strike="noStrike">
                <a:solidFill>
                  <a:srgbClr val="6B6B6B"/>
                </a:solidFill>
                <a:latin typeface="Calibri"/>
                <a:ea typeface="Calibri"/>
                <a:cs typeface="Calibri"/>
                <a:sym typeface="Calibri"/>
              </a:rPr>
              <a:t>, </a:t>
            </a:r>
            <a:r>
              <a:rPr b="1" i="0" lang="en-US" sz="700" u="none" cap="none" strike="noStrike">
                <a:solidFill>
                  <a:srgbClr val="6B6B6B"/>
                </a:solidFill>
                <a:latin typeface="Calibri"/>
                <a:ea typeface="Calibri"/>
                <a:cs typeface="Calibri"/>
                <a:sym typeface="Calibri"/>
              </a:rPr>
              <a:t>Fitch Ratings</a:t>
            </a:r>
            <a:r>
              <a:rPr b="0" i="0" lang="en-US" sz="700" u="none" cap="none" strike="noStrike">
                <a:solidFill>
                  <a:srgbClr val="6B6B6B"/>
                </a:solidFill>
                <a:latin typeface="Calibri"/>
                <a:ea typeface="Calibri"/>
                <a:cs typeface="Calibri"/>
                <a:sym typeface="Calibri"/>
              </a:rPr>
              <a:t> and </a:t>
            </a:r>
            <a:r>
              <a:rPr b="1" i="0" lang="en-US" sz="700" u="none" cap="none" strike="noStrike">
                <a:solidFill>
                  <a:srgbClr val="6B6B6B"/>
                </a:solidFill>
                <a:latin typeface="Calibri"/>
                <a:ea typeface="Calibri"/>
                <a:cs typeface="Calibri"/>
                <a:sym typeface="Calibri"/>
              </a:rPr>
              <a:t>KBRA</a:t>
            </a:r>
            <a:r>
              <a:rPr b="0" i="0" lang="en-US" sz="700" u="none" cap="none" strike="noStrike">
                <a:solidFill>
                  <a:srgbClr val="6B6B6B"/>
                </a:solidFill>
                <a:latin typeface="Calibri"/>
                <a:ea typeface="Calibri"/>
                <a:cs typeface="Calibri"/>
                <a:sym typeface="Calibri"/>
              </a:rPr>
              <a:t> = credit rating agencies. </a:t>
            </a:r>
            <a:r>
              <a:rPr b="1" i="0" lang="en-US" sz="700" u="none" cap="none" strike="noStrike">
                <a:solidFill>
                  <a:srgbClr val="6B6B6B"/>
                </a:solidFill>
                <a:latin typeface="Calibri"/>
                <a:ea typeface="Calibri"/>
                <a:cs typeface="Calibri"/>
                <a:sym typeface="Calibri"/>
              </a:rPr>
              <a:t>S&amp;P Global Market Intelligence</a:t>
            </a:r>
            <a:r>
              <a:rPr b="0" i="0" lang="en-US" sz="700" u="none" cap="none" strike="noStrike">
                <a:solidFill>
                  <a:srgbClr val="6B6B6B"/>
                </a:solidFill>
                <a:latin typeface="Calibri"/>
                <a:ea typeface="Calibri"/>
                <a:cs typeface="Calibri"/>
                <a:sym typeface="Calibri"/>
              </a:rPr>
              <a:t> = S&amp;P Global's data and research division, separate from S&amp;P Global Ratings. Internal use only.</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